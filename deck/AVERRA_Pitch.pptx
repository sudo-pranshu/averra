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3.41</c:v>
                </c:pt>
                <c:pt idx="7">
                  <c:v>2.48</c:v>
                </c:pt>
                <c:pt idx="8">
                  <c:v>4.84</c:v>
                </c:pt>
                <c:pt idx="9">
                  <c:v>5.03</c:v>
                </c:pt>
                <c:pt idx="10">
                  <c:v>7.29</c:v>
                </c:pt>
                <c:pt idx="11">
                  <c:v>3.38</c:v>
                </c:pt>
                <c:pt idx="12">
                  <c:v>2.48</c:v>
                </c:pt>
                <c:pt idx="13">
                  <c:v>2.67</c:v>
                </c:pt>
                <c:pt idx="14">
                  <c:v>5.13</c:v>
                </c:pt>
                <c:pt idx="15">
                  <c:v>5.33</c:v>
                </c:pt>
                <c:pt idx="16">
                  <c:v>5.13</c:v>
                </c:pt>
                <c:pt idx="17">
                  <c:v>13.03</c:v>
                </c:pt>
                <c:pt idx="18">
                  <c:v>5.73</c:v>
                </c:pt>
                <c:pt idx="19">
                  <c:v>5.88</c:v>
                </c:pt>
                <c:pt idx="20">
                  <c:v>6.03</c:v>
                </c:pt>
                <c:pt idx="21">
                  <c:v>6.62</c:v>
                </c:pt>
                <c:pt idx="22">
                  <c:v>6.33</c:v>
                </c:pt>
                <c:pt idx="23">
                  <c:v>6.48</c:v>
                </c:pt>
                <c:pt idx="24">
                  <c:v>12.69</c:v>
                </c:pt>
                <c:pt idx="25">
                  <c:v>13.41</c:v>
                </c:pt>
                <c:pt idx="26">
                  <c:v>14.12</c:v>
                </c:pt>
                <c:pt idx="27">
                  <c:v>14.84</c:v>
                </c:pt>
                <c:pt idx="28">
                  <c:v>15.56</c:v>
                </c:pt>
                <c:pt idx="29">
                  <c:v>16.72</c:v>
                </c:pt>
                <c:pt idx="30">
                  <c:v>17</c:v>
                </c:pt>
                <c:pt idx="31">
                  <c:v>17.72</c:v>
                </c:pt>
                <c:pt idx="32">
                  <c:v>18.44</c:v>
                </c:pt>
                <c:pt idx="33">
                  <c:v>19.6</c:v>
                </c:pt>
                <c:pt idx="34">
                  <c:v>19.89</c:v>
                </c:pt>
                <c:pt idx="35">
                  <c:v>20.61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-3.41</c:v>
                </c:pt>
                <c:pt idx="7">
                  <c:v>-2.48</c:v>
                </c:pt>
                <c:pt idx="8">
                  <c:v>-4.84</c:v>
                </c:pt>
                <c:pt idx="9">
                  <c:v>-4.45</c:v>
                </c:pt>
                <c:pt idx="10">
                  <c:v>-7.29</c:v>
                </c:pt>
                <c:pt idx="11">
                  <c:v>-1.7</c:v>
                </c:pt>
                <c:pt idx="12">
                  <c:v>-0.63</c:v>
                </c:pt>
                <c:pt idx="13">
                  <c:v>0.49</c:v>
                </c:pt>
                <c:pt idx="14">
                  <c:v>-1.45</c:v>
                </c:pt>
                <c:pt idx="15">
                  <c:v>-1.06</c:v>
                </c:pt>
                <c:pt idx="16">
                  <c:v>-1.45</c:v>
                </c:pt>
                <c:pt idx="17">
                  <c:v>-8.76</c:v>
                </c:pt>
                <c:pt idx="18">
                  <c:v>-1.18</c:v>
                </c:pt>
                <c:pt idx="19">
                  <c:v>-1</c:v>
                </c:pt>
                <c:pt idx="20">
                  <c:v>-0.82</c:v>
                </c:pt>
                <c:pt idx="21">
                  <c:v>-1.08</c:v>
                </c:pt>
                <c:pt idx="22">
                  <c:v>-0.46</c:v>
                </c:pt>
                <c:pt idx="23">
                  <c:v>-0.28</c:v>
                </c:pt>
                <c:pt idx="24">
                  <c:v>-0.18</c:v>
                </c:pt>
                <c:pt idx="25">
                  <c:v>0.04</c:v>
                </c:pt>
                <c:pt idx="26">
                  <c:v>0.25</c:v>
                </c:pt>
                <c:pt idx="27">
                  <c:v>0.47</c:v>
                </c:pt>
                <c:pt idx="28">
                  <c:v>0.69</c:v>
                </c:pt>
                <c:pt idx="29">
                  <c:v>0.48</c:v>
                </c:pt>
                <c:pt idx="30">
                  <c:v>1.14</c:v>
                </c:pt>
                <c:pt idx="31">
                  <c:v>1.37</c:v>
                </c:pt>
                <c:pt idx="32">
                  <c:v>1.61</c:v>
                </c:pt>
                <c:pt idx="33">
                  <c:v>1.4</c:v>
                </c:pt>
                <c:pt idx="34">
                  <c:v>2.08</c:v>
                </c:pt>
                <c:pt idx="35">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[0:00–0:40 | 40 s] Title
Good morning. I'm Pranshu Kumar, and this is my co-founder Pawan Shinde. Together we're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I'll take you through the problem and what we've built and tested. Pawan will then take you through the business, the numbers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single clinic visit "only a snapshot" of symptoms. The statement people with essential tremor agreed with most was: "I am embarrassed by my tremor when I try to eat or drink in public." And in a study from southern India, 73 of 100 Parkinson's caregivers reported severe burden.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[1:35–2:20 | 45 s] One company, two products
So here is AVERRA: one company with two complementary products.
ParkinSense is a general wellness wearable for anyone, young or old. It tracks activity and vitals, and its standout feature is tremor detection.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[2:20–3:20 | 60 s] ParkinSense
ParkinSense today is a wrist wearable with an IMU and an optical sensor. It streams over BLE at 104 hertz into three pipelines: motion, heart and steps.
Its standout feature is tremor detection: a tremor score, frequency and burden. A shared motion classifier means tremor isn't counted as steps, and heart rate is trusted less while you move.
Here's the status, honestly. Streaming, steps, tremor scoring and motion context are bench-tested. Heart rate, HRV and SpO2 are implemented but research-grade. The mobile app is in development, and all analysis currently runs on a host, not on the wrist.
A clinical evaluation is in progress with ICMR. The results aren't back yet, so we make no clinical claim today. Longer term, ParkinSense could support research into early movement change in Parkinson's. That path runs through reference assessments, prospective validation and regulatory review. It is not a diagnostic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[3:20–4:15 | 55 s] TremoSense
TremoSense is for people who already have tremor. An IMU in the handle feeds a Kalman filter that estimates roll and pitch. An LQR controller then drives two servos to counter-rotate the spoon head.
On a motorised tremor simulator at four, six and eight hertz, the current build rejects about 90 percent of tremor. It runs a real-time operating system, samples at 208 hertz and uses higher-torque servos. We'll publish the bench logs alongside the code.
Two people with tremor have tried it so far. That is encouraging, but it is not yet a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[4:15–5:05 | 50 s] Competition
Competitors, with prices checked this month.
WHOOP costs ₹17,990 a year, a Fitbit Charge 6 about ₹12,999, and an Amazfit Bip 6 ₹8,999. They are excellent at sleep, recovery and battery life. None documents tremor or movement-disorder insight. That's our space, and we have to prove people value it.
For tremor assistance, one GyroGlove costs 5,899 US dollars, about 5.6 lakh rupees, for one hand. Liftware sold for 195 dollars in 2015, and a weighted spoon is cheap but passive.
TremoSense is a spoon, not a glove, and we don't claim it matches either product. The opportunity is an Indian-built active aid priced under 2 percent of one GyroGlove, while being honest that it does far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[5:05–6:05 | 60 s] MVP &amp; validation
What has the MVP proven? Both products work on the bench. Two people with tremor have tried TremoSense informally, with no pre-set metric.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 With that, over to Pawan.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[6:05–6:50 | 45 s] Market
Thank you, Pranshu. We sized the market bottom-up.
TremoSense: Parkinson's plus essential tremor patients, half with tremor that disrupts eating, about 8.7 lakh people. At the launch price spread over a three-year life, that's ₹275.7 Cr a year.
ParkinSense is for everyone, but we only size its first beachhead, households living with Parkinson's: ₹141.3 Cr. As a general wearable the upside is far larger: India bought 35 million smartwatches in 2024, a separate TAM of ₹10742 Cr. We show it as upside only; it is not in our plan.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₹35.2 L, a gross burn of about ₹2.93 L a month. Year two still loses 17.7 lakh rupees as volume builds.
We reach sustained operating break-even in month 26, August 2029. Year three makes an operating profit of ₹11.7 L on ₹2.1 Cr of cash in, and we exit at about ₹2.3 L profit a month.
Getting there needs ₹60.9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[9:20–10:05 | 45 s] Team &amp; growth
We are both hardware engineers. Pranshu built ParkinSense and co-built TremoSense; he leads the company and the wearable hardware. I co-built TremoSense and lead control and power electronics. Our gap is commercial, so after the M6 study we hire a test engineer, and from month 19 support and sales staff.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[10:05–11:05 | 60 s] Funding ask &amp; valuation
Now the ask, kept separate from the full plan. Year one costs ₹35.2 L and reaching profitability needs ₹60.9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The Startup India grant is applied for, not awarded, and the next round is priced on the user-study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[11:05–11:55 | 50 s] Milestones, risk &amp; close
Here's what the money buys. About ₹2.7 L keeps both of us full-time for six months, ₹2.5 L covers prototypes, tools and the patent, and ₹1.6 L builds the study units and runs the user study. The patent is filed in month two, study units are built in month three, and in month six the user study decides kill or continue. If we continue, we move through EMC testing and the CDSCO filing to first sales in month twelve, and to break-even in month 26.
Why could this fail? Bench results may not turn into easier eating with real food and real hands. If the study shows less than 30 percent reduction, we stop TremoSense and focus on ParkinSense; if it works but people won't pay, we move to clinic rental.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For people who want to understand how they move, and for people whose tremor makes eating hard, AVERRA is a biomedical wearables company that turns precise movement sensing into everyday insight (ParkinSense) and active assistance (TremoSense), at prices built for India.</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concept.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ParkinSense: real prototype photo. TremoSense: concept render.</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WHAT THE RESEARCH SAYS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2B3A5C"/>
            </a:solidFill>
            <a:prstDash val="solid"/>
          </a:ln>
        </p:spPr>
      </p:sp>
      <p:sp>
        <p:nvSpPr>
          <p:cNvPr id="32" name="Text 28"/>
          <p:cNvSpPr txBox="1"/>
          <p:nvPr/>
        </p:nvSpPr>
        <p:spPr>
          <a:xfrm>
            <a:off x="658368" y="333756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Clinicians  </a:t>
            </a:r>
            <a:pPr indent="0" marL="0">
              <a:buNone/>
            </a:pPr>
            <a:r>
              <a:rPr lang="en-US" sz="1050" i="1" dirty="0">
                <a:solidFill>
                  <a:srgbClr val="FFFFFF"/>
                </a:solidFill>
                <a:latin typeface="Calibri" pitchFamily="34" charset="0"/>
                <a:ea typeface="Calibri" pitchFamily="34" charset="-122"/>
                <a:cs typeface="Calibri" pitchFamily="34" charset="-120"/>
              </a:rPr>
              <a:t>“Obtaining only a snapshot of symptoms during a single clinical office visit does not provide enough time resolution to determine how to optimize symptomatic benefit.”</a:t>
            </a:r>
            <a:endParaRPr lang="en-US" sz="1050" dirty="0"/>
          </a:p>
        </p:txBody>
      </p:sp>
      <p:sp>
        <p:nvSpPr>
          <p:cNvPr id="33" name="Text 29"/>
          <p:cNvSpPr txBox="1"/>
          <p:nvPr/>
        </p:nvSpPr>
        <p:spPr>
          <a:xfrm>
            <a:off x="658368" y="379476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Hadley, Riley &amp; Heldman, Digital Biomarkers 2021</a:t>
            </a:r>
            <a:endParaRPr lang="en-US" sz="8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2B3A5C"/>
            </a:solidFill>
            <a:prstDash val="solid"/>
          </a:ln>
        </p:spPr>
      </p:sp>
      <p:sp>
        <p:nvSpPr>
          <p:cNvPr id="35" name="Text 31"/>
          <p:cNvSpPr txBox="1"/>
          <p:nvPr/>
        </p:nvSpPr>
        <p:spPr>
          <a:xfrm>
            <a:off x="658368" y="420624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People with tremor  </a:t>
            </a:r>
            <a:pPr indent="0" marL="0">
              <a:buNone/>
            </a:pPr>
            <a:r>
              <a:rPr lang="en-US" sz="1050" i="1" dirty="0">
                <a:solidFill>
                  <a:srgbClr val="FFFFFF"/>
                </a:solidFill>
                <a:latin typeface="Calibri" pitchFamily="34" charset="0"/>
                <a:ea typeface="Calibri" pitchFamily="34" charset="-122"/>
                <a:cs typeface="Calibri" pitchFamily="34" charset="-120"/>
              </a:rPr>
              <a:t>“I am embarrassed by my tremor when I try to eat or drink in public.”</a:t>
            </a:r>
            <a:endParaRPr lang="en-US" sz="1050" dirty="0"/>
          </a:p>
        </p:txBody>
      </p:sp>
      <p:sp>
        <p:nvSpPr>
          <p:cNvPr id="36" name="Text 32"/>
          <p:cNvSpPr txBox="1"/>
          <p:nvPr/>
        </p:nvSpPr>
        <p:spPr>
          <a:xfrm>
            <a:off x="658368" y="466344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Most-endorsed item among people with essential tremor; 63.2% found their tremor embarrassing. Kellner et al., J Neurol Sci 2017</a:t>
            </a:r>
            <a:endParaRPr lang="en-US" sz="8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2B3A5C"/>
            </a:solidFill>
            <a:prstDash val="solid"/>
          </a:ln>
        </p:spPr>
      </p:sp>
      <p:sp>
        <p:nvSpPr>
          <p:cNvPr id="38" name="Text 34"/>
          <p:cNvSpPr txBox="1"/>
          <p:nvPr/>
        </p:nvSpPr>
        <p:spPr>
          <a:xfrm>
            <a:off x="658368" y="507492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Caregivers (India)  </a:t>
            </a:r>
            <a:pPr indent="0" marL="0">
              <a:buNone/>
            </a:pPr>
            <a:r>
              <a:rPr lang="en-US" sz="1050" i="1" dirty="0">
                <a:solidFill>
                  <a:srgbClr val="FFFFFF"/>
                </a:solidFill>
                <a:latin typeface="Calibri" pitchFamily="34" charset="0"/>
                <a:ea typeface="Calibri" pitchFamily="34" charset="-122"/>
                <a:cs typeface="Calibri" pitchFamily="34" charset="-120"/>
              </a:rPr>
              <a:t>“Out of 100 caregivers, 73 reported to have "severe" caregiver burden.”</a:t>
            </a:r>
            <a:endParaRPr lang="en-US" sz="1050" dirty="0"/>
          </a:p>
        </p:txBody>
      </p:sp>
      <p:sp>
        <p:nvSpPr>
          <p:cNvPr id="39" name="Text 35"/>
          <p:cNvSpPr txBox="1"/>
          <p:nvPr/>
        </p:nvSpPr>
        <p:spPr>
          <a:xfrm>
            <a:off x="658368" y="553212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Parkinson's caregivers, Southern India. Kurupath, Arathil &amp; Bansal, JCDR 2020</a:t>
            </a:r>
            <a:endParaRPr lang="en-US" sz="8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Published sources, not AVERRA's own interviews. Our customer-discovery interviews are still to be run.</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anyone wanting activity, vitals and movement insight, from fitness users to people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with tremor detection as its standout feature</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concept.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people whose tremor disrupts eating, and their families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real prototype photo. TremoSense: concept render of the current build.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wearable for everyone, with tremor detection built in</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≈90% on the bench, first two users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concept.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4–8 Hz</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frequencies tested on a motorised simulator,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2</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have tried it (informal, founder-reported)</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concept.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WHOOP One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Amazfit Bip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Fitbit Charge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06B6D4"/>
                          </a:solidFill>
                          <a:latin typeface="Calibri" pitchFamily="34" charset="0"/>
                          <a:ea typeface="Calibri" pitchFamily="34" charset="-122"/>
                          <a:cs typeface="Calibri" pitchFamily="34" charset="-120"/>
                        </a:rPr>
                        <a:t>ParkinSense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 (India)</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₹17,990/yr membership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₹8,999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₹12,999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₹7,999 + ₹199/mo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Wellness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Recovery, sleep, strain, VO₂ max</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SpO₂,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Steps, HR, HRV, SpO₂ (research-grade); sleep planned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Movement insight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Tremor score, burden, motion context (bench-tested)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Battery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Up to 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≈100 h (estimate)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Bench tests only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Liftware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US$195 (2015 price, dated)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launch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utensil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Maker cites study: 70% less shaking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2 informal user trials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Polished hardware, multi-day battery, sleep and recovery, large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general wearable for anyone whose standout feature is tremor detection: score, frequency, burden and motion context.</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price hypothesis of ₹7,999 — below WHOOP, Fitbit Charge 6 and the Amazfit Bip 6 (₹8,999),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hypothesis,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Liftware-class products.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concept.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2 people with tremor tried it</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tremor rejection on the current build (founder-reported)</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502920" y="1417320"/>
            <a:ext cx="603504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68580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685800" y="1783080"/>
            <a:ext cx="56692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685800" y="2286000"/>
            <a:ext cx="57607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280160" y="2880360"/>
            <a:ext cx="448056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4630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463040" y="3246120"/>
            <a:ext cx="411480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463040" y="3749040"/>
            <a:ext cx="420624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205740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224028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224028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224028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309360" y="1417320"/>
          <a:ext cx="5394960" cy="914400"/>
        </p:xfrm>
        <a:graphic>
          <a:graphicData uri="http://schemas.openxmlformats.org/drawingml/2006/table">
            <a:tbl>
              <a:tblPr/>
              <a:tblGrid>
                <a:gridCol w="1325880"/>
                <a:gridCol w="1417320"/>
                <a:gridCol w="1188720"/>
                <a:gridCol w="1463040"/>
              </a:tblGrid>
              <a:tr h="438912">
                <a:tc>
                  <a:txBody>
                    <a:bodyPr/>
                    <a:lstStyle/>
                    <a:p>
                      <a:pPr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 (PD households)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34D399"/>
                          </a:solidFill>
                          <a:latin typeface="Calibri" pitchFamily="34" charset="0"/>
                          <a:ea typeface="Calibri" pitchFamily="34" charset="-122"/>
                          <a:cs typeface="Calibri" pitchFamily="34" charset="-120"/>
                        </a:rPr>
                        <a:t>ParkinSense general wearable (upside)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 customers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4,60,261</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8,68,418</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35.0M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 / customer / year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₹3,174</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₹141.3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₹275.7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₹10742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₹17.6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₹34.3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₹300.8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 customers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2,450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₹44.2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₹64.8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₹75.2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309360" y="4617720"/>
            <a:ext cx="5394960" cy="914400"/>
          </a:xfrm>
          <a:prstGeom prst="rect">
            <a:avLst/>
          </a:prstGeom>
          <a:noFill/>
          <a:ln/>
        </p:spPr>
        <p:txBody>
          <a:bodyPr wrap="square" lIns="0" tIns="0" rIns="0" bIns="0" rtlCol="0" anchor="t"/>
          <a:lstStyle/>
          <a:p>
            <a:pPr indent="0" marL="0">
              <a:buNone/>
            </a:pPr>
            <a:r>
              <a:rPr lang="en-US" sz="1000" b="1" dirty="0">
                <a:solidFill>
                  <a:srgbClr val="34D399"/>
                </a:solidFill>
                <a:latin typeface="Calibri" pitchFamily="34" charset="0"/>
                <a:ea typeface="Calibri" pitchFamily="34" charset="-122"/>
                <a:cs typeface="Calibri" pitchFamily="34" charset="-120"/>
              </a:rPr>
              <a:t>Upside column: </a:t>
            </a:r>
            <a:pPr indent="0" marL="0">
              <a:buNone/>
            </a:pPr>
            <a:r>
              <a:rPr lang="en-US" sz="1000" dirty="0">
                <a:solidFill>
                  <a:srgbClr val="CBD5E1"/>
                </a:solidFill>
                <a:latin typeface="Calibri" pitchFamily="34" charset="0"/>
                <a:ea typeface="Calibri" pitchFamily="34" charset="-122"/>
                <a:cs typeface="Calibri" pitchFamily="34" charset="-120"/>
              </a:rPr>
              <a:t>ParkinSense as a general wearable, from IDC 2024 (35.0M smartwatches, 2.8% advanced). Not in plan totals or the forecast. Estimates: 40% under follow-up, 50% eating-disruptive tremor, 0.25% SOM share, all prices.</a:t>
            </a:r>
            <a:endParaRPr lang="en-US" sz="100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5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5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par>
                                <p:cTn id="28" presetID="10" presetClass="entr" presetSubtype="0" fill="hold"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50"/>
                                        <p:tgtEl>
                                          <p:spTgt spid="27"/>
                                        </p:tgtEl>
                                      </p:cBhvr>
                                    </p:animEffect>
                                  </p:childTnLst>
                                </p:cTn>
                              </p:par>
                              <p:par>
                                <p:cTn id="31" presetID="10"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450"/>
                                        <p:tgtEl>
                                          <p:spTgt spid="2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5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5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a wearable for everyone with built-in tremor detection</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Everyday wearable users · households with PD / ET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(hypothesis)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CAC = outreach ÷ customers · LTV = contribution × purchases · payback = CAC ÷ contribution per sale. Prices are hypotheses.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Aug 2029 — break-even in month 26</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₹35.2 L · ₹2.93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-₹17.7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M26 · Aug-29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₹11.7 L (5.5%)</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Zero-cash date (this round)</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F87171"/>
                </a:solidFill>
                <a:latin typeface="Calibri" pitchFamily="34" charset="0"/>
                <a:ea typeface="Calibri" pitchFamily="34" charset="-122"/>
                <a:cs typeface="Calibri" pitchFamily="34" charset="-120"/>
              </a:rPr>
              <a:t>January 2028</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hardware engineer</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 electronics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Built ParkinSense · co-built TremoSense</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hardware engineer</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Co-built TremoSense (EKF + LQR platform)</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Hardware &amp; test engineer</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Hire at M7 (Phase 2)</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support as needed: regulatory consultant, industrial designer.</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₹35.2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₹60.9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Milestone-1 round ₹10.5 L · SISFS ₹20 L applied, NOT secured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35%; no grant 45%;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WHY THIS COULD FAIL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26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 engineer hired</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M26</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2A1620"/>
          </a:solidFill>
          <a:ln w="9525">
            <a:solidFill>
              <a:srgbClr val="F87171"/>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F87171"/>
                </a:solidFill>
                <a:latin typeface="Calibri" pitchFamily="34" charset="0"/>
                <a:ea typeface="Calibri" pitchFamily="34" charset="-122"/>
                <a:cs typeface="Calibri" pitchFamily="34" charset="-120"/>
              </a:rPr>
              <a:t>WHY THIS COULD FAIL</a:t>
            </a:r>
            <a:endParaRPr lang="en-US" sz="1150" dirty="0"/>
          </a:p>
          <a:p>
            <a:pPr indent="0" marL="0">
              <a:spcAft>
                <a:spcPts val="400"/>
              </a:spcAft>
              <a:buNone/>
            </a:pPr>
            <a:r>
              <a:rPr lang="en-US" sz="1150" dirty="0">
                <a:solidFill>
                  <a:srgbClr val="FFFFFF"/>
                </a:solidFill>
                <a:latin typeface="Calibri" pitchFamily="34" charset="0"/>
                <a:ea typeface="Calibri" pitchFamily="34" charset="-122"/>
                <a:cs typeface="Calibri" pitchFamily="34" charset="-120"/>
              </a:rPr>
              <a:t>Bench rejection may not turn into easier eating. Real food, real spoons and tired hands are harder than a motorised simulator.</a:t>
            </a:r>
            <a:endParaRPr lang="en-US" sz="1150" dirty="0"/>
          </a:p>
          <a:p>
            <a:pPr indent="0" marL="0">
              <a:spcAft>
                <a:spcPts val="400"/>
              </a:spcAft>
              <a:buNone/>
            </a:pPr>
            <a:r>
              <a:rPr lang="en-US" sz="1150" b="1" dirty="0">
                <a:solidFill>
                  <a:srgbClr val="F59E0B"/>
                </a:solidFill>
                <a:latin typeface="Calibri" pitchFamily="34" charset="0"/>
                <a:ea typeface="Calibri" pitchFamily="34" charset="-122"/>
                <a:cs typeface="Calibri" pitchFamily="34" charset="-120"/>
              </a:rPr>
              <a:t>Kill / continue: </a:t>
            </a:r>
            <a:pPr indent="0" marL="0">
              <a:spcAft>
                <a:spcPts val="400"/>
              </a:spcAft>
              <a:buNone/>
            </a:pPr>
            <a:r>
              <a:rPr lang="en-US" sz="1150" dirty="0">
                <a:solidFill>
                  <a:srgbClr val="CBD5E1"/>
                </a:solidFill>
                <a:latin typeface="Calibri" pitchFamily="34" charset="0"/>
                <a:ea typeface="Calibri" pitchFamily="34" charset="-122"/>
                <a:cs typeface="Calibri" pitchFamily="34" charset="-120"/>
              </a:rPr>
              <a:t>Kill TremoSense if the M6 study (n ≥ 10) shows median tremor reduction below 30%. Pivot to clinic rental if it works but under 60% would pay.</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2026-10-15T18:49:03Z</dcterms:created>
  <dcterms:modified xsi:type="dcterms:W3CDTF">2026-10-15T18:49:03Z</dcterms:modified>
</cp:coreProperties>
</file>