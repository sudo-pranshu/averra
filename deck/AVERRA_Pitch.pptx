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2.81</c:v>
                </c:pt>
                <c:pt idx="7">
                  <c:v>1.87</c:v>
                </c:pt>
                <c:pt idx="8">
                  <c:v>4.24</c:v>
                </c:pt>
                <c:pt idx="9">
                  <c:v>4.43</c:v>
                </c:pt>
                <c:pt idx="10">
                  <c:v>6.69</c:v>
                </c:pt>
                <c:pt idx="11">
                  <c:v>2.78</c:v>
                </c:pt>
                <c:pt idx="12">
                  <c:v>1.87</c:v>
                </c:pt>
                <c:pt idx="13">
                  <c:v>2.06</c:v>
                </c:pt>
                <c:pt idx="14">
                  <c:v>4.53</c:v>
                </c:pt>
                <c:pt idx="15">
                  <c:v>4.72</c:v>
                </c:pt>
                <c:pt idx="16">
                  <c:v>4.53</c:v>
                </c:pt>
                <c:pt idx="17">
                  <c:v>12.42</c:v>
                </c:pt>
                <c:pt idx="18">
                  <c:v>5.12</c:v>
                </c:pt>
                <c:pt idx="19">
                  <c:v>5.27</c:v>
                </c:pt>
                <c:pt idx="20">
                  <c:v>5.42</c:v>
                </c:pt>
                <c:pt idx="21">
                  <c:v>6.01</c:v>
                </c:pt>
                <c:pt idx="22">
                  <c:v>5.72</c:v>
                </c:pt>
                <c:pt idx="23">
                  <c:v>5.87</c:v>
                </c:pt>
                <c:pt idx="24">
                  <c:v>12.09</c:v>
                </c:pt>
                <c:pt idx="25">
                  <c:v>12.8</c:v>
                </c:pt>
                <c:pt idx="26">
                  <c:v>13.52</c:v>
                </c:pt>
                <c:pt idx="27">
                  <c:v>14.24</c:v>
                </c:pt>
                <c:pt idx="28">
                  <c:v>14.95</c:v>
                </c:pt>
                <c:pt idx="29">
                  <c:v>16.11</c:v>
                </c:pt>
                <c:pt idx="30">
                  <c:v>16.39</c:v>
                </c:pt>
                <c:pt idx="31">
                  <c:v>17.11</c:v>
                </c:pt>
                <c:pt idx="32">
                  <c:v>17.84</c:v>
                </c:pt>
                <c:pt idx="33">
                  <c:v>19</c:v>
                </c:pt>
                <c:pt idx="34">
                  <c:v>19.28</c:v>
                </c:pt>
                <c:pt idx="35">
                  <c:v>20.01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-2.81</c:v>
                </c:pt>
                <c:pt idx="7">
                  <c:v>-1.87</c:v>
                </c:pt>
                <c:pt idx="8">
                  <c:v>-4.24</c:v>
                </c:pt>
                <c:pt idx="9">
                  <c:v>-3.85</c:v>
                </c:pt>
                <c:pt idx="10">
                  <c:v>-6.69</c:v>
                </c:pt>
                <c:pt idx="11">
                  <c:v>-1.09</c:v>
                </c:pt>
                <c:pt idx="12">
                  <c:v>-0.03</c:v>
                </c:pt>
                <c:pt idx="13">
                  <c:v>1.1</c:v>
                </c:pt>
                <c:pt idx="14">
                  <c:v>-0.84</c:v>
                </c:pt>
                <c:pt idx="15">
                  <c:v>-0.45</c:v>
                </c:pt>
                <c:pt idx="16">
                  <c:v>-0.84</c:v>
                </c:pt>
                <c:pt idx="17">
                  <c:v>-8.15</c:v>
                </c:pt>
                <c:pt idx="18">
                  <c:v>-0.58</c:v>
                </c:pt>
                <c:pt idx="19">
                  <c:v>-0.4</c:v>
                </c:pt>
                <c:pt idx="20">
                  <c:v>-0.22</c:v>
                </c:pt>
                <c:pt idx="21">
                  <c:v>-0.48</c:v>
                </c:pt>
                <c:pt idx="22">
                  <c:v>0.15</c:v>
                </c:pt>
                <c:pt idx="23">
                  <c:v>0.33</c:v>
                </c:pt>
                <c:pt idx="24">
                  <c:v>0.43</c:v>
                </c:pt>
                <c:pt idx="25">
                  <c:v>0.64</c:v>
                </c:pt>
                <c:pt idx="26">
                  <c:v>0.86</c:v>
                </c:pt>
                <c:pt idx="27">
                  <c:v>1.08</c:v>
                </c:pt>
                <c:pt idx="28">
                  <c:v>1.3</c:v>
                </c:pt>
                <c:pt idx="29">
                  <c:v>1.08</c:v>
                </c:pt>
                <c:pt idx="30">
                  <c:v>1.75</c:v>
                </c:pt>
                <c:pt idx="31">
                  <c:v>1.98</c:v>
                </c:pt>
                <c:pt idx="32">
                  <c:v>2.21</c:v>
                </c:pt>
                <c:pt idx="33">
                  <c:v>2</c:v>
                </c:pt>
                <c:pt idx="34">
                  <c:v>2.68</c:v>
                </c:pt>
                <c:pt idx="35">
                  <c:v>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[0:00–0:40 | 40 s] Title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I'll take you through the problem and what we've built and tested. Pawan will then take you through the business,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[1:35–2:20 | 45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[2:20–3:20 | 60 s] ParkinSense
ParkinSense works like a fitness band. You wear it on the wrist, it senses your movement and heart, and it sends that to a phone or computer, where our software shows the results on a live dashboard.
It tracks steps, activity, heart rate, HRV and blood oxygen. What makes it different is tremor detection: it measures a tremor score, its frequency and how much of the day it lasts, and it knows when you're resting, so tremor is never counted as steps.
Where are we? Streaming, step counting, tremor detection and low-power sleep are built and bench-tested. Heart rate and the dashboard work but still need validation. The mobile app is in development, and a clinical evaluation with ICMR is in progress, with results pending.
It is a wellness product. It does not diagnose Parkinson's, and we make no clinical claim until the ICMR results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[3:20–4:15 | 55 s] TremoSense
TremoSense is for people who already have tremor. An IMU in the handle feeds a Kalman filter that estimates roll and pitch. An LQR controller then drives two servos to counter-rotate the spoon head.
On a motorised tremor simulator at four, six and eight hertz, the current build rejects about 90 percent of tremor. It runs a real-time operating system, samples at 208 hertz and uses higher-torque servos. We'll publish the bench logs alongside the code.
Two people with tremor have tried it so far. That is encouraging, but it is not yet a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[4:15–5:05 | 50 s] Competition
Competitors, with prices checked this month.
Our direct rivals are screenless bands. WHOOP One costs ₹20,890 a year, Garmin's new Cirqa ₹25,990, Google's Fitbit Air ₹13,999 and Amazfit's Helio Strap ₹12,000. They are excellent at sleep, recovery and battery life. None offers tremor detection. That's our space, and we have to prove people value it.
For tremor assistance, one GyroGlove costs 5,899 US dollars, about 5.6 lakh rupees, for one hand. Imported active spoons sell in India for 0.4 lakh to 0.6 lakh rupees, and a weighted spoon is cheap but passive.
TremoSense is an active spoon at about a quarter of the cheapest imported one, built and serviced in India. We don't yet claim it performs as well; that is what the user study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[5:05–6:05 | 60 s] MVP &amp; validation
What has the MVP proven? Both products work on the bench. Two people with tremor have tried TremoSense informally, with no pre-set metric.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 With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[6:05–6:50 | 45 s] Market
Thank you, Pranshu. We sized the market bottom-up.
TremoSense: Parkinson's plus essential tremor patients, half with tremor that disrupts eating, about 8.7 lakh people. At the launch price spread over a three-year life, that's ₹275.7 Cr a year.
ParkinSense is for everyone, but we only size its first beachhead, households living with Parkinson's: ₹141.3 Cr. As a general wearable the upside is far larger: India bought 35 million smartwatches in 2024, a separate TAM of ₹10742 Cr. We show it as upside only; it is not in our plan.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₹31.6 L, a gross burn of about ₹2.63 L a month. Year two still loses 10.4 lakh rupees as volume builds.
We reach sustained operating break-even in month 23, May 2029. Year three makes an operating profit of ₹18.9 L on ₹2.1 Cr of cash in, and we exit at about ₹2.9 L profit a month.
Getting there needs ₹48.2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[9:20–10:05 | 45 s] Team &amp; growth
We are both hardware engineers. Pranshu built ParkinSense and co-built TremoSense; he leads the company and the wearable hardware. I co-built TremoSense and lead control and power electronics. We stay the hardware and test engineers ourselves. Our gap is commercial, so from month 19 we hire a clinic sales lead and customer support, and in month 25 an app and firmware engineer for ParkinSense.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[10:05–11:05 | 60 s] Funding ask &amp; valuation
Now the ask, kept separate from the full plan. Year one costs ₹31.6 L and reaching profitability needs ₹48.2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After this round, a second tranche of ₹37.7 L has to close by month seven, January 2028, priced on the user-study result. If it is late, we pause hiring, inventory and testing, and the remaining buffer covers about eight months of basic costs. The Startup India grant is applied for, not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[11:05–11:55 | 50 s] Milestones, risk &amp; close
Here's what the money buys. About ₹2.7 L keeps both of us full-time for six months, ₹2.5 L covers prototypes, tools and the patent, and ₹1.6 L builds the study units and runs the user study. We plan to file a provisional patent in month two, study units are built in month three, and in month six the user study decides kill or continue. If we continue, we move through EMC testing and the CDSCO filing to first sales in month twelve, and to break-even in month 23.
Why could this fail? Bench results may not turn into easier eating with real food and real hands. If the study shows less than 30 percent reduction, we stop TremoSense and focus on ParkinSense; if it works but people won't pay, we move to clinic rental.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people who want to understand how they move, and for people whose tremor makes eating hard, AVERRA is a biomedical wearables company that turns precise movement sensing into everyday insight (ParkinSense) and active assistance (TremoSense), at prices built for India.</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concept.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ParkinSense: real prototype photo. TremoSense: concept render.</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anyone wanting activity, vitals and movement insight, from fitness users to people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with tremor detection as its standout feature</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concept.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people whose tremor disrupts eating, and their families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real prototype photo. TremoSense: concept render of the current build.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wearable for everyone, with tremor detection built in</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≈90% on the bench, first two users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concept.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4–8 Hz</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frequencies tested on a motorised simulator,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2</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have tried it (informal, founder-reported)</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concept.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22960"/>
                <a:gridCol w="834390"/>
                <a:gridCol w="834390"/>
                <a:gridCol w="834390"/>
                <a:gridCol w="834390"/>
                <a:gridCol w="1325880"/>
              </a:tblGrid>
              <a:tr h="457200">
                <a:tc>
                  <a:txBody>
                    <a:bodyPr/>
                    <a:lstStyle/>
                    <a:p>
                      <a:pPr indent="0" marL="0">
                        <a:buNone/>
                      </a:pP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WHOOP One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Garmin Cirqa</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Fitbit Air</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06B6D4"/>
                          </a:solidFill>
                          <a:latin typeface="Calibri" pitchFamily="34" charset="0"/>
                          <a:ea typeface="Calibri" pitchFamily="34" charset="-122"/>
                          <a:cs typeface="Calibri" pitchFamily="34" charset="-120"/>
                        </a:rPr>
                        <a:t>Helio Strap</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ParkinSense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Price (India)</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₹20,890 incl. 12-mo plan, renews yearly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₹25,990, no subscription</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₹13,999 + Premium after trial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₹12,000–₹15,000 (official ₹8,999, sold out)</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₹7,999 + optional ₹199/mo plan</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Tracks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Recovery, sleep, strain, HRV</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HR, HRV, SpO₂, sleep, VO₂ max, skin temp</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HR, HRV, SpO₂, sleep, rhythm alerts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HR, sleep, recovery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Steps, HR, HRV, SpO₂ (research-grade)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Tremor insight</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Tremor score, frequency, burden (bench-tested)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Battery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14+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Up to 10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Up to 7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Up to 10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≈100 h (estimate)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Evidence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Bench tests only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22960"/>
                <a:gridCol w="1112520"/>
                <a:gridCol w="1112520"/>
                <a:gridCol w="1112520"/>
                <a:gridCol w="13258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Imported active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₹35,980 to ₹58,480 (imported)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planned launch 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imported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2 informal user trials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Screenless bands from WHOOP, Garmin, Google and Amazfit: polished hardware, long battery, sleep and recovery, big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general wearable for anyone whose standout feature is tremor detection: score, frequency, burden and motion context.</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planned price of ₹7,999: below every screenless band here, from the Helio Strap (₹12,000) to Garmin Cirqa (₹25,990),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active spoons cost ₹35,980 to ₹58,480 in India;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planned price,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imported active spoons.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concept.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2 people with tremor tried it</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tremor rejection on the current build (founder-reported)</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411480" y="1417320"/>
            <a:ext cx="548640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59436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594360" y="1783080"/>
            <a:ext cx="512064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594360" y="2286000"/>
            <a:ext cx="521208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051560" y="2880360"/>
            <a:ext cx="420624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2344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234440" y="3246120"/>
            <a:ext cx="38404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234440" y="3749040"/>
            <a:ext cx="39319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169164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187452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187452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187452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309360" y="1417320"/>
          <a:ext cx="5394960" cy="914400"/>
        </p:xfrm>
        <a:graphic>
          <a:graphicData uri="http://schemas.openxmlformats.org/drawingml/2006/table">
            <a:tbl>
              <a:tblPr/>
              <a:tblGrid>
                <a:gridCol w="1325880"/>
                <a:gridCol w="1417320"/>
                <a:gridCol w="1188720"/>
                <a:gridCol w="1463040"/>
              </a:tblGrid>
              <a:tr h="438912">
                <a:tc>
                  <a:txBody>
                    <a:bodyPr/>
                    <a:lstStyle/>
                    <a:p>
                      <a:pPr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 (PD households)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34D399"/>
                          </a:solidFill>
                          <a:latin typeface="Calibri" pitchFamily="34" charset="0"/>
                          <a:ea typeface="Calibri" pitchFamily="34" charset="-122"/>
                          <a:cs typeface="Calibri" pitchFamily="34" charset="-120"/>
                        </a:rPr>
                        <a:t>ParkinSense general wearable (upside)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 customers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4,60,261</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8,68,418</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35.0M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 / customer / year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₹3,174</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₹141.3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₹275.7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₹10,742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₹17.6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₹34.3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₹300.8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 customers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2,450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₹44.2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₹64.8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₹75.2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309360" y="4526280"/>
            <a:ext cx="5394960" cy="1188720"/>
          </a:xfrm>
          <a:prstGeom prst="rect">
            <a:avLst/>
          </a:prstGeom>
          <a:noFill/>
          <a:ln/>
        </p:spPr>
        <p:txBody>
          <a:bodyPr wrap="square" lIns="0" tIns="0" rIns="0" bIns="0" rtlCol="0" anchor="t"/>
          <a:lstStyle/>
          <a:p>
            <a:pPr indent="0" marL="0">
              <a:buNone/>
            </a:pPr>
            <a:r>
              <a:rPr lang="en-US" sz="900" b="1" dirty="0">
                <a:solidFill>
                  <a:srgbClr val="FFFFFF"/>
                </a:solidFill>
                <a:latin typeface="Calibri" pitchFamily="34" charset="0"/>
                <a:ea typeface="Calibri" pitchFamily="34" charset="-122"/>
                <a:cs typeface="Calibri" pitchFamily="34" charset="-120"/>
              </a:rPr>
              <a:t>How ₹ per customer is set: </a:t>
            </a:r>
            <a:pPr indent="0" marL="0">
              <a:buNone/>
            </a:pPr>
            <a:r>
              <a:rPr lang="en-US" sz="900" dirty="0">
                <a:solidFill>
                  <a:srgbClr val="CBD5E1"/>
                </a:solidFill>
                <a:latin typeface="Calibri" pitchFamily="34" charset="0"/>
                <a:ea typeface="Calibri" pitchFamily="34" charset="-122"/>
                <a:cs typeface="Calibri" pitchFamily="34" charset="-120"/>
              </a:rPr>
              <a:t>TremoSense ₹9,999 ÷ 1.05 GST = ₹9,523 ÷ 3-year life = ₹3,174/yr. ParkinSense ₹7,999 ÷ 1.18 GST ÷ 3 years + 40% × ₹169 plan × 12 = ₹3,069/yr.</a:t>
            </a:r>
            <a:endParaRPr lang="en-US" sz="900" dirty="0"/>
          </a:p>
          <a:p>
            <a:pPr indent="0" marL="0">
              <a:buNone/>
            </a:pPr>
            <a:r>
              <a:rPr lang="en-US" sz="900" b="1" dirty="0">
                <a:solidFill>
                  <a:srgbClr val="FFFFFF"/>
                </a:solidFill>
                <a:latin typeface="Calibri" pitchFamily="34" charset="0"/>
                <a:ea typeface="Calibri" pitchFamily="34" charset="-122"/>
                <a:cs typeface="Calibri" pitchFamily="34" charset="-120"/>
              </a:rPr>
              <a:t>Customers: </a:t>
            </a:r>
            <a:pPr indent="0" marL="0">
              <a:buNone/>
            </a:pPr>
            <a:r>
              <a:rPr lang="en-US" sz="900" dirty="0">
                <a:solidFill>
                  <a:srgbClr val="CBD5E1"/>
                </a:solidFill>
                <a:latin typeface="Calibri" pitchFamily="34" charset="0"/>
                <a:ea typeface="Calibri" pitchFamily="34" charset="-122"/>
                <a:cs typeface="Calibri" pitchFamily="34" charset="-120"/>
              </a:rPr>
              <a:t>TS = (PD 4,60,261 + ET 12,76,575) × 50% eating-disruptive. SAM = × 31.1% urban × 40% under care. SOM = 30 clinics × (4 TS / 2 PS) per month + online, × 12.</a:t>
            </a:r>
            <a:endParaRPr lang="en-US" sz="900" dirty="0"/>
          </a:p>
          <a:p>
            <a:pPr indent="0" marL="0">
              <a:buNone/>
            </a:pPr>
            <a:r>
              <a:rPr lang="en-US" sz="900" b="1" dirty="0">
                <a:solidFill>
                  <a:srgbClr val="34D399"/>
                </a:solidFill>
                <a:latin typeface="Calibri" pitchFamily="34" charset="0"/>
                <a:ea typeface="Calibri" pitchFamily="34" charset="-122"/>
                <a:cs typeface="Calibri" pitchFamily="34" charset="-120"/>
              </a:rPr>
              <a:t>Upside column: </a:t>
            </a:r>
            <a:pPr indent="0" marL="0">
              <a:buNone/>
            </a:pPr>
            <a:r>
              <a:rPr lang="en-US" sz="900" dirty="0">
                <a:solidFill>
                  <a:srgbClr val="CBD5E1"/>
                </a:solidFill>
                <a:latin typeface="Calibri" pitchFamily="34" charset="0"/>
                <a:ea typeface="Calibri" pitchFamily="34" charset="-122"/>
                <a:cs typeface="Calibri" pitchFamily="34" charset="-120"/>
              </a:rPr>
              <a:t>IDC 2024: 3.5 Cr smartwatches × 2.8% premium; SOM 0.25% of SAM. Not in plan totals.</a:t>
            </a:r>
            <a:endParaRPr lang="en-US" sz="90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5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5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5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5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450"/>
                                        <p:tgtEl>
                                          <p:spTgt spid="26"/>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par>
                                <p:cTn id="42" presetID="10" presetClass="entr" presetSubtype="0" fill="hold"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50"/>
                                        <p:tgtEl>
                                          <p:spTgt spid="32"/>
                                        </p:tgtEl>
                                      </p:cBhvr>
                                    </p:animEffect>
                                  </p:childTnLst>
                                </p:cTn>
                              </p:par>
                              <p:par>
                                <p:cTn id="45" presetID="10" presetClass="entr" presetSubtype="0" fill="hold"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a wearable for everyone with built-in tremor detection</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Everyday wearable users · households with PD / ET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planned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CAC = outreach ÷ customers · LTV = contribution × purchases · payback = CAC ÷ contribution per sale. Prices are planned and will be tested with customers.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May 2029 — break-even in month 23</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₹31.6 L · ₹2.63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-₹10.4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M23 · May-29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₹18.9 L (8.9%)</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Zero-cash date (this round)</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F87171"/>
                </a:solidFill>
                <a:latin typeface="Calibri" pitchFamily="34" charset="0"/>
                <a:ea typeface="Calibri" pitchFamily="34" charset="-122"/>
                <a:cs typeface="Calibri" pitchFamily="34" charset="-120"/>
              </a:rPr>
              <a:t>January 2028</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 electronics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Built ParkinSense · co-built TremoSense</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Co-built TremoSense (EKF + LQR platform)</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Next hires</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Sales lead + support (M19) · app engineer (M25)</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support as needed: regulatory consultant, industrial designer.</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₹31.6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₹48.2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Now ₹10.5 L → tranche 2 ₹37.7 L by M7 · grant not counted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27%; no grant 39%;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WHY THIS COULD FAIL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23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filing planned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M23</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2A1620"/>
          </a:solidFill>
          <a:ln w="9525">
            <a:solidFill>
              <a:srgbClr val="F87171"/>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F87171"/>
                </a:solidFill>
                <a:latin typeface="Calibri" pitchFamily="34" charset="0"/>
                <a:ea typeface="Calibri" pitchFamily="34" charset="-122"/>
                <a:cs typeface="Calibri" pitchFamily="34" charset="-120"/>
              </a:rPr>
              <a:t>WHY THIS COULD FAIL</a:t>
            </a:r>
            <a:endParaRPr lang="en-US" sz="1150" dirty="0"/>
          </a:p>
          <a:p>
            <a:pPr indent="0" marL="0">
              <a:spcAft>
                <a:spcPts val="400"/>
              </a:spcAft>
              <a:buNone/>
            </a:pPr>
            <a:r>
              <a:rPr lang="en-US" sz="1150" dirty="0">
                <a:solidFill>
                  <a:srgbClr val="FFFFFF"/>
                </a:solidFill>
                <a:latin typeface="Calibri" pitchFamily="34" charset="0"/>
                <a:ea typeface="Calibri" pitchFamily="34" charset="-122"/>
                <a:cs typeface="Calibri" pitchFamily="34" charset="-120"/>
              </a:rPr>
              <a:t>Bench rejection may not turn into easier eating. Real food, real spoons and tired hands are harder than a motorised simulator.</a:t>
            </a:r>
            <a:endParaRPr lang="en-US" sz="1150" dirty="0"/>
          </a:p>
          <a:p>
            <a:pPr indent="0" marL="0">
              <a:spcAft>
                <a:spcPts val="400"/>
              </a:spcAft>
              <a:buNone/>
            </a:pPr>
            <a:r>
              <a:rPr lang="en-US" sz="1150" b="1" dirty="0">
                <a:solidFill>
                  <a:srgbClr val="F59E0B"/>
                </a:solidFill>
                <a:latin typeface="Calibri" pitchFamily="34" charset="0"/>
                <a:ea typeface="Calibri" pitchFamily="34" charset="-122"/>
                <a:cs typeface="Calibri" pitchFamily="34" charset="-120"/>
              </a:rPr>
              <a:t>Kill / continue: </a:t>
            </a:r>
            <a:pPr indent="0" marL="0">
              <a:spcAft>
                <a:spcPts val="400"/>
              </a:spcAft>
              <a:buNone/>
            </a:pPr>
            <a:r>
              <a:rPr lang="en-US" sz="1150" dirty="0">
                <a:solidFill>
                  <a:srgbClr val="CBD5E1"/>
                </a:solidFill>
                <a:latin typeface="Calibri" pitchFamily="34" charset="0"/>
                <a:ea typeface="Calibri" pitchFamily="34" charset="-122"/>
                <a:cs typeface="Calibri" pitchFamily="34" charset="-120"/>
              </a:rPr>
              <a:t>Kill TremoSense if the M6 study (n ≥ 10) shows median tremor reduction below 30%. Pivot to clinic rental if it works but under 60% would pay.</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2026-10-16T06:49:12Z</dcterms:created>
  <dcterms:modified xsi:type="dcterms:W3CDTF">2026-10-16T06:49:12Z</dcterms:modified>
</cp:coreProperties>
</file>