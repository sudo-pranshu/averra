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signal</c:v>
                </c:pt>
              </c:strCache>
            </c:strRef>
          </c:tx>
          <c:spPr>
            <a:solidFill>
              <a:srgbClr val="06B6D4"/>
            </a:solidFill>
            <a:ln w="15875" cap="flat">
              <a:solidFill>
                <a:srgbClr val="06B6D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6B6D4"/>
              </a:solidFill>
              <a:ln w="9525" cap="flat">
                <a:solidFill>
                  <a:srgbClr val="06B6D4"/>
                </a:solidFill>
                <a:prstDash val="solid"/>
                <a:round/>
              </a:ln>
              <a:effectLst/>
            </c:spPr>
          </c:marker>
          <c:cat>
            <c:multiLvlStrRef>
              <c:f>Sheet1!$A$2:$A$209</c:f>
              <c:multiLvlStrCache>
                <c:ptCount val="208"/>
                <c:lvl>
                  <c:pt idx="0">
                    <c:v>0</c:v>
                  </c:pt>
                  <c:pt idx="1">
                    <c:v>0.019</c:v>
                  </c:pt>
                  <c:pt idx="2">
                    <c:v>0.038</c:v>
                  </c:pt>
                  <c:pt idx="3">
                    <c:v>0.058</c:v>
                  </c:pt>
                  <c:pt idx="4">
                    <c:v>0.077</c:v>
                  </c:pt>
                  <c:pt idx="5">
                    <c:v>0.096</c:v>
                  </c:pt>
                  <c:pt idx="6">
                    <c:v>0.115</c:v>
                  </c:pt>
                  <c:pt idx="7">
                    <c:v>0.135</c:v>
                  </c:pt>
                  <c:pt idx="8">
                    <c:v>0.154</c:v>
                  </c:pt>
                  <c:pt idx="9">
                    <c:v>0.173</c:v>
                  </c:pt>
                  <c:pt idx="10">
                    <c:v>0.192</c:v>
                  </c:pt>
                  <c:pt idx="11">
                    <c:v>0.212</c:v>
                  </c:pt>
                  <c:pt idx="12">
                    <c:v>0.231</c:v>
                  </c:pt>
                  <c:pt idx="13">
                    <c:v>0.25</c:v>
                  </c:pt>
                  <c:pt idx="14">
                    <c:v>0.269</c:v>
                  </c:pt>
                  <c:pt idx="15">
                    <c:v>0.288</c:v>
                  </c:pt>
                  <c:pt idx="16">
                    <c:v>0.308</c:v>
                  </c:pt>
                  <c:pt idx="17">
                    <c:v>0.327</c:v>
                  </c:pt>
                  <c:pt idx="18">
                    <c:v>0.346</c:v>
                  </c:pt>
                  <c:pt idx="19">
                    <c:v>0.365</c:v>
                  </c:pt>
                  <c:pt idx="20">
                    <c:v>0.385</c:v>
                  </c:pt>
                  <c:pt idx="21">
                    <c:v>0.404</c:v>
                  </c:pt>
                  <c:pt idx="22">
                    <c:v>0.423</c:v>
                  </c:pt>
                  <c:pt idx="23">
                    <c:v>0.442</c:v>
                  </c:pt>
                  <c:pt idx="24">
                    <c:v>0.462</c:v>
                  </c:pt>
                  <c:pt idx="25">
                    <c:v>0.481</c:v>
                  </c:pt>
                  <c:pt idx="26">
                    <c:v>0.5</c:v>
                  </c:pt>
                  <c:pt idx="27">
                    <c:v>0.519</c:v>
                  </c:pt>
                  <c:pt idx="28">
                    <c:v>0.538</c:v>
                  </c:pt>
                  <c:pt idx="29">
                    <c:v>0.558</c:v>
                  </c:pt>
                  <c:pt idx="30">
                    <c:v>0.577</c:v>
                  </c:pt>
                  <c:pt idx="31">
                    <c:v>0.596</c:v>
                  </c:pt>
                  <c:pt idx="32">
                    <c:v>0.615</c:v>
                  </c:pt>
                  <c:pt idx="33">
                    <c:v>0.635</c:v>
                  </c:pt>
                  <c:pt idx="34">
                    <c:v>0.654</c:v>
                  </c:pt>
                  <c:pt idx="35">
                    <c:v>0.673</c:v>
                  </c:pt>
                  <c:pt idx="36">
                    <c:v>0.692</c:v>
                  </c:pt>
                  <c:pt idx="37">
                    <c:v>0.712</c:v>
                  </c:pt>
                  <c:pt idx="38">
                    <c:v>0.731</c:v>
                  </c:pt>
                  <c:pt idx="39">
                    <c:v>0.75</c:v>
                  </c:pt>
                  <c:pt idx="40">
                    <c:v>0.769</c:v>
                  </c:pt>
                  <c:pt idx="41">
                    <c:v>0.788</c:v>
                  </c:pt>
                  <c:pt idx="42">
                    <c:v>0.808</c:v>
                  </c:pt>
                  <c:pt idx="43">
                    <c:v>0.827</c:v>
                  </c:pt>
                  <c:pt idx="44">
                    <c:v>0.846</c:v>
                  </c:pt>
                  <c:pt idx="45">
                    <c:v>0.865</c:v>
                  </c:pt>
                  <c:pt idx="46">
                    <c:v>0.885</c:v>
                  </c:pt>
                  <c:pt idx="47">
                    <c:v>0.904</c:v>
                  </c:pt>
                  <c:pt idx="48">
                    <c:v>0.923</c:v>
                  </c:pt>
                  <c:pt idx="49">
                    <c:v>0.942</c:v>
                  </c:pt>
                  <c:pt idx="50">
                    <c:v>0.962</c:v>
                  </c:pt>
                  <c:pt idx="51">
                    <c:v>0.981</c:v>
                  </c:pt>
                  <c:pt idx="52">
                    <c:v>1</c:v>
                  </c:pt>
                  <c:pt idx="53">
                    <c:v>1.019</c:v>
                  </c:pt>
                  <c:pt idx="54">
                    <c:v>1.038</c:v>
                  </c:pt>
                  <c:pt idx="55">
                    <c:v>1.058</c:v>
                  </c:pt>
                  <c:pt idx="56">
                    <c:v>1.077</c:v>
                  </c:pt>
                  <c:pt idx="57">
                    <c:v>1.096</c:v>
                  </c:pt>
                  <c:pt idx="58">
                    <c:v>1.115</c:v>
                  </c:pt>
                  <c:pt idx="59">
                    <c:v>1.135</c:v>
                  </c:pt>
                  <c:pt idx="60">
                    <c:v>1.154</c:v>
                  </c:pt>
                  <c:pt idx="61">
                    <c:v>1.173</c:v>
                  </c:pt>
                  <c:pt idx="62">
                    <c:v>1.192</c:v>
                  </c:pt>
                  <c:pt idx="63">
                    <c:v>1.212</c:v>
                  </c:pt>
                  <c:pt idx="64">
                    <c:v>1.231</c:v>
                  </c:pt>
                  <c:pt idx="65">
                    <c:v>1.25</c:v>
                  </c:pt>
                  <c:pt idx="66">
                    <c:v>1.269</c:v>
                  </c:pt>
                  <c:pt idx="67">
                    <c:v>1.288</c:v>
                  </c:pt>
                  <c:pt idx="68">
                    <c:v>1.308</c:v>
                  </c:pt>
                  <c:pt idx="69">
                    <c:v>1.327</c:v>
                  </c:pt>
                  <c:pt idx="70">
                    <c:v>1.346</c:v>
                  </c:pt>
                  <c:pt idx="71">
                    <c:v>1.365</c:v>
                  </c:pt>
                  <c:pt idx="72">
                    <c:v>1.385</c:v>
                  </c:pt>
                  <c:pt idx="73">
                    <c:v>1.404</c:v>
                  </c:pt>
                  <c:pt idx="74">
                    <c:v>1.423</c:v>
                  </c:pt>
                  <c:pt idx="75">
                    <c:v>1.442</c:v>
                  </c:pt>
                  <c:pt idx="76">
                    <c:v>1.462</c:v>
                  </c:pt>
                  <c:pt idx="77">
                    <c:v>1.481</c:v>
                  </c:pt>
                  <c:pt idx="78">
                    <c:v>1.5</c:v>
                  </c:pt>
                  <c:pt idx="79">
                    <c:v>1.519</c:v>
                  </c:pt>
                  <c:pt idx="80">
                    <c:v>1.538</c:v>
                  </c:pt>
                  <c:pt idx="81">
                    <c:v>1.558</c:v>
                  </c:pt>
                  <c:pt idx="82">
                    <c:v>1.577</c:v>
                  </c:pt>
                  <c:pt idx="83">
                    <c:v>1.596</c:v>
                  </c:pt>
                  <c:pt idx="84">
                    <c:v>1.615</c:v>
                  </c:pt>
                  <c:pt idx="85">
                    <c:v>1.635</c:v>
                  </c:pt>
                  <c:pt idx="86">
                    <c:v>1.654</c:v>
                  </c:pt>
                  <c:pt idx="87">
                    <c:v>1.673</c:v>
                  </c:pt>
                  <c:pt idx="88">
                    <c:v>1.692</c:v>
                  </c:pt>
                  <c:pt idx="89">
                    <c:v>1.712</c:v>
                  </c:pt>
                  <c:pt idx="90">
                    <c:v>1.731</c:v>
                  </c:pt>
                  <c:pt idx="91">
                    <c:v>1.75</c:v>
                  </c:pt>
                  <c:pt idx="92">
                    <c:v>1.769</c:v>
                  </c:pt>
                  <c:pt idx="93">
                    <c:v>1.788</c:v>
                  </c:pt>
                  <c:pt idx="94">
                    <c:v>1.808</c:v>
                  </c:pt>
                  <c:pt idx="95">
                    <c:v>1.827</c:v>
                  </c:pt>
                  <c:pt idx="96">
                    <c:v>1.846</c:v>
                  </c:pt>
                  <c:pt idx="97">
                    <c:v>1.865</c:v>
                  </c:pt>
                  <c:pt idx="98">
                    <c:v>1.885</c:v>
                  </c:pt>
                  <c:pt idx="99">
                    <c:v>1.904</c:v>
                  </c:pt>
                  <c:pt idx="100">
                    <c:v>1.923</c:v>
                  </c:pt>
                  <c:pt idx="101">
                    <c:v>1.942</c:v>
                  </c:pt>
                  <c:pt idx="102">
                    <c:v>1.962</c:v>
                  </c:pt>
                  <c:pt idx="103">
                    <c:v>1.981</c:v>
                  </c:pt>
                  <c:pt idx="104">
                    <c:v>2</c:v>
                  </c:pt>
                  <c:pt idx="105">
                    <c:v>2.019</c:v>
                  </c:pt>
                  <c:pt idx="106">
                    <c:v>2.038</c:v>
                  </c:pt>
                  <c:pt idx="107">
                    <c:v>2.058</c:v>
                  </c:pt>
                  <c:pt idx="108">
                    <c:v>2.077</c:v>
                  </c:pt>
                  <c:pt idx="109">
                    <c:v>2.096</c:v>
                  </c:pt>
                  <c:pt idx="110">
                    <c:v>2.115</c:v>
                  </c:pt>
                  <c:pt idx="111">
                    <c:v>2.135</c:v>
                  </c:pt>
                  <c:pt idx="112">
                    <c:v>2.154</c:v>
                  </c:pt>
                  <c:pt idx="113">
                    <c:v>2.173</c:v>
                  </c:pt>
                  <c:pt idx="114">
                    <c:v>2.192</c:v>
                  </c:pt>
                  <c:pt idx="115">
                    <c:v>2.212</c:v>
                  </c:pt>
                  <c:pt idx="116">
                    <c:v>2.231</c:v>
                  </c:pt>
                  <c:pt idx="117">
                    <c:v>2.25</c:v>
                  </c:pt>
                  <c:pt idx="118">
                    <c:v>2.269</c:v>
                  </c:pt>
                  <c:pt idx="119">
                    <c:v>2.288</c:v>
                  </c:pt>
                  <c:pt idx="120">
                    <c:v>2.308</c:v>
                  </c:pt>
                  <c:pt idx="121">
                    <c:v>2.327</c:v>
                  </c:pt>
                  <c:pt idx="122">
                    <c:v>2.346</c:v>
                  </c:pt>
                  <c:pt idx="123">
                    <c:v>2.365</c:v>
                  </c:pt>
                  <c:pt idx="124">
                    <c:v>2.385</c:v>
                  </c:pt>
                  <c:pt idx="125">
                    <c:v>2.404</c:v>
                  </c:pt>
                  <c:pt idx="126">
                    <c:v>2.423</c:v>
                  </c:pt>
                  <c:pt idx="127">
                    <c:v>2.442</c:v>
                  </c:pt>
                  <c:pt idx="128">
                    <c:v>2.462</c:v>
                  </c:pt>
                  <c:pt idx="129">
                    <c:v>2.481</c:v>
                  </c:pt>
                  <c:pt idx="130">
                    <c:v>2.5</c:v>
                  </c:pt>
                  <c:pt idx="131">
                    <c:v>2.519</c:v>
                  </c:pt>
                  <c:pt idx="132">
                    <c:v>2.538</c:v>
                  </c:pt>
                  <c:pt idx="133">
                    <c:v>2.558</c:v>
                  </c:pt>
                  <c:pt idx="134">
                    <c:v>2.577</c:v>
                  </c:pt>
                  <c:pt idx="135">
                    <c:v>2.596</c:v>
                  </c:pt>
                  <c:pt idx="136">
                    <c:v>2.615</c:v>
                  </c:pt>
                  <c:pt idx="137">
                    <c:v>2.635</c:v>
                  </c:pt>
                  <c:pt idx="138">
                    <c:v>2.654</c:v>
                  </c:pt>
                  <c:pt idx="139">
                    <c:v>2.673</c:v>
                  </c:pt>
                  <c:pt idx="140">
                    <c:v>2.692</c:v>
                  </c:pt>
                  <c:pt idx="141">
                    <c:v>2.712</c:v>
                  </c:pt>
                  <c:pt idx="142">
                    <c:v>2.731</c:v>
                  </c:pt>
                  <c:pt idx="143">
                    <c:v>2.75</c:v>
                  </c:pt>
                  <c:pt idx="144">
                    <c:v>2.769</c:v>
                  </c:pt>
                  <c:pt idx="145">
                    <c:v>2.788</c:v>
                  </c:pt>
                  <c:pt idx="146">
                    <c:v>2.808</c:v>
                  </c:pt>
                  <c:pt idx="147">
                    <c:v>2.827</c:v>
                  </c:pt>
                  <c:pt idx="148">
                    <c:v>2.846</c:v>
                  </c:pt>
                  <c:pt idx="149">
                    <c:v>2.865</c:v>
                  </c:pt>
                  <c:pt idx="150">
                    <c:v>2.885</c:v>
                  </c:pt>
                  <c:pt idx="151">
                    <c:v>2.904</c:v>
                  </c:pt>
                  <c:pt idx="152">
                    <c:v>2.923</c:v>
                  </c:pt>
                  <c:pt idx="153">
                    <c:v>2.942</c:v>
                  </c:pt>
                  <c:pt idx="154">
                    <c:v>2.962</c:v>
                  </c:pt>
                  <c:pt idx="155">
                    <c:v>2.981</c:v>
                  </c:pt>
                  <c:pt idx="156">
                    <c:v>3</c:v>
                  </c:pt>
                  <c:pt idx="157">
                    <c:v>3.019</c:v>
                  </c:pt>
                  <c:pt idx="158">
                    <c:v>3.038</c:v>
                  </c:pt>
                  <c:pt idx="159">
                    <c:v>3.058</c:v>
                  </c:pt>
                  <c:pt idx="160">
                    <c:v>3.077</c:v>
                  </c:pt>
                  <c:pt idx="161">
                    <c:v>3.096</c:v>
                  </c:pt>
                  <c:pt idx="162">
                    <c:v>3.115</c:v>
                  </c:pt>
                  <c:pt idx="163">
                    <c:v>3.135</c:v>
                  </c:pt>
                  <c:pt idx="164">
                    <c:v>3.154</c:v>
                  </c:pt>
                  <c:pt idx="165">
                    <c:v>3.173</c:v>
                  </c:pt>
                  <c:pt idx="166">
                    <c:v>3.192</c:v>
                  </c:pt>
                  <c:pt idx="167">
                    <c:v>3.212</c:v>
                  </c:pt>
                  <c:pt idx="168">
                    <c:v>3.231</c:v>
                  </c:pt>
                  <c:pt idx="169">
                    <c:v>3.25</c:v>
                  </c:pt>
                  <c:pt idx="170">
                    <c:v>3.269</c:v>
                  </c:pt>
                  <c:pt idx="171">
                    <c:v>3.288</c:v>
                  </c:pt>
                  <c:pt idx="172">
                    <c:v>3.308</c:v>
                  </c:pt>
                  <c:pt idx="173">
                    <c:v>3.327</c:v>
                  </c:pt>
                  <c:pt idx="174">
                    <c:v>3.346</c:v>
                  </c:pt>
                  <c:pt idx="175">
                    <c:v>3.365</c:v>
                  </c:pt>
                  <c:pt idx="176">
                    <c:v>3.385</c:v>
                  </c:pt>
                  <c:pt idx="177">
                    <c:v>3.404</c:v>
                  </c:pt>
                  <c:pt idx="178">
                    <c:v>3.423</c:v>
                  </c:pt>
                  <c:pt idx="179">
                    <c:v>3.442</c:v>
                  </c:pt>
                  <c:pt idx="180">
                    <c:v>3.462</c:v>
                  </c:pt>
                  <c:pt idx="181">
                    <c:v>3.481</c:v>
                  </c:pt>
                  <c:pt idx="182">
                    <c:v>3.5</c:v>
                  </c:pt>
                  <c:pt idx="183">
                    <c:v>3.519</c:v>
                  </c:pt>
                  <c:pt idx="184">
                    <c:v>3.538</c:v>
                  </c:pt>
                  <c:pt idx="185">
                    <c:v>3.558</c:v>
                  </c:pt>
                  <c:pt idx="186">
                    <c:v>3.577</c:v>
                  </c:pt>
                  <c:pt idx="187">
                    <c:v>3.596</c:v>
                  </c:pt>
                  <c:pt idx="188">
                    <c:v>3.615</c:v>
                  </c:pt>
                  <c:pt idx="189">
                    <c:v>3.635</c:v>
                  </c:pt>
                  <c:pt idx="190">
                    <c:v>3.654</c:v>
                  </c:pt>
                  <c:pt idx="191">
                    <c:v>3.673</c:v>
                  </c:pt>
                  <c:pt idx="192">
                    <c:v>3.692</c:v>
                  </c:pt>
                  <c:pt idx="193">
                    <c:v>3.712</c:v>
                  </c:pt>
                  <c:pt idx="194">
                    <c:v>3.731</c:v>
                  </c:pt>
                  <c:pt idx="195">
                    <c:v>3.75</c:v>
                  </c:pt>
                  <c:pt idx="196">
                    <c:v>3.769</c:v>
                  </c:pt>
                  <c:pt idx="197">
                    <c:v>3.788</c:v>
                  </c:pt>
                  <c:pt idx="198">
                    <c:v>3.808</c:v>
                  </c:pt>
                  <c:pt idx="199">
                    <c:v>3.827</c:v>
                  </c:pt>
                  <c:pt idx="200">
                    <c:v>3.846</c:v>
                  </c:pt>
                  <c:pt idx="201">
                    <c:v>3.865</c:v>
                  </c:pt>
                  <c:pt idx="202">
                    <c:v>3.885</c:v>
                  </c:pt>
                  <c:pt idx="203">
                    <c:v>3.904</c:v>
                  </c:pt>
                  <c:pt idx="204">
                    <c:v>3.923</c:v>
                  </c:pt>
                  <c:pt idx="205">
                    <c:v>3.942</c:v>
                  </c:pt>
                  <c:pt idx="206">
                    <c:v>3.962</c:v>
                  </c:pt>
                  <c:pt idx="207">
                    <c:v>3.981</c:v>
                  </c:pt>
                </c:lvl>
              </c:multiLvlStrCache>
            </c:multiLvlStrRef>
          </c:cat>
          <c:val>
            <c:numRef>
              <c:f>Sheet1!$B$2:$B$209</c:f>
              <c:numCache>
                <c:formatCode>General</c:formatCode>
                <c:ptCount val="208"/>
                <c:pt idx="0">
                  <c:v>7.98</c:v>
                </c:pt>
                <c:pt idx="1">
                  <c:v>10.58</c:v>
                </c:pt>
                <c:pt idx="2">
                  <c:v>11.69</c:v>
                </c:pt>
                <c:pt idx="3">
                  <c:v>7.86</c:v>
                </c:pt>
                <c:pt idx="4">
                  <c:v>6.61</c:v>
                </c:pt>
                <c:pt idx="5">
                  <c:v>4.08</c:v>
                </c:pt>
                <c:pt idx="6">
                  <c:v>-0.71</c:v>
                </c:pt>
                <c:pt idx="7">
                  <c:v>-3.33</c:v>
                </c:pt>
                <c:pt idx="8">
                  <c:v>2.15</c:v>
                </c:pt>
                <c:pt idx="9">
                  <c:v>8.53</c:v>
                </c:pt>
                <c:pt idx="10">
                  <c:v>13.56</c:v>
                </c:pt>
                <c:pt idx="11">
                  <c:v>20.88</c:v>
                </c:pt>
                <c:pt idx="12">
                  <c:v>23.18</c:v>
                </c:pt>
                <c:pt idx="13">
                  <c:v>27.64</c:v>
                </c:pt>
                <c:pt idx="14">
                  <c:v>20.17</c:v>
                </c:pt>
                <c:pt idx="15">
                  <c:v>13.79</c:v>
                </c:pt>
                <c:pt idx="16">
                  <c:v>12.28</c:v>
                </c:pt>
                <c:pt idx="17">
                  <c:v>7.69</c:v>
                </c:pt>
                <c:pt idx="18">
                  <c:v>2.1</c:v>
                </c:pt>
                <c:pt idx="19">
                  <c:v>9.4</c:v>
                </c:pt>
                <c:pt idx="20">
                  <c:v>17.59</c:v>
                </c:pt>
                <c:pt idx="21">
                  <c:v>22.07</c:v>
                </c:pt>
                <c:pt idx="22">
                  <c:v>27.07</c:v>
                </c:pt>
                <c:pt idx="23">
                  <c:v>30.6</c:v>
                </c:pt>
                <c:pt idx="24">
                  <c:v>25.36</c:v>
                </c:pt>
                <c:pt idx="25">
                  <c:v>19.09</c:v>
                </c:pt>
                <c:pt idx="26">
                  <c:v>14.39</c:v>
                </c:pt>
                <c:pt idx="27">
                  <c:v>7.8</c:v>
                </c:pt>
                <c:pt idx="28">
                  <c:v>6.6</c:v>
                </c:pt>
                <c:pt idx="29">
                  <c:v>8.88</c:v>
                </c:pt>
                <c:pt idx="30">
                  <c:v>8.34</c:v>
                </c:pt>
                <c:pt idx="31">
                  <c:v>14.86</c:v>
                </c:pt>
                <c:pt idx="32">
                  <c:v>16.84</c:v>
                </c:pt>
                <c:pt idx="33">
                  <c:v>23.64</c:v>
                </c:pt>
                <c:pt idx="34">
                  <c:v>15.63</c:v>
                </c:pt>
                <c:pt idx="35">
                  <c:v>15.19</c:v>
                </c:pt>
                <c:pt idx="36">
                  <c:v>10.73</c:v>
                </c:pt>
                <c:pt idx="37">
                  <c:v>1.78</c:v>
                </c:pt>
                <c:pt idx="38">
                  <c:v>-0.19</c:v>
                </c:pt>
                <c:pt idx="39">
                  <c:v>-4.39</c:v>
                </c:pt>
                <c:pt idx="40">
                  <c:v>2.3</c:v>
                </c:pt>
                <c:pt idx="41">
                  <c:v>4.91</c:v>
                </c:pt>
                <c:pt idx="42">
                  <c:v>8.42</c:v>
                </c:pt>
                <c:pt idx="43">
                  <c:v>8.31</c:v>
                </c:pt>
                <c:pt idx="44">
                  <c:v>11.48</c:v>
                </c:pt>
                <c:pt idx="45">
                  <c:v>2.98</c:v>
                </c:pt>
                <c:pt idx="46">
                  <c:v>-2.18</c:v>
                </c:pt>
                <c:pt idx="47">
                  <c:v>-12.2</c:v>
                </c:pt>
                <c:pt idx="48">
                  <c:v>-15.01</c:v>
                </c:pt>
                <c:pt idx="49">
                  <c:v>-15.55</c:v>
                </c:pt>
                <c:pt idx="50">
                  <c:v>-16.23</c:v>
                </c:pt>
                <c:pt idx="51">
                  <c:v>-12.01</c:v>
                </c:pt>
                <c:pt idx="52">
                  <c:v>-8.27</c:v>
                </c:pt>
                <c:pt idx="53">
                  <c:v>-3.39</c:v>
                </c:pt>
                <c:pt idx="54">
                  <c:v>-2.13</c:v>
                </c:pt>
                <c:pt idx="55">
                  <c:v>-2.46</c:v>
                </c:pt>
                <c:pt idx="56">
                  <c:v>-15.19</c:v>
                </c:pt>
                <c:pt idx="57">
                  <c:v>-19.03</c:v>
                </c:pt>
                <c:pt idx="58">
                  <c:v>-28.02</c:v>
                </c:pt>
                <c:pt idx="59">
                  <c:v>-24.16</c:v>
                </c:pt>
                <c:pt idx="60">
                  <c:v>-27.46</c:v>
                </c:pt>
                <c:pt idx="61">
                  <c:v>-21.47</c:v>
                </c:pt>
                <c:pt idx="62">
                  <c:v>-11.9</c:v>
                </c:pt>
                <c:pt idx="63">
                  <c:v>-9.37</c:v>
                </c:pt>
                <c:pt idx="64">
                  <c:v>-4.64</c:v>
                </c:pt>
                <c:pt idx="65">
                  <c:v>-6.05</c:v>
                </c:pt>
                <c:pt idx="66">
                  <c:v>-12.97</c:v>
                </c:pt>
                <c:pt idx="67">
                  <c:v>-15.18</c:v>
                </c:pt>
                <c:pt idx="68">
                  <c:v>-24.17</c:v>
                </c:pt>
                <c:pt idx="69">
                  <c:v>-25.76</c:v>
                </c:pt>
                <c:pt idx="70">
                  <c:v>-28.3</c:v>
                </c:pt>
                <c:pt idx="71">
                  <c:v>-17.74</c:v>
                </c:pt>
                <c:pt idx="72">
                  <c:v>-17.68</c:v>
                </c:pt>
                <c:pt idx="73">
                  <c:v>-12.75</c:v>
                </c:pt>
                <c:pt idx="74">
                  <c:v>-3.58</c:v>
                </c:pt>
                <c:pt idx="75">
                  <c:v>-2.93</c:v>
                </c:pt>
                <c:pt idx="76">
                  <c:v>-5.06</c:v>
                </c:pt>
                <c:pt idx="77">
                  <c:v>-10.5</c:v>
                </c:pt>
                <c:pt idx="78">
                  <c:v>-16.04</c:v>
                </c:pt>
                <c:pt idx="79">
                  <c:v>-19.57</c:v>
                </c:pt>
                <c:pt idx="80">
                  <c:v>-16.65</c:v>
                </c:pt>
                <c:pt idx="81">
                  <c:v>-15.51</c:v>
                </c:pt>
                <c:pt idx="82">
                  <c:v>-7.88</c:v>
                </c:pt>
                <c:pt idx="83">
                  <c:v>-6.15</c:v>
                </c:pt>
                <c:pt idx="84">
                  <c:v>3.31</c:v>
                </c:pt>
                <c:pt idx="85">
                  <c:v>9.47</c:v>
                </c:pt>
                <c:pt idx="86">
                  <c:v>9.88</c:v>
                </c:pt>
                <c:pt idx="87">
                  <c:v>7.97</c:v>
                </c:pt>
                <c:pt idx="88">
                  <c:v>-0.12</c:v>
                </c:pt>
                <c:pt idx="89">
                  <c:v>-4.98</c:v>
                </c:pt>
                <c:pt idx="90">
                  <c:v>-3.45</c:v>
                </c:pt>
                <c:pt idx="91">
                  <c:v>-3.7</c:v>
                </c:pt>
                <c:pt idx="92">
                  <c:v>1.75</c:v>
                </c:pt>
                <c:pt idx="93">
                  <c:v>7.18</c:v>
                </c:pt>
                <c:pt idx="94">
                  <c:v>15.08</c:v>
                </c:pt>
                <c:pt idx="95">
                  <c:v>18.38</c:v>
                </c:pt>
                <c:pt idx="96">
                  <c:v>19.6</c:v>
                </c:pt>
                <c:pt idx="97">
                  <c:v>17.18</c:v>
                </c:pt>
                <c:pt idx="98">
                  <c:v>14.31</c:v>
                </c:pt>
                <c:pt idx="99">
                  <c:v>9.39</c:v>
                </c:pt>
                <c:pt idx="100">
                  <c:v>9.06</c:v>
                </c:pt>
                <c:pt idx="101">
                  <c:v>6.03</c:v>
                </c:pt>
                <c:pt idx="102">
                  <c:v>5.69</c:v>
                </c:pt>
                <c:pt idx="103">
                  <c:v>11.13</c:v>
                </c:pt>
                <c:pt idx="104">
                  <c:v>20.98</c:v>
                </c:pt>
                <c:pt idx="105">
                  <c:v>25.78</c:v>
                </c:pt>
                <c:pt idx="106">
                  <c:v>28.45</c:v>
                </c:pt>
                <c:pt idx="107">
                  <c:v>25.57</c:v>
                </c:pt>
                <c:pt idx="108">
                  <c:v>20.92</c:v>
                </c:pt>
                <c:pt idx="109">
                  <c:v>13.56</c:v>
                </c:pt>
                <c:pt idx="110">
                  <c:v>5.86</c:v>
                </c:pt>
                <c:pt idx="111">
                  <c:v>5.3</c:v>
                </c:pt>
                <c:pt idx="112">
                  <c:v>11.23</c:v>
                </c:pt>
                <c:pt idx="113">
                  <c:v>12.96</c:v>
                </c:pt>
                <c:pt idx="114">
                  <c:v>15.99</c:v>
                </c:pt>
                <c:pt idx="115">
                  <c:v>21.92</c:v>
                </c:pt>
                <c:pt idx="116">
                  <c:v>24.55</c:v>
                </c:pt>
                <c:pt idx="117">
                  <c:v>23.99</c:v>
                </c:pt>
                <c:pt idx="118">
                  <c:v>20.36</c:v>
                </c:pt>
                <c:pt idx="119">
                  <c:v>10.21</c:v>
                </c:pt>
                <c:pt idx="120">
                  <c:v>5.79</c:v>
                </c:pt>
                <c:pt idx="121">
                  <c:v>4.94</c:v>
                </c:pt>
                <c:pt idx="122">
                  <c:v>-1.77</c:v>
                </c:pt>
                <c:pt idx="123">
                  <c:v>2.29</c:v>
                </c:pt>
                <c:pt idx="124">
                  <c:v>6.4</c:v>
                </c:pt>
                <c:pt idx="125">
                  <c:v>12.39</c:v>
                </c:pt>
                <c:pt idx="126">
                  <c:v>18.73</c:v>
                </c:pt>
                <c:pt idx="127">
                  <c:v>15.25</c:v>
                </c:pt>
                <c:pt idx="128">
                  <c:v>11.07</c:v>
                </c:pt>
                <c:pt idx="129">
                  <c:v>6.87</c:v>
                </c:pt>
                <c:pt idx="130">
                  <c:v>-3.83</c:v>
                </c:pt>
                <c:pt idx="131">
                  <c:v>-11.2</c:v>
                </c:pt>
                <c:pt idx="132">
                  <c:v>-10.62</c:v>
                </c:pt>
                <c:pt idx="133">
                  <c:v>-9.48</c:v>
                </c:pt>
                <c:pt idx="134">
                  <c:v>-8.28</c:v>
                </c:pt>
                <c:pt idx="135">
                  <c:v>-2.44</c:v>
                </c:pt>
                <c:pt idx="136">
                  <c:v>1.6</c:v>
                </c:pt>
                <c:pt idx="137">
                  <c:v>1.69</c:v>
                </c:pt>
                <c:pt idx="138">
                  <c:v>0.25</c:v>
                </c:pt>
                <c:pt idx="139">
                  <c:v>-7.04</c:v>
                </c:pt>
                <c:pt idx="140">
                  <c:v>-13.79</c:v>
                </c:pt>
                <c:pt idx="141">
                  <c:v>-23.46</c:v>
                </c:pt>
                <c:pt idx="142">
                  <c:v>-21.17</c:v>
                </c:pt>
                <c:pt idx="143">
                  <c:v>-20.79</c:v>
                </c:pt>
                <c:pt idx="144">
                  <c:v>-21.76</c:v>
                </c:pt>
                <c:pt idx="145">
                  <c:v>-18.63</c:v>
                </c:pt>
                <c:pt idx="146">
                  <c:v>-6.86</c:v>
                </c:pt>
                <c:pt idx="147">
                  <c:v>-3.81</c:v>
                </c:pt>
                <c:pt idx="148">
                  <c:v>-5.77</c:v>
                </c:pt>
                <c:pt idx="149">
                  <c:v>-15.8</c:v>
                </c:pt>
                <c:pt idx="150">
                  <c:v>-16.66</c:v>
                </c:pt>
                <c:pt idx="151">
                  <c:v>-25.65</c:v>
                </c:pt>
                <c:pt idx="152">
                  <c:v>-28.32</c:v>
                </c:pt>
                <c:pt idx="153">
                  <c:v>-29.16</c:v>
                </c:pt>
                <c:pt idx="154">
                  <c:v>-25.92</c:v>
                </c:pt>
                <c:pt idx="155">
                  <c:v>-16.45</c:v>
                </c:pt>
                <c:pt idx="156">
                  <c:v>-15.48</c:v>
                </c:pt>
                <c:pt idx="157">
                  <c:v>-8.29</c:v>
                </c:pt>
                <c:pt idx="158">
                  <c:v>-5.6</c:v>
                </c:pt>
                <c:pt idx="159">
                  <c:v>-8.39</c:v>
                </c:pt>
                <c:pt idx="160">
                  <c:v>-12.56</c:v>
                </c:pt>
                <c:pt idx="161">
                  <c:v>-19.37</c:v>
                </c:pt>
                <c:pt idx="162">
                  <c:v>-21.87</c:v>
                </c:pt>
                <c:pt idx="163">
                  <c:v>-24.14</c:v>
                </c:pt>
                <c:pt idx="164">
                  <c:v>-20.16</c:v>
                </c:pt>
                <c:pt idx="165">
                  <c:v>-12.68</c:v>
                </c:pt>
                <c:pt idx="166">
                  <c:v>-5.99</c:v>
                </c:pt>
                <c:pt idx="167">
                  <c:v>-2.44</c:v>
                </c:pt>
                <c:pt idx="168">
                  <c:v>1.45</c:v>
                </c:pt>
                <c:pt idx="169">
                  <c:v>5.24</c:v>
                </c:pt>
                <c:pt idx="170">
                  <c:v>4.03</c:v>
                </c:pt>
                <c:pt idx="171">
                  <c:v>-5.77</c:v>
                </c:pt>
                <c:pt idx="172">
                  <c:v>-9.87</c:v>
                </c:pt>
                <c:pt idx="173">
                  <c:v>-7.01</c:v>
                </c:pt>
                <c:pt idx="174">
                  <c:v>-8.9</c:v>
                </c:pt>
                <c:pt idx="175">
                  <c:v>-2.5</c:v>
                </c:pt>
                <c:pt idx="176">
                  <c:v>3.85</c:v>
                </c:pt>
                <c:pt idx="177">
                  <c:v>14.37</c:v>
                </c:pt>
                <c:pt idx="178">
                  <c:v>13.17</c:v>
                </c:pt>
                <c:pt idx="179">
                  <c:v>16.27</c:v>
                </c:pt>
                <c:pt idx="180">
                  <c:v>15.86</c:v>
                </c:pt>
                <c:pt idx="181">
                  <c:v>10.21</c:v>
                </c:pt>
                <c:pt idx="182">
                  <c:v>1.58</c:v>
                </c:pt>
                <c:pt idx="183">
                  <c:v>6.24</c:v>
                </c:pt>
                <c:pt idx="184">
                  <c:v>1.18</c:v>
                </c:pt>
                <c:pt idx="185">
                  <c:v>6.62</c:v>
                </c:pt>
                <c:pt idx="186">
                  <c:v>8.74</c:v>
                </c:pt>
                <c:pt idx="187">
                  <c:v>18.33</c:v>
                </c:pt>
                <c:pt idx="188">
                  <c:v>22.18</c:v>
                </c:pt>
                <c:pt idx="189">
                  <c:v>27.11</c:v>
                </c:pt>
                <c:pt idx="190">
                  <c:v>24.47</c:v>
                </c:pt>
                <c:pt idx="191">
                  <c:v>23.28</c:v>
                </c:pt>
                <c:pt idx="192">
                  <c:v>18.16</c:v>
                </c:pt>
                <c:pt idx="193">
                  <c:v>13.6</c:v>
                </c:pt>
                <c:pt idx="194">
                  <c:v>8.03</c:v>
                </c:pt>
                <c:pt idx="195">
                  <c:v>9.39</c:v>
                </c:pt>
                <c:pt idx="196">
                  <c:v>12.91</c:v>
                </c:pt>
                <c:pt idx="197">
                  <c:v>17.24</c:v>
                </c:pt>
                <c:pt idx="198">
                  <c:v>21.68</c:v>
                </c:pt>
                <c:pt idx="199">
                  <c:v>27.04</c:v>
                </c:pt>
                <c:pt idx="200">
                  <c:v>23.78</c:v>
                </c:pt>
                <c:pt idx="201">
                  <c:v>25.55</c:v>
                </c:pt>
                <c:pt idx="202">
                  <c:v>15.11</c:v>
                </c:pt>
                <c:pt idx="203">
                  <c:v>12.94</c:v>
                </c:pt>
                <c:pt idx="204">
                  <c:v>6.86</c:v>
                </c:pt>
                <c:pt idx="205">
                  <c:v>4.68</c:v>
                </c:pt>
                <c:pt idx="206">
                  <c:v>3.78</c:v>
                </c:pt>
                <c:pt idx="207">
                  <c:v>10.04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spectrum</c:v>
                </c:pt>
              </c:strCache>
            </c:strRef>
          </c:tx>
          <c:spPr>
            <a:solidFill>
              <a:srgbClr val="8B5CF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Sheet1!$A$2:$A$49</c:f>
              <c:multiLvlStrCache>
                <c:ptCount val="48"/>
                <c:lvl>
                  <c:pt idx="0">
                    <c:v>0.25</c:v>
                  </c:pt>
                  <c:pt idx="1">
                    <c:v>0.5</c:v>
                  </c:pt>
                  <c:pt idx="2">
                    <c:v>0.75</c:v>
                  </c:pt>
                  <c:pt idx="3">
                    <c:v>1</c:v>
                  </c:pt>
                  <c:pt idx="4">
                    <c:v>1.25</c:v>
                  </c:pt>
                  <c:pt idx="5">
                    <c:v>1.5</c:v>
                  </c:pt>
                  <c:pt idx="6">
                    <c:v>1.75</c:v>
                  </c:pt>
                  <c:pt idx="7">
                    <c:v>2</c:v>
                  </c:pt>
                  <c:pt idx="8">
                    <c:v>2.25</c:v>
                  </c:pt>
                  <c:pt idx="9">
                    <c:v>2.5</c:v>
                  </c:pt>
                  <c:pt idx="10">
                    <c:v>2.75</c:v>
                  </c:pt>
                  <c:pt idx="11">
                    <c:v>3</c:v>
                  </c:pt>
                  <c:pt idx="12">
                    <c:v>3.25</c:v>
                  </c:pt>
                  <c:pt idx="13">
                    <c:v>3.5</c:v>
                  </c:pt>
                  <c:pt idx="14">
                    <c:v>3.75</c:v>
                  </c:pt>
                  <c:pt idx="15">
                    <c:v>4</c:v>
                  </c:pt>
                  <c:pt idx="16">
                    <c:v>4.25</c:v>
                  </c:pt>
                  <c:pt idx="17">
                    <c:v>4.5</c:v>
                  </c:pt>
                  <c:pt idx="18">
                    <c:v>4.75</c:v>
                  </c:pt>
                  <c:pt idx="19">
                    <c:v>5</c:v>
                  </c:pt>
                  <c:pt idx="20">
                    <c:v>5.25</c:v>
                  </c:pt>
                  <c:pt idx="21">
                    <c:v>5.5</c:v>
                  </c:pt>
                  <c:pt idx="22">
                    <c:v>5.75</c:v>
                  </c:pt>
                  <c:pt idx="23">
                    <c:v>6</c:v>
                  </c:pt>
                  <c:pt idx="24">
                    <c:v>6.25</c:v>
                  </c:pt>
                  <c:pt idx="25">
                    <c:v>6.5</c:v>
                  </c:pt>
                  <c:pt idx="26">
                    <c:v>6.75</c:v>
                  </c:pt>
                  <c:pt idx="27">
                    <c:v>7</c:v>
                  </c:pt>
                  <c:pt idx="28">
                    <c:v>7.25</c:v>
                  </c:pt>
                  <c:pt idx="29">
                    <c:v>7.5</c:v>
                  </c:pt>
                  <c:pt idx="30">
                    <c:v>7.75</c:v>
                  </c:pt>
                  <c:pt idx="31">
                    <c:v>8</c:v>
                  </c:pt>
                  <c:pt idx="32">
                    <c:v>8.25</c:v>
                  </c:pt>
                  <c:pt idx="33">
                    <c:v>8.5</c:v>
                  </c:pt>
                  <c:pt idx="34">
                    <c:v>8.75</c:v>
                  </c:pt>
                  <c:pt idx="35">
                    <c:v>9</c:v>
                  </c:pt>
                  <c:pt idx="36">
                    <c:v>9.25</c:v>
                  </c:pt>
                  <c:pt idx="37">
                    <c:v>9.5</c:v>
                  </c:pt>
                  <c:pt idx="38">
                    <c:v>9.75</c:v>
                  </c:pt>
                  <c:pt idx="39">
                    <c:v>10</c:v>
                  </c:pt>
                  <c:pt idx="40">
                    <c:v>10.25</c:v>
                  </c:pt>
                  <c:pt idx="41">
                    <c:v>10.5</c:v>
                  </c:pt>
                  <c:pt idx="42">
                    <c:v>10.75</c:v>
                  </c:pt>
                  <c:pt idx="43">
                    <c:v>11</c:v>
                  </c:pt>
                  <c:pt idx="44">
                    <c:v>11.25</c:v>
                  </c:pt>
                  <c:pt idx="45">
                    <c:v>11.5</c:v>
                  </c:pt>
                  <c:pt idx="46">
                    <c:v>11.75</c:v>
                  </c:pt>
                  <c:pt idx="47">
                    <c:v>12</c:v>
                  </c:pt>
                </c:lvl>
              </c:multiLvlStrCache>
            </c:multiLvlStrRef>
          </c:cat>
          <c:val>
            <c:numRef>
              <c:f>Sheet1!$B$2:$B$49</c:f>
              <c:numCache>
                <c:formatCode>General</c:formatCode>
                <c:ptCount val="48"/>
                <c:pt idx="0">
                  <c:v>27</c:v>
                </c:pt>
                <c:pt idx="1">
                  <c:v>100</c:v>
                </c:pt>
                <c:pt idx="2">
                  <c:v>86.6</c:v>
                </c:pt>
                <c:pt idx="3">
                  <c:v>11.4</c:v>
                </c:pt>
                <c:pt idx="4">
                  <c:v>5.2</c:v>
                </c:pt>
                <c:pt idx="5">
                  <c:v>2.5</c:v>
                </c:pt>
                <c:pt idx="6">
                  <c:v>1.2</c:v>
                </c:pt>
                <c:pt idx="7">
                  <c:v>0.8</c:v>
                </c:pt>
                <c:pt idx="8">
                  <c:v>1</c:v>
                </c:pt>
                <c:pt idx="9">
                  <c:v>1.1</c:v>
                </c:pt>
                <c:pt idx="10">
                  <c:v>1.4</c:v>
                </c:pt>
                <c:pt idx="11">
                  <c:v>1.8</c:v>
                </c:pt>
                <c:pt idx="12">
                  <c:v>0.9</c:v>
                </c:pt>
                <c:pt idx="13">
                  <c:v>0.4</c:v>
                </c:pt>
                <c:pt idx="14">
                  <c:v>0.5</c:v>
                </c:pt>
                <c:pt idx="15">
                  <c:v>0.8</c:v>
                </c:pt>
                <c:pt idx="16">
                  <c:v>1.4</c:v>
                </c:pt>
                <c:pt idx="17">
                  <c:v>1.4</c:v>
                </c:pt>
                <c:pt idx="18">
                  <c:v>30.4</c:v>
                </c:pt>
                <c:pt idx="19">
                  <c:v>62.8</c:v>
                </c:pt>
                <c:pt idx="20">
                  <c:v>31.7</c:v>
                </c:pt>
                <c:pt idx="21">
                  <c:v>1.4</c:v>
                </c:pt>
                <c:pt idx="22">
                  <c:v>1.4</c:v>
                </c:pt>
                <c:pt idx="23">
                  <c:v>0.7</c:v>
                </c:pt>
                <c:pt idx="24">
                  <c:v>1.3</c:v>
                </c:pt>
                <c:pt idx="25">
                  <c:v>0.2</c:v>
                </c:pt>
                <c:pt idx="26">
                  <c:v>0.7</c:v>
                </c:pt>
                <c:pt idx="27">
                  <c:v>0.8</c:v>
                </c:pt>
                <c:pt idx="28">
                  <c:v>1.4</c:v>
                </c:pt>
                <c:pt idx="29">
                  <c:v>1</c:v>
                </c:pt>
                <c:pt idx="30">
                  <c:v>0.9</c:v>
                </c:pt>
                <c:pt idx="31">
                  <c:v>2.2</c:v>
                </c:pt>
                <c:pt idx="32">
                  <c:v>1.3</c:v>
                </c:pt>
                <c:pt idx="33">
                  <c:v>1.3</c:v>
                </c:pt>
                <c:pt idx="34">
                  <c:v>1.6</c:v>
                </c:pt>
                <c:pt idx="35">
                  <c:v>0.8</c:v>
                </c:pt>
                <c:pt idx="36">
                  <c:v>0.6</c:v>
                </c:pt>
                <c:pt idx="37">
                  <c:v>0.9</c:v>
                </c:pt>
                <c:pt idx="38">
                  <c:v>1.7</c:v>
                </c:pt>
                <c:pt idx="39">
                  <c:v>1.8</c:v>
                </c:pt>
                <c:pt idx="40">
                  <c:v>0.8</c:v>
                </c:pt>
                <c:pt idx="41">
                  <c:v>1.7</c:v>
                </c:pt>
                <c:pt idx="42">
                  <c:v>1.7</c:v>
                </c:pt>
                <c:pt idx="43">
                  <c:v>1.6</c:v>
                </c:pt>
                <c:pt idx="44">
                  <c:v>2.1</c:v>
                </c:pt>
                <c:pt idx="45">
                  <c:v>1.9</c:v>
                </c:pt>
                <c:pt idx="46">
                  <c:v>2.5</c:v>
                </c:pt>
                <c:pt idx="47">
                  <c:v>1.9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CBD5E1"/>
                </a:solidFill>
                <a:latin typeface="+mn-lt"/>
              </a:defRPr>
            </a:pPr>
            <a:r>
              <a:rPr sz="1100" b="0" i="0" u="none" strike="noStrike">
                <a:solidFill>
                  <a:srgbClr val="CBD5E1"/>
                </a:solidFill>
                <a:latin typeface="+mn-lt"/>
              </a:rPr>
              <a:t>TremoSense unit cost by scenario (₹)</a:t>
            </a:r>
          </a:p>
        </c:rich>
      </c:tx>
      <c:layout/>
      <c:overlay val="0"/>
    </c:title>
    <c:autoTitleDeleted val="0"/>
    <c:plotArea>
      <c:layout/>
      <c:barChart>
        <c:barDir val="col"/>
        <c:grouping val="stacked"/>
        <c:varyColors val="0"/>
        <c:ser>
          <c:idx val="0"/>
          <c:order val="0"/>
          <c:tx>
            <c:strRef>
              <c:f>Sheet1!$B$1</c:f>
              <c:strCache>
                <c:ptCount val="1"/>
                <c:pt idx="0">
                  <c:v>Electronics (MCU, servos, power)</c:v>
                </c:pt>
              </c:strCache>
            </c:strRef>
          </c:tx>
          <c:spPr>
            <a:solidFill>
              <a:srgbClr val="3B82F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A · prototype</c:v>
                  </c:pt>
                  <c:pt idx="1">
                    <c:v>B · small batch</c:v>
                  </c:pt>
                  <c:pt idx="2">
                    <c:v>C · scaled (target)</c:v>
                  </c:pt>
                </c:lvl>
              </c:multiLvlStrCache>
            </c:multiLvlStrRef>
          </c:cat>
          <c:val>
            <c:numRef>
              <c:f>Sheet1!$B$2:$B$4</c:f>
              <c:numCache>
                <c:formatCode>General</c:formatCode>
                <c:ptCount val="3"/>
                <c:pt idx="0">
                  <c:v>3692</c:v>
                </c:pt>
                <c:pt idx="1">
                  <c:v>3200</c:v>
                </c:pt>
                <c:pt idx="2">
                  <c:v>1400</c:v>
                </c:pt>
              </c:numCache>
            </c:numRef>
          </c:val>
        </c:ser>
        <c:ser>
          <c:idx val="1"/>
          <c:order val="1"/>
          <c:tx>
            <c:strRef>
              <c:f>Sheet1!$C$1</c:f>
              <c:strCache>
                <c:ptCount val="1"/>
                <c:pt idx="0">
                  <c:v>PCB / interconnect</c:v>
                </c:pt>
              </c:strCache>
            </c:strRef>
          </c:tx>
          <c:spPr>
            <a:solidFill>
              <a:srgbClr val="06B6D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A · prototype</c:v>
                  </c:pt>
                  <c:pt idx="1">
                    <c:v>B · small batch</c:v>
                  </c:pt>
                  <c:pt idx="2">
                    <c:v>C · scaled (target)</c:v>
                  </c:pt>
                </c:lvl>
              </c:multiLvlStrCache>
            </c:multiLvlStrRef>
          </c:cat>
          <c:val>
            <c:numRef>
              <c:f>Sheet1!$C$2:$C$4</c:f>
              <c:numCache>
                <c:formatCode>General</c:formatCode>
                <c:ptCount val="3"/>
                <c:pt idx="0">
                  <c:v>120</c:v>
                </c:pt>
                <c:pt idx="1">
                  <c:v>280</c:v>
                </c:pt>
                <c:pt idx="2">
                  <c:v>550</c:v>
                </c:pt>
              </c:numCache>
            </c:numRef>
          </c:val>
        </c:ser>
        <c:ser>
          <c:idx val="2"/>
          <c:order val="2"/>
          <c:tx>
            <c:strRef>
              <c:f>Sheet1!$D$1</c:f>
              <c:strCache>
                <c:ptCount val="1"/>
                <c:pt idx="0">
                  <c:v>Enclosure &amp; spoon</c:v>
                </c:pt>
              </c:strCache>
            </c:strRef>
          </c:tx>
          <c:spPr>
            <a:solidFill>
              <a:srgbClr val="8B5CF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A · prototype</c:v>
                  </c:pt>
                  <c:pt idx="1">
                    <c:v>B · small batch</c:v>
                  </c:pt>
                  <c:pt idx="2">
                    <c:v>C · scaled (target)</c:v>
                  </c:pt>
                </c:lvl>
              </c:multiLvlStrCache>
            </c:multiLvlStrRef>
          </c:cat>
          <c:val>
            <c:numRef>
              <c:f>Sheet1!$D$2:$D$4</c:f>
              <c:numCache>
                <c:formatCode>General</c:formatCode>
                <c:ptCount val="3"/>
                <c:pt idx="0">
                  <c:v>250</c:v>
                </c:pt>
                <c:pt idx="1">
                  <c:v>600</c:v>
                </c:pt>
                <c:pt idx="2">
                  <c:v>350</c:v>
                </c:pt>
              </c:numCache>
            </c:numRef>
          </c:val>
        </c:ser>
        <c:ser>
          <c:idx val="3"/>
          <c:order val="3"/>
          <c:tx>
            <c:strRef>
              <c:f>Sheet1!$E$1</c:f>
              <c:strCache>
                <c:ptCount val="1"/>
                <c:pt idx="0">
                  <c:v>Assembly &amp; QC</c:v>
                </c:pt>
              </c:strCache>
            </c:strRef>
          </c:tx>
          <c:spPr>
            <a:solidFill>
              <a:srgbClr val="64748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A · prototype</c:v>
                  </c:pt>
                  <c:pt idx="1">
                    <c:v>B · small batch</c:v>
                  </c:pt>
                  <c:pt idx="2">
                    <c:v>C · scaled (target)</c:v>
                  </c:pt>
                </c:lvl>
              </c:multiLvlStrCache>
            </c:multiLvlStrRef>
          </c:cat>
          <c:val>
            <c:numRef>
              <c:f>Sheet1!$E$2:$E$4</c:f>
              <c:numCache>
                <c:formatCode>General</c:formatCode>
                <c:ptCount val="3"/>
                <c:pt idx="0">
                  <c:v>650</c:v>
                </c:pt>
                <c:pt idx="1">
                  <c:v>600</c:v>
                </c:pt>
                <c:pt idx="2">
                  <c:v>320</c:v>
                </c:pt>
              </c:numCache>
            </c:numRef>
          </c:val>
        </c:ser>
        <c:ser>
          <c:idx val="4"/>
          <c:order val="4"/>
          <c:tx>
            <c:strRef>
              <c:f>Sheet1!$F$1</c:f>
              <c:strCache>
                <c:ptCount val="1"/>
                <c:pt idx="0">
                  <c:v>Packaging</c:v>
                </c:pt>
              </c:strCache>
            </c:strRef>
          </c:tx>
          <c:spPr>
            <a:solidFill>
              <a:srgbClr val="CBD5E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A · prototype</c:v>
                  </c:pt>
                  <c:pt idx="1">
                    <c:v>B · small batch</c:v>
                  </c:pt>
                  <c:pt idx="2">
                    <c:v>C · scaled (target)</c:v>
                  </c:pt>
                </c:lvl>
              </c:multiLvlStrCache>
            </c:multiLvlStrRef>
          </c:cat>
          <c:val>
            <c:numRef>
              <c:f>Sheet1!$F$2:$F$4</c:f>
              <c:numCache>
                <c:formatCode>General</c:formatCode>
                <c:ptCount val="3"/>
                <c:pt idx="0">
                  <c:v>150</c:v>
                </c:pt>
                <c:pt idx="1">
                  <c:v>150</c:v>
                </c:pt>
                <c:pt idx="2">
                  <c:v>100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CBD5E1"/>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B3A5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4A3B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CBD5E1"/>
                </a:solidFill>
                <a:latin typeface="+mn-lt"/>
              </a:defRPr>
            </a:pPr>
            <a:r>
              <a:rPr sz="1100" b="0" i="0" u="none" strike="noStrike">
                <a:solidFill>
                  <a:srgbClr val="CBD5E1"/>
                </a:solidFill>
                <a:latin typeface="+mn-lt"/>
              </a:rPr>
              <a:t>36 months from July 2027: cash costs, cash in and monthly operating profit (₹ lakh)</a:t>
            </a:r>
          </a:p>
        </c:rich>
      </c:tx>
      <c:layout/>
      <c:overlay val="0"/>
    </c:title>
    <c:autoTitleDeleted val="0"/>
    <c:plotArea>
      <c:layout/>
      <c:barChart>
        <c:barDir val="col"/>
        <c:grouping val="clustered"/>
        <c:varyColors val="0"/>
        <c:ser>
          <c:idx val="0"/>
          <c:order val="0"/>
          <c:tx>
            <c:strRef>
              <c:f>Sheet1!$B$1</c:f>
              <c:strCache>
                <c:ptCount val="1"/>
                <c:pt idx="0">
                  <c:v>Cash costs (₹ L)</c:v>
                </c:pt>
              </c:strCache>
            </c:strRef>
          </c:tx>
          <c:spPr>
            <a:solidFill>
              <a:srgbClr val="8B5CF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Sheet1!$A$2:$A$37</c:f>
              <c:multiLvlStrCache>
                <c:ptCount val="36"/>
                <c:lvl>
                  <c:pt idx="0">
                    <c:v>M1</c:v>
                  </c:pt>
                  <c:pt idx="1">
                    <c:v>M2</c:v>
                  </c:pt>
                  <c:pt idx="2">
                    <c:v>M3</c:v>
                  </c:pt>
                  <c:pt idx="3">
                    <c:v>M4</c:v>
                  </c:pt>
                  <c:pt idx="4">
                    <c:v>M5</c:v>
                  </c:pt>
                  <c:pt idx="5">
                    <c:v>M6</c:v>
                  </c:pt>
                  <c:pt idx="6">
                    <c:v>M7</c:v>
                  </c:pt>
                  <c:pt idx="7">
                    <c:v>M8</c:v>
                  </c:pt>
                  <c:pt idx="8">
                    <c:v>M9</c:v>
                  </c:pt>
                  <c:pt idx="9">
                    <c:v>M10</c:v>
                  </c:pt>
                  <c:pt idx="10">
                    <c:v>M11</c:v>
                  </c:pt>
                  <c:pt idx="11">
                    <c:v>M12</c:v>
                  </c:pt>
                  <c:pt idx="12">
                    <c:v>M13</c:v>
                  </c:pt>
                  <c:pt idx="13">
                    <c:v>M14</c:v>
                  </c:pt>
                  <c:pt idx="14">
                    <c:v>M15</c:v>
                  </c:pt>
                  <c:pt idx="15">
                    <c:v>M16</c:v>
                  </c:pt>
                  <c:pt idx="16">
                    <c:v>M17</c:v>
                  </c:pt>
                  <c:pt idx="17">
                    <c:v>M18</c:v>
                  </c:pt>
                  <c:pt idx="18">
                    <c:v>M19</c:v>
                  </c:pt>
                  <c:pt idx="19">
                    <c:v>M20</c:v>
                  </c:pt>
                  <c:pt idx="20">
                    <c:v>M21</c:v>
                  </c:pt>
                  <c:pt idx="21">
                    <c:v>M22</c:v>
                  </c:pt>
                  <c:pt idx="22">
                    <c:v>M23</c:v>
                  </c:pt>
                  <c:pt idx="23">
                    <c:v>M24</c:v>
                  </c:pt>
                  <c:pt idx="24">
                    <c:v>M25</c:v>
                  </c:pt>
                  <c:pt idx="25">
                    <c:v>M26</c:v>
                  </c:pt>
                  <c:pt idx="26">
                    <c:v>M27</c:v>
                  </c:pt>
                  <c:pt idx="27">
                    <c:v>M28</c:v>
                  </c:pt>
                  <c:pt idx="28">
                    <c:v>M29</c:v>
                  </c:pt>
                  <c:pt idx="29">
                    <c:v>M30</c:v>
                  </c:pt>
                  <c:pt idx="30">
                    <c:v>M31</c:v>
                  </c:pt>
                  <c:pt idx="31">
                    <c:v>M32</c:v>
                  </c:pt>
                  <c:pt idx="32">
                    <c:v>M33</c:v>
                  </c:pt>
                  <c:pt idx="33">
                    <c:v>M34</c:v>
                  </c:pt>
                  <c:pt idx="34">
                    <c:v>M35</c:v>
                  </c:pt>
                  <c:pt idx="35">
                    <c:v>M36</c:v>
                  </c:pt>
                </c:lvl>
              </c:multiLvlStrCache>
            </c:multiLvlStrRef>
          </c:cat>
          <c:val>
            <c:numRef>
              <c:f>Sheet1!$B$2:$B$37</c:f>
              <c:numCache>
                <c:formatCode>General</c:formatCode>
                <c:ptCount val="36"/>
                <c:pt idx="0">
                  <c:v>1.46</c:v>
                </c:pt>
                <c:pt idx="1">
                  <c:v>1.93</c:v>
                </c:pt>
                <c:pt idx="2">
                  <c:v>1.47</c:v>
                </c:pt>
                <c:pt idx="3">
                  <c:v>1.59</c:v>
                </c:pt>
                <c:pt idx="4">
                  <c:v>1.16</c:v>
                </c:pt>
                <c:pt idx="5">
                  <c:v>1.16</c:v>
                </c:pt>
                <c:pt idx="6">
                  <c:v>3.41</c:v>
                </c:pt>
                <c:pt idx="7">
                  <c:v>2.48</c:v>
                </c:pt>
                <c:pt idx="8">
                  <c:v>4.84</c:v>
                </c:pt>
                <c:pt idx="9">
                  <c:v>5.03</c:v>
                </c:pt>
                <c:pt idx="10">
                  <c:v>7.29</c:v>
                </c:pt>
                <c:pt idx="11">
                  <c:v>3.38</c:v>
                </c:pt>
                <c:pt idx="12">
                  <c:v>2.48</c:v>
                </c:pt>
                <c:pt idx="13">
                  <c:v>2.67</c:v>
                </c:pt>
                <c:pt idx="14">
                  <c:v>5.13</c:v>
                </c:pt>
                <c:pt idx="15">
                  <c:v>5.33</c:v>
                </c:pt>
                <c:pt idx="16">
                  <c:v>5.13</c:v>
                </c:pt>
                <c:pt idx="17">
                  <c:v>13.03</c:v>
                </c:pt>
                <c:pt idx="18">
                  <c:v>5.73</c:v>
                </c:pt>
                <c:pt idx="19">
                  <c:v>5.88</c:v>
                </c:pt>
                <c:pt idx="20">
                  <c:v>6.03</c:v>
                </c:pt>
                <c:pt idx="21">
                  <c:v>6.62</c:v>
                </c:pt>
                <c:pt idx="22">
                  <c:v>6.33</c:v>
                </c:pt>
                <c:pt idx="23">
                  <c:v>6.48</c:v>
                </c:pt>
                <c:pt idx="24">
                  <c:v>12.69</c:v>
                </c:pt>
                <c:pt idx="25">
                  <c:v>13.41</c:v>
                </c:pt>
                <c:pt idx="26">
                  <c:v>14.12</c:v>
                </c:pt>
                <c:pt idx="27">
                  <c:v>14.84</c:v>
                </c:pt>
                <c:pt idx="28">
                  <c:v>15.56</c:v>
                </c:pt>
                <c:pt idx="29">
                  <c:v>16.72</c:v>
                </c:pt>
                <c:pt idx="30">
                  <c:v>17</c:v>
                </c:pt>
                <c:pt idx="31">
                  <c:v>17.72</c:v>
                </c:pt>
                <c:pt idx="32">
                  <c:v>18.44</c:v>
                </c:pt>
                <c:pt idx="33">
                  <c:v>19.6</c:v>
                </c:pt>
                <c:pt idx="34">
                  <c:v>19.89</c:v>
                </c:pt>
                <c:pt idx="35">
                  <c:v>20.61</c:v>
                </c:pt>
              </c:numCache>
            </c:numRef>
          </c:val>
        </c:ser>
        <c:ser>
          <c:idx val="1"/>
          <c:order val="1"/>
          <c:tx>
            <c:strRef>
              <c:f>Sheet1!$C$1</c:f>
              <c:strCache>
                <c:ptCount val="1"/>
                <c:pt idx="0">
                  <c:v>Cash in (₹ L)</c:v>
                </c:pt>
              </c:strCache>
            </c:strRef>
          </c:tx>
          <c:spPr>
            <a:solidFill>
              <a:srgbClr val="06B6D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Sheet1!$A$2:$A$37</c:f>
              <c:multiLvlStrCache>
                <c:ptCount val="36"/>
                <c:lvl>
                  <c:pt idx="0">
                    <c:v>M1</c:v>
                  </c:pt>
                  <c:pt idx="1">
                    <c:v>M2</c:v>
                  </c:pt>
                  <c:pt idx="2">
                    <c:v>M3</c:v>
                  </c:pt>
                  <c:pt idx="3">
                    <c:v>M4</c:v>
                  </c:pt>
                  <c:pt idx="4">
                    <c:v>M5</c:v>
                  </c:pt>
                  <c:pt idx="5">
                    <c:v>M6</c:v>
                  </c:pt>
                  <c:pt idx="6">
                    <c:v>M7</c:v>
                  </c:pt>
                  <c:pt idx="7">
                    <c:v>M8</c:v>
                  </c:pt>
                  <c:pt idx="8">
                    <c:v>M9</c:v>
                  </c:pt>
                  <c:pt idx="9">
                    <c:v>M10</c:v>
                  </c:pt>
                  <c:pt idx="10">
                    <c:v>M11</c:v>
                  </c:pt>
                  <c:pt idx="11">
                    <c:v>M12</c:v>
                  </c:pt>
                  <c:pt idx="12">
                    <c:v>M13</c:v>
                  </c:pt>
                  <c:pt idx="13">
                    <c:v>M14</c:v>
                  </c:pt>
                  <c:pt idx="14">
                    <c:v>M15</c:v>
                  </c:pt>
                  <c:pt idx="15">
                    <c:v>M16</c:v>
                  </c:pt>
                  <c:pt idx="16">
                    <c:v>M17</c:v>
                  </c:pt>
                  <c:pt idx="17">
                    <c:v>M18</c:v>
                  </c:pt>
                  <c:pt idx="18">
                    <c:v>M19</c:v>
                  </c:pt>
                  <c:pt idx="19">
                    <c:v>M20</c:v>
                  </c:pt>
                  <c:pt idx="20">
                    <c:v>M21</c:v>
                  </c:pt>
                  <c:pt idx="21">
                    <c:v>M22</c:v>
                  </c:pt>
                  <c:pt idx="22">
                    <c:v>M23</c:v>
                  </c:pt>
                  <c:pt idx="23">
                    <c:v>M24</c:v>
                  </c:pt>
                  <c:pt idx="24">
                    <c:v>M25</c:v>
                  </c:pt>
                  <c:pt idx="25">
                    <c:v>M26</c:v>
                  </c:pt>
                  <c:pt idx="26">
                    <c:v>M27</c:v>
                  </c:pt>
                  <c:pt idx="27">
                    <c:v>M28</c:v>
                  </c:pt>
                  <c:pt idx="28">
                    <c:v>M29</c:v>
                  </c:pt>
                  <c:pt idx="29">
                    <c:v>M30</c:v>
                  </c:pt>
                  <c:pt idx="30">
                    <c:v>M31</c:v>
                  </c:pt>
                  <c:pt idx="31">
                    <c:v>M32</c:v>
                  </c:pt>
                  <c:pt idx="32">
                    <c:v>M33</c:v>
                  </c:pt>
                  <c:pt idx="33">
                    <c:v>M34</c:v>
                  </c:pt>
                  <c:pt idx="34">
                    <c:v>M35</c:v>
                  </c:pt>
                  <c:pt idx="35">
                    <c:v>M36</c:v>
                  </c:pt>
                </c:lvl>
              </c:multiLvlStrCache>
            </c:multiLvlStrRef>
          </c:cat>
          <c:val>
            <c:numRef>
              <c:f>Sheet1!$C$2:$C$37</c:f>
              <c:numCache>
                <c:formatCode>General</c:formatCode>
                <c:ptCount val="36"/>
                <c:pt idx="0">
                  <c:v>0</c:v>
                </c:pt>
                <c:pt idx="1">
                  <c:v>0</c:v>
                </c:pt>
                <c:pt idx="2">
                  <c:v>0</c:v>
                </c:pt>
                <c:pt idx="3">
                  <c:v>0</c:v>
                </c:pt>
                <c:pt idx="4">
                  <c:v>0</c:v>
                </c:pt>
                <c:pt idx="5">
                  <c:v>0</c:v>
                </c:pt>
                <c:pt idx="6">
                  <c:v>0</c:v>
                </c:pt>
                <c:pt idx="7">
                  <c:v>0</c:v>
                </c:pt>
                <c:pt idx="8">
                  <c:v>0</c:v>
                </c:pt>
                <c:pt idx="9">
                  <c:v>0.58</c:v>
                </c:pt>
                <c:pt idx="10">
                  <c:v>0</c:v>
                </c:pt>
                <c:pt idx="11">
                  <c:v>1.69</c:v>
                </c:pt>
                <c:pt idx="12">
                  <c:v>1.84</c:v>
                </c:pt>
                <c:pt idx="13">
                  <c:v>3.16</c:v>
                </c:pt>
                <c:pt idx="14">
                  <c:v>3.68</c:v>
                </c:pt>
                <c:pt idx="15">
                  <c:v>4.27</c:v>
                </c:pt>
                <c:pt idx="16">
                  <c:v>3.68</c:v>
                </c:pt>
                <c:pt idx="17">
                  <c:v>4.27</c:v>
                </c:pt>
                <c:pt idx="18">
                  <c:v>4.55</c:v>
                </c:pt>
                <c:pt idx="19">
                  <c:v>4.88</c:v>
                </c:pt>
                <c:pt idx="20">
                  <c:v>5.21</c:v>
                </c:pt>
                <c:pt idx="21">
                  <c:v>5.54</c:v>
                </c:pt>
                <c:pt idx="22">
                  <c:v>5.87</c:v>
                </c:pt>
                <c:pt idx="23">
                  <c:v>6.2</c:v>
                </c:pt>
                <c:pt idx="24">
                  <c:v>12.52</c:v>
                </c:pt>
                <c:pt idx="25">
                  <c:v>13.45</c:v>
                </c:pt>
                <c:pt idx="26">
                  <c:v>14.38</c:v>
                </c:pt>
                <c:pt idx="27">
                  <c:v>15.31</c:v>
                </c:pt>
                <c:pt idx="28">
                  <c:v>16.25</c:v>
                </c:pt>
                <c:pt idx="29">
                  <c:v>17.2</c:v>
                </c:pt>
                <c:pt idx="30">
                  <c:v>18.14</c:v>
                </c:pt>
                <c:pt idx="31">
                  <c:v>19.09</c:v>
                </c:pt>
                <c:pt idx="32">
                  <c:v>20.05</c:v>
                </c:pt>
                <c:pt idx="33">
                  <c:v>21</c:v>
                </c:pt>
                <c:pt idx="34">
                  <c:v>21.96</c:v>
                </c:pt>
                <c:pt idx="35">
                  <c:v>22.93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0"/>
        <c:overlap val="0"/>
        <c:axId val="2094734554"/>
        <c:axId val="2094734552"/>
        <c:axId val="2094734556"/>
      </c:barChart>
      <c:lineChart>
        <c:varyColors val="0"/>
        <c:ser>
          <c:idx val="2"/>
          <c:order val="2"/>
          <c:tx>
            <c:strRef>
              <c:f>Sheet1!$D$1</c:f>
              <c:strCache>
                <c:ptCount val="1"/>
                <c:pt idx="0">
                  <c:v>Monthly operating profit (₹ L)</c:v>
                </c:pt>
              </c:strCache>
            </c:strRef>
          </c:tx>
          <c:spPr>
            <a:solidFill>
              <a:srgbClr val="FFFFFF"/>
            </a:solidFill>
            <a:ln w="25400"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FFFFF"/>
              </a:solidFill>
              <a:ln w="9525" cap="flat">
                <a:solidFill>
                  <a:srgbClr val="FFFFFF"/>
                </a:solidFill>
                <a:prstDash val="solid"/>
                <a:round/>
              </a:ln>
              <a:effectLst/>
            </c:spPr>
          </c:marker>
          <c:cat>
            <c:multiLvlStrRef>
              <c:f>Sheet1!$A$2:$A$37</c:f>
              <c:multiLvlStrCache>
                <c:ptCount val="36"/>
                <c:lvl>
                  <c:pt idx="0">
                    <c:v>M1</c:v>
                  </c:pt>
                  <c:pt idx="1">
                    <c:v>M2</c:v>
                  </c:pt>
                  <c:pt idx="2">
                    <c:v>M3</c:v>
                  </c:pt>
                  <c:pt idx="3">
                    <c:v>M4</c:v>
                  </c:pt>
                  <c:pt idx="4">
                    <c:v>M5</c:v>
                  </c:pt>
                  <c:pt idx="5">
                    <c:v>M6</c:v>
                  </c:pt>
                  <c:pt idx="6">
                    <c:v>M7</c:v>
                  </c:pt>
                  <c:pt idx="7">
                    <c:v>M8</c:v>
                  </c:pt>
                  <c:pt idx="8">
                    <c:v>M9</c:v>
                  </c:pt>
                  <c:pt idx="9">
                    <c:v>M10</c:v>
                  </c:pt>
                  <c:pt idx="10">
                    <c:v>M11</c:v>
                  </c:pt>
                  <c:pt idx="11">
                    <c:v>M12</c:v>
                  </c:pt>
                  <c:pt idx="12">
                    <c:v>M13</c:v>
                  </c:pt>
                  <c:pt idx="13">
                    <c:v>M14</c:v>
                  </c:pt>
                  <c:pt idx="14">
                    <c:v>M15</c:v>
                  </c:pt>
                  <c:pt idx="15">
                    <c:v>M16</c:v>
                  </c:pt>
                  <c:pt idx="16">
                    <c:v>M17</c:v>
                  </c:pt>
                  <c:pt idx="17">
                    <c:v>M18</c:v>
                  </c:pt>
                  <c:pt idx="18">
                    <c:v>M19</c:v>
                  </c:pt>
                  <c:pt idx="19">
                    <c:v>M20</c:v>
                  </c:pt>
                  <c:pt idx="20">
                    <c:v>M21</c:v>
                  </c:pt>
                  <c:pt idx="21">
                    <c:v>M22</c:v>
                  </c:pt>
                  <c:pt idx="22">
                    <c:v>M23</c:v>
                  </c:pt>
                  <c:pt idx="23">
                    <c:v>M24</c:v>
                  </c:pt>
                  <c:pt idx="24">
                    <c:v>M25</c:v>
                  </c:pt>
                  <c:pt idx="25">
                    <c:v>M26</c:v>
                  </c:pt>
                  <c:pt idx="26">
                    <c:v>M27</c:v>
                  </c:pt>
                  <c:pt idx="27">
                    <c:v>M28</c:v>
                  </c:pt>
                  <c:pt idx="28">
                    <c:v>M29</c:v>
                  </c:pt>
                  <c:pt idx="29">
                    <c:v>M30</c:v>
                  </c:pt>
                  <c:pt idx="30">
                    <c:v>M31</c:v>
                  </c:pt>
                  <c:pt idx="31">
                    <c:v>M32</c:v>
                  </c:pt>
                  <c:pt idx="32">
                    <c:v>M33</c:v>
                  </c:pt>
                  <c:pt idx="33">
                    <c:v>M34</c:v>
                  </c:pt>
                  <c:pt idx="34">
                    <c:v>M35</c:v>
                  </c:pt>
                  <c:pt idx="35">
                    <c:v>M36</c:v>
                  </c:pt>
                </c:lvl>
              </c:multiLvlStrCache>
            </c:multiLvlStrRef>
          </c:cat>
          <c:val>
            <c:numRef>
              <c:f>Sheet1!$D$2:$D$37</c:f>
              <c:numCache>
                <c:formatCode>General</c:formatCode>
                <c:ptCount val="36"/>
                <c:pt idx="0">
                  <c:v>-1.46</c:v>
                </c:pt>
                <c:pt idx="1">
                  <c:v>-1.93</c:v>
                </c:pt>
                <c:pt idx="2">
                  <c:v>-1.47</c:v>
                </c:pt>
                <c:pt idx="3">
                  <c:v>-1.59</c:v>
                </c:pt>
                <c:pt idx="4">
                  <c:v>-1.16</c:v>
                </c:pt>
                <c:pt idx="5">
                  <c:v>-1.16</c:v>
                </c:pt>
                <c:pt idx="6">
                  <c:v>-3.41</c:v>
                </c:pt>
                <c:pt idx="7">
                  <c:v>-2.48</c:v>
                </c:pt>
                <c:pt idx="8">
                  <c:v>-4.84</c:v>
                </c:pt>
                <c:pt idx="9">
                  <c:v>-4.45</c:v>
                </c:pt>
                <c:pt idx="10">
                  <c:v>-7.29</c:v>
                </c:pt>
                <c:pt idx="11">
                  <c:v>-1.7</c:v>
                </c:pt>
                <c:pt idx="12">
                  <c:v>-0.63</c:v>
                </c:pt>
                <c:pt idx="13">
                  <c:v>0.49</c:v>
                </c:pt>
                <c:pt idx="14">
                  <c:v>-1.45</c:v>
                </c:pt>
                <c:pt idx="15">
                  <c:v>-1.06</c:v>
                </c:pt>
                <c:pt idx="16">
                  <c:v>-1.45</c:v>
                </c:pt>
                <c:pt idx="17">
                  <c:v>-8.76</c:v>
                </c:pt>
                <c:pt idx="18">
                  <c:v>-1.18</c:v>
                </c:pt>
                <c:pt idx="19">
                  <c:v>-1</c:v>
                </c:pt>
                <c:pt idx="20">
                  <c:v>-0.82</c:v>
                </c:pt>
                <c:pt idx="21">
                  <c:v>-1.08</c:v>
                </c:pt>
                <c:pt idx="22">
                  <c:v>-0.46</c:v>
                </c:pt>
                <c:pt idx="23">
                  <c:v>-0.28</c:v>
                </c:pt>
                <c:pt idx="24">
                  <c:v>-0.18</c:v>
                </c:pt>
                <c:pt idx="25">
                  <c:v>0.04</c:v>
                </c:pt>
                <c:pt idx="26">
                  <c:v>0.25</c:v>
                </c:pt>
                <c:pt idx="27">
                  <c:v>0.47</c:v>
                </c:pt>
                <c:pt idx="28">
                  <c:v>0.69</c:v>
                </c:pt>
                <c:pt idx="29">
                  <c:v>0.48</c:v>
                </c:pt>
                <c:pt idx="30">
                  <c:v>1.14</c:v>
                </c:pt>
                <c:pt idx="31">
                  <c:v>1.37</c:v>
                </c:pt>
                <c:pt idx="32">
                  <c:v>1.61</c:v>
                </c:pt>
                <c:pt idx="33">
                  <c:v>1.4</c:v>
                </c:pt>
                <c:pt idx="34">
                  <c:v>2.08</c:v>
                </c:pt>
                <c:pt idx="35">
                  <c:v>2.31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94A3B8"/>
                </a:solidFill>
                <a:latin typeface="+mn-lt"/>
              </a:defRPr>
            </a:pPr>
            <a:endParaRPr lang="en-US"/>
          </a:p>
        </c:txPr>
        <c:crossAx val="2094734552"/>
        <c:crosses val="autoZero"/>
        <c:auto val="1"/>
        <c:lblAlgn val="ctr"/>
        <c:noMultiLvlLbl val="1"/>
        <c:tickLblSkip val="3"/>
      </c:catAx>
      <c:valAx>
        <c:axId val="2094734552"/>
        <c:scaling>
          <c:orientation val="minMax"/>
        </c:scaling>
        <c:delete val="0"/>
        <c:axPos val="l"/>
        <c:majorGridlines>
          <c:spPr>
            <a:ln w="6350" cap="flat">
              <a:solidFill>
                <a:srgbClr val="2B3A5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4A3B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CBD5E1"/>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[0:00–0:40 | 40 s] Title
Good morning. I'm Pranshu Kumar, and with my co-founder Pawan Shinde I'm building AVERRA. Our line is: engineering better movement intelligence.
AVERRA is a biomedical technology company. We turn precise movement sensing into products people can use every day, at prices built for India.
We start with two products. ParkinSense measures and helps people understand their movement. TremoSense assists people who already live with tremor.
Over the next eleven minutes I'll show you what we've built, what we've actually tested, what it costs, and exactly what we're asking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[0:40–1:35 | 55 s] Problem &amp; why now
Start with the people. About 4.6 lakh Indians over sixty live with Parkinson's, and roughly 12.8 lakh more have essential tremor, though that second figure comes from a single study.
Two things fail them. Their movement is measured for a few minutes in a clinic, then not at all. And at home, a tremor of four to twelve hertz turns a spoon into a spill.
The customer-discovery quotes on the right are deliberately left as placeholders. We will only present verbatim quotes from real interviews.
Why now? Apple opened a movement API in 2018, and a Parkinson's monitoring app was FDA-cleared in 2022. India made device licensing mandatory in 2023. And our over-sixty population is set to more than double by 2050.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[1:35–2:20 | 45 s] One company, two products
So here is AVERRA: one company with two complementary products.
ParkinSense is a wellness wearable. Activity and vitals come first, and movement intelligence is its edge.
TremoSense is assistive. It physically stabilises a spoon for someone whose tremor gets in the way of eating.
They serve different people and different buying decisions. What they share is real: the same Nordic microcontroller family, the same six-axis IMU, the same signal-processing skills, and the same team. We are not claiming shared revenue or cost savings beyond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[2:20–3:20 | 60 s] ParkinSense
ParkinSense today is a wrist wearable with an IMU and an optical sensor. It streams over BLE at 104 hertz into three pipelines: motion, heart and steps.
Its edge is the shared motion classifier. Tremor isn't counted as steps, and heart rate is trusted less while you move.
Here's the status, honestly. Streaming, steps, tremor scoring and motion context are bench-tested. Heart rate, HRV and SpO2 are implemented but research-grade. The mobile app is in development, and all analysis currently runs on a host, not on the wrist.
A clinical evaluation is in progress with ICMR. The results aren't back yet, so we make no clinical claim today. Longer term, ParkinSense could support research into early movement change in Parkinson's. That path runs through reference assessments, prospective validation and regulatory review. It is not a diagnostic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[3:20–4:15 | 55 s] TremoSense
TremoSense is for people who already have tremor. An IMU in the handle feeds a Kalman filter that estimates roll and pitch. An LQR controller then drives two servos to counter-rotate the spoon head.
On a motorised tremor simulator, our paper reports 77.3 percent average rejection at four, six and eight hertz. Simulation shows over 90 percent on roll and over 80 on pitch.
Our audit found that the public firmware differs from the paper. It uses a simpler two-state filter, different servos, no battery and zeroed tuning constants. So our first technical milestone is to reproduce the paper's result on the current build.
No person with tremor has used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[4:15–5:05 | 50 s] Competition
Competitors, with prices checked this month.
WHOOP costs ₹17,990 a year, a Fitbit Charge 6 about ₹12,999, and an Amazfit Bip 6 ₹8,999. They are excellent at sleep, recovery and battery life. None documents tremor or movement-disorder insight. That's our space, and we have to prove people value it.
For tremor assistance, one GyroGlove costs 5,899 US dollars, about 5.6 lakh rupees, for one hand. Liftware sold for 195 dollars in 2015, and a weighted spoon is cheap but passive.
TremoSense is a spoon, not a glove, and we don't claim it matches either product. The opportunity is an Indian-built active aid priced under 2 percent of one GyroGlove, while being honest that it does far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[5:05–6:05 | 60 s] MVP &amp; validation
What has the MVP proven? Both products work on the bench. TremoSense hasn't been tested with users. ParkinSense is now in a clinical evaluation with ICMR, with results pending. Our bench tests had no preregistered metric, and I want to be upfront about that.
So we've preregistered the next test now. Twelve TremoSense units go to at least ten people with tremor for a self-feeding task. We continue if the median tremor reduction is at least 50 percent and at least 60 percent would pay.
For ParkinSense, the test is dominant-frequency error within 5 percent of a reference, and zero false steps during tremor. The ICMR results will be added the moment they're available.
Our decision is to persevere, and to validate on people before we make any medical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[6:05–6:50 | 45 s] Market
We sized the market bottom-up.
TremoSense: Parkinson's plus essential tremor patients, half with tremor that disrupts eating, about 8.7 lakh people. At the launch price spread over a three-year life, that's ₹275.7 Cr a year.
ParkinSense's beachhead is households living with Parkinson's: ₹141.3 Cr. We have not sized the general wellness market, because we couldn't find a sourced Indian figure.
Filtering to urban patients under neurologist care gives a SAM of ₹51.9 Cr. Our year-three SOM, built from 30 clinics plus online, is about ₹109 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[6:50–7:25 | 35 s] Business model
The business model in brief. Clinicians and occupational therapists bring us patients. Families buy the device.
Revenue comes in three steps. First, research kits for labs, which need no medical claim. Then TremoSense as a one-time sale, with a rental option for those who can't pay upfront. Then ParkinSense, as a device with an optional subscription.
We assume no reimbursement. All revenue is out-of-pocket or institutional.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[7:25–8:25 | 60 s] Pricing &amp; unit economics
Pricing. Today's prototype parts cost about ₹4,062. Two thousand rupees is a volume target for the electronics, not today's cost.
We modelled three cost levels. At a small batch of a hundred, the unit costs ₹4,830. At ₹9,999, after GST, a clinic margin, warranty and shipping, we keep ₹2,538. That's a 31% contribution margin and 40% gross margin, so every unit is profitable from the first sale.
Once supplier quotes and tooling bring cost down to ₹2,720, we cut the price to ₹8,999 and still keep ₹3,886, or 53%. ₹6,999 would still be viable at that cost; we hold it back until the company is profitable.
CAC is about ₹1,079, and LTV to CAC is 3.3. ParkinSense at ₹7,999 reaches 2.0, positive after acquisition cost, though thinner.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[8:25–9:20 | 55 s] Financial forecast
The plan starts in July 2027 and runs three years.
Phase one, the first six months, is about proof: the TremoSense user study, the patent filing and a regulatory opinion. It costs ₹8.8 L.
Phase two launches TremoSense, with first sales in month twelve. In year three we scale the clinic network and launch ParkinSense as a wellness product.
Year-one costs are ₹35.2 L, a gross burn of about ₹2.93 L a month. Year two still loses 17.7 lakh rupees as volume builds.
We reach sustained operating break-even in month 26, August 2029. Year three makes an operating profit of ₹11.7 L on ₹2.1 Cr of cash in, and we exit at about ₹2.3 L profit a month.
Getting there needs ₹60.9 L in total. Phase one alone needs ₹10.5 L, and that number shapes our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[9:20–10:05 | 45 s] Team &amp; growth
The team comes from the evidence. I built ParkinSense and co-authored TremoSense, and I lead the company, the wearables and signal processing. Pawan co-built TremoSense and leads control and hardware. In phase two we hire one test engineer. The equity split will be set in a founders' agreement.
Growth runs through clinics. From a thousand caregivers reached, we target a quarter trying the device and 40 percent of those buying. These are targets, not data.
Three experiments come first: an in-clinic trial-to-purchase test, support-group referrals, and a ParkinSense wellness beta.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[10:05–11:05 | 60 s] Funding ask &amp; valuation
Now the ask, kept separate from the full plan. Year one costs ₹35.2 L and reaching profitability needs ₹60.9 L. Today we raise only for milestone one: ₹10,51,171.
We propose a pre-money valuation of ₹75 L. That's a working target to negotiate, not an established value. Two methods frame it. Cost to duplicate gives a floor of ₹44.75 L: 34 person-months of engineering plus prototypes. A Berkus-style scorecard gives about ₹60 L, credited mainly for two working prototypes. The premium above that reflects two products and a clinical evaluation already under way.
At ₹75 L, post-money is P plus I: ₹85,51,171. The investor owns I over post-money, 12.3%. After a 5 percent ESOP pool, the founders keep 82.7%. Even at the floor, the investor would own 19.0%.
The Startup India grant is applied for, not awarded, and the next round is priced on the user-study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[11:05–11:55 | 50 s] Milestones, risks &amp; close
Here's what the money buys. The patent is filed in month two, study units are built in month three, and in month six the user study decides kill or continue. If we continue, we move through EMC testing and the CDSCO filing to first sales in month twelve, and to break-even in month 26.
The biggest risk is clinical. If the median tremor reduction falls below 30 percent, we stop TremoSense and put everything into ParkinSense. If it works but people won't pay, we pivot to clinic rental.
AVERRA: engineering better movement intelligence. We're asking for ₹10.5 L at a ₹75 L pre-money, 12.3%, to reach a clear yes-or-no on a product that's profitable on every unit.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1.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chart" Target="/ppt/charts/chart1.xml"/><Relationship Id="rId4" Type="http://schemas.openxmlformats.org/officeDocument/2006/relationships/chart" Target="/ppt/charts/chart2.xml"/><Relationship Id="rId1" Type="http://schemas.openxmlformats.org/officeDocument/2006/relationships/image" Target="../media/image-4-1.png"/><Relationship Id="rId2" Type="http://schemas.openxmlformats.org/officeDocument/2006/relationships/image" Target="../media/image-4-2.jp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dot1"/>
          <p:cNvSpPr/>
          <p:nvPr/>
        </p:nvSpPr>
        <p:spPr>
          <a:xfrm>
            <a:off x="9692640" y="6510528"/>
            <a:ext cx="100584" cy="100584"/>
          </a:xfrm>
          <a:prstGeom prst="ellipse">
            <a:avLst/>
          </a:prstGeom>
          <a:solidFill>
            <a:srgbClr val="06B6D4"/>
          </a:solidFill>
          <a:ln w="12700">
            <a:solidFill>
              <a:srgbClr val="06B6D4"/>
            </a:solidFill>
            <a:prstDash val="solid"/>
          </a:ln>
        </p:spPr>
      </p:sp>
      <p:sp>
        <p:nvSpPr>
          <p:cNvPr id="3" name="!!dot2"/>
          <p:cNvSpPr/>
          <p:nvPr/>
        </p:nvSpPr>
        <p:spPr>
          <a:xfrm>
            <a:off x="9838944" y="6510528"/>
            <a:ext cx="54864" cy="54864"/>
          </a:xfrm>
          <a:prstGeom prst="ellipse">
            <a:avLst/>
          </a:prstGeom>
          <a:solidFill>
            <a:srgbClr val="2B3A5C"/>
          </a:solidFill>
          <a:ln w="12700">
            <a:solidFill>
              <a:srgbClr val="2B3A5C"/>
            </a:solidFill>
            <a:prstDash val="solid"/>
          </a:ln>
        </p:spPr>
      </p:sp>
      <p:sp>
        <p:nvSpPr>
          <p:cNvPr id="4" name="!!dot3"/>
          <p:cNvSpPr/>
          <p:nvPr/>
        </p:nvSpPr>
        <p:spPr>
          <a:xfrm>
            <a:off x="9985248" y="6510528"/>
            <a:ext cx="54864" cy="54864"/>
          </a:xfrm>
          <a:prstGeom prst="ellipse">
            <a:avLst/>
          </a:prstGeom>
          <a:solidFill>
            <a:srgbClr val="2B3A5C"/>
          </a:solidFill>
          <a:ln w="12700">
            <a:solidFill>
              <a:srgbClr val="2B3A5C"/>
            </a:solidFill>
            <a:prstDash val="solid"/>
          </a:ln>
        </p:spPr>
      </p:sp>
      <p:sp>
        <p:nvSpPr>
          <p:cNvPr id="5" name="!!dot4"/>
          <p:cNvSpPr/>
          <p:nvPr/>
        </p:nvSpPr>
        <p:spPr>
          <a:xfrm>
            <a:off x="10131552" y="6510528"/>
            <a:ext cx="54864" cy="54864"/>
          </a:xfrm>
          <a:prstGeom prst="ellipse">
            <a:avLst/>
          </a:prstGeom>
          <a:solidFill>
            <a:srgbClr val="2B3A5C"/>
          </a:solidFill>
          <a:ln w="12700">
            <a:solidFill>
              <a:srgbClr val="2B3A5C"/>
            </a:solidFill>
            <a:prstDash val="solid"/>
          </a:ln>
        </p:spPr>
      </p:sp>
      <p:sp>
        <p:nvSpPr>
          <p:cNvPr id="6" name="!!dot5"/>
          <p:cNvSpPr/>
          <p:nvPr/>
        </p:nvSpPr>
        <p:spPr>
          <a:xfrm>
            <a:off x="10277856" y="6510528"/>
            <a:ext cx="54864" cy="54864"/>
          </a:xfrm>
          <a:prstGeom prst="ellipse">
            <a:avLst/>
          </a:prstGeom>
          <a:solidFill>
            <a:srgbClr val="2B3A5C"/>
          </a:solidFill>
          <a:ln w="12700">
            <a:solidFill>
              <a:srgbClr val="2B3A5C"/>
            </a:solidFill>
            <a:prstDash val="solid"/>
          </a:ln>
        </p:spPr>
      </p:sp>
      <p:sp>
        <p:nvSpPr>
          <p:cNvPr id="7" name="!!dot6"/>
          <p:cNvSpPr/>
          <p:nvPr/>
        </p:nvSpPr>
        <p:spPr>
          <a:xfrm>
            <a:off x="10424160" y="6510528"/>
            <a:ext cx="54864" cy="54864"/>
          </a:xfrm>
          <a:prstGeom prst="ellipse">
            <a:avLst/>
          </a:prstGeom>
          <a:solidFill>
            <a:srgbClr val="2B3A5C"/>
          </a:solidFill>
          <a:ln w="12700">
            <a:solidFill>
              <a:srgbClr val="2B3A5C"/>
            </a:solidFill>
            <a:prstDash val="solid"/>
          </a:ln>
        </p:spPr>
      </p:sp>
      <p:sp>
        <p:nvSpPr>
          <p:cNvPr id="8" name="!!dot7"/>
          <p:cNvSpPr/>
          <p:nvPr/>
        </p:nvSpPr>
        <p:spPr>
          <a:xfrm>
            <a:off x="10570464" y="6510528"/>
            <a:ext cx="54864" cy="54864"/>
          </a:xfrm>
          <a:prstGeom prst="ellipse">
            <a:avLst/>
          </a:prstGeom>
          <a:solidFill>
            <a:srgbClr val="2B3A5C"/>
          </a:solidFill>
          <a:ln w="12700">
            <a:solidFill>
              <a:srgbClr val="2B3A5C"/>
            </a:solidFill>
            <a:prstDash val="solid"/>
          </a:ln>
        </p:spPr>
      </p:sp>
      <p:sp>
        <p:nvSpPr>
          <p:cNvPr id="9" name="!!dot8"/>
          <p:cNvSpPr/>
          <p:nvPr/>
        </p:nvSpPr>
        <p:spPr>
          <a:xfrm>
            <a:off x="10716768" y="6510528"/>
            <a:ext cx="54864" cy="54864"/>
          </a:xfrm>
          <a:prstGeom prst="ellipse">
            <a:avLst/>
          </a:prstGeom>
          <a:solidFill>
            <a:srgbClr val="2B3A5C"/>
          </a:solidFill>
          <a:ln w="12700">
            <a:solidFill>
              <a:srgbClr val="2B3A5C"/>
            </a:solidFill>
            <a:prstDash val="solid"/>
          </a:ln>
        </p:spPr>
      </p:sp>
      <p:sp>
        <p:nvSpPr>
          <p:cNvPr id="10" name="!!dot9"/>
          <p:cNvSpPr/>
          <p:nvPr/>
        </p:nvSpPr>
        <p:spPr>
          <a:xfrm>
            <a:off x="10863072" y="6510528"/>
            <a:ext cx="54864" cy="54864"/>
          </a:xfrm>
          <a:prstGeom prst="ellipse">
            <a:avLst/>
          </a:prstGeom>
          <a:solidFill>
            <a:srgbClr val="2B3A5C"/>
          </a:solidFill>
          <a:ln w="12700">
            <a:solidFill>
              <a:srgbClr val="2B3A5C"/>
            </a:solidFill>
            <a:prstDash val="solid"/>
          </a:ln>
        </p:spPr>
      </p:sp>
      <p:sp>
        <p:nvSpPr>
          <p:cNvPr id="11" name="!!dot10"/>
          <p:cNvSpPr/>
          <p:nvPr/>
        </p:nvSpPr>
        <p:spPr>
          <a:xfrm>
            <a:off x="11009376" y="6510528"/>
            <a:ext cx="54864" cy="54864"/>
          </a:xfrm>
          <a:prstGeom prst="ellipse">
            <a:avLst/>
          </a:prstGeom>
          <a:solidFill>
            <a:srgbClr val="2B3A5C"/>
          </a:solidFill>
          <a:ln w="12700">
            <a:solidFill>
              <a:srgbClr val="2B3A5C"/>
            </a:solidFill>
            <a:prstDash val="solid"/>
          </a:ln>
        </p:spPr>
      </p:sp>
      <p:sp>
        <p:nvSpPr>
          <p:cNvPr id="12" name="!!dot11"/>
          <p:cNvSpPr/>
          <p:nvPr/>
        </p:nvSpPr>
        <p:spPr>
          <a:xfrm>
            <a:off x="11155680" y="6510528"/>
            <a:ext cx="54864" cy="54864"/>
          </a:xfrm>
          <a:prstGeom prst="ellipse">
            <a:avLst/>
          </a:prstGeom>
          <a:solidFill>
            <a:srgbClr val="2B3A5C"/>
          </a:solidFill>
          <a:ln w="12700">
            <a:solidFill>
              <a:srgbClr val="2B3A5C"/>
            </a:solidFill>
            <a:prstDash val="solid"/>
          </a:ln>
        </p:spPr>
      </p:sp>
      <p:sp>
        <p:nvSpPr>
          <p:cNvPr id="13" name="!!dot12"/>
          <p:cNvSpPr/>
          <p:nvPr/>
        </p:nvSpPr>
        <p:spPr>
          <a:xfrm>
            <a:off x="11301984" y="6510528"/>
            <a:ext cx="54864" cy="54864"/>
          </a:xfrm>
          <a:prstGeom prst="ellipse">
            <a:avLst/>
          </a:prstGeom>
          <a:solidFill>
            <a:srgbClr val="2B3A5C"/>
          </a:solidFill>
          <a:ln w="12700">
            <a:solidFill>
              <a:srgbClr val="2B3A5C"/>
            </a:solidFill>
            <a:prstDash val="solid"/>
          </a:ln>
        </p:spPr>
      </p:sp>
      <p:sp>
        <p:nvSpPr>
          <p:cNvPr id="14" name="!!dot13"/>
          <p:cNvSpPr/>
          <p:nvPr/>
        </p:nvSpPr>
        <p:spPr>
          <a:xfrm>
            <a:off x="11448288" y="6510528"/>
            <a:ext cx="54864" cy="54864"/>
          </a:xfrm>
          <a:prstGeom prst="ellipse">
            <a:avLst/>
          </a:prstGeom>
          <a:solidFill>
            <a:srgbClr val="2B3A5C"/>
          </a:solidFill>
          <a:ln w="12700">
            <a:solidFill>
              <a:srgbClr val="2B3A5C"/>
            </a:solidFill>
            <a:prstDash val="solid"/>
          </a:ln>
        </p:spPr>
      </p:sp>
      <p:sp>
        <p:nvSpPr>
          <p:cNvPr id="15" name="!!dot14"/>
          <p:cNvSpPr/>
          <p:nvPr/>
        </p:nvSpPr>
        <p:spPr>
          <a:xfrm>
            <a:off x="11594592" y="6510528"/>
            <a:ext cx="54864" cy="54864"/>
          </a:xfrm>
          <a:prstGeom prst="ellipse">
            <a:avLst/>
          </a:prstGeom>
          <a:solidFill>
            <a:srgbClr val="2B3A5C"/>
          </a:solidFill>
          <a:ln w="12700">
            <a:solidFill>
              <a:srgbClr val="2B3A5C"/>
            </a:solidFill>
            <a:prstDash val="solid"/>
          </a:ln>
        </p:spPr>
      </p:sp>
      <p:pic>
        <p:nvPicPr>
          <p:cNvPr id="17" name="!!mark" descr="../public/brand/averra-mark-white.png">    </p:cNvPr>
          <p:cNvPicPr>
            <a:picLocks noChangeAspect="1"/>
          </p:cNvPicPr>
          <p:nvPr/>
        </p:nvPicPr>
        <p:blipFill>
          <a:blip r:embed="rId1"/>
          <a:stretch>
            <a:fillRect/>
          </a:stretch>
        </p:blipFill>
        <p:spPr>
          <a:xfrm>
            <a:off x="640080" y="822960"/>
            <a:ext cx="960120" cy="960120"/>
          </a:xfrm>
          <a:prstGeom prst="rect">
            <a:avLst/>
          </a:prstGeom>
        </p:spPr>
      </p:pic>
      <p:pic>
        <p:nvPicPr>
          <p:cNvPr id="18" name="wordmark" descr="../public/brand/averra-wordmark-white.png">    </p:cNvPr>
          <p:cNvPicPr>
            <a:picLocks noChangeAspect="1"/>
          </p:cNvPicPr>
          <p:nvPr/>
        </p:nvPicPr>
        <p:blipFill>
          <a:blip r:embed="rId2"/>
          <a:stretch>
            <a:fillRect/>
          </a:stretch>
        </p:blipFill>
        <p:spPr>
          <a:xfrm>
            <a:off x="1783080" y="1069848"/>
            <a:ext cx="3566160" cy="457200"/>
          </a:xfrm>
          <a:prstGeom prst="rect">
            <a:avLst/>
          </a:prstGeom>
        </p:spPr>
      </p:pic>
      <p:sp>
        <p:nvSpPr>
          <p:cNvPr id="19" name="tagline"/>
          <p:cNvSpPr txBox="1"/>
          <p:nvPr/>
        </p:nvSpPr>
        <p:spPr>
          <a:xfrm>
            <a:off x="685800" y="2057400"/>
            <a:ext cx="6400800" cy="12801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Engineering better movement intelligence.</a:t>
            </a:r>
            <a:endParaRPr lang="en-US" sz="3800" dirty="0"/>
          </a:p>
        </p:txBody>
      </p:sp>
      <p:sp>
        <p:nvSpPr>
          <p:cNvPr id="20" name="descriptor"/>
          <p:cNvSpPr txBox="1"/>
          <p:nvPr/>
        </p:nvSpPr>
        <p:spPr>
          <a:xfrm>
            <a:off x="685800" y="3337560"/>
            <a:ext cx="6400800" cy="320040"/>
          </a:xfrm>
          <a:prstGeom prst="rect">
            <a:avLst/>
          </a:prstGeom>
          <a:noFill/>
          <a:ln/>
        </p:spPr>
        <p:txBody>
          <a:bodyPr wrap="square" lIns="0" tIns="0" rIns="0" bIns="0" rtlCol="0" anchor="t"/>
          <a:lstStyle/>
          <a:p>
            <a:pPr indent="0" marL="0">
              <a:buNone/>
            </a:pPr>
            <a:r>
              <a:rPr lang="en-US" sz="1500" dirty="0">
                <a:solidFill>
                  <a:srgbClr val="06B6D4"/>
                </a:solidFill>
                <a:latin typeface="Calibri" pitchFamily="34" charset="0"/>
                <a:ea typeface="Calibri" pitchFamily="34" charset="-122"/>
                <a:cs typeface="Calibri" pitchFamily="34" charset="-120"/>
              </a:rPr>
              <a:t>Biomedical deep-tech for accessible wearable and assistive technology</a:t>
            </a:r>
            <a:endParaRPr lang="en-US" sz="1500" dirty="0"/>
          </a:p>
        </p:txBody>
      </p:sp>
      <p:sp>
        <p:nvSpPr>
          <p:cNvPr id="21" name="pos_card"/>
          <p:cNvSpPr/>
          <p:nvPr/>
        </p:nvSpPr>
        <p:spPr>
          <a:xfrm>
            <a:off x="685800" y="3840480"/>
            <a:ext cx="6309360" cy="1783080"/>
          </a:xfrm>
          <a:prstGeom prst="roundRect">
            <a:avLst>
              <a:gd name="adj" fmla="val 3590"/>
            </a:avLst>
          </a:prstGeom>
          <a:solidFill>
            <a:srgbClr val="16213A"/>
          </a:solidFill>
          <a:ln w="9525">
            <a:solidFill>
              <a:srgbClr val="3B82F6"/>
            </a:solidFill>
            <a:prstDash val="solid"/>
          </a:ln>
        </p:spPr>
      </p:sp>
      <p:sp>
        <p:nvSpPr>
          <p:cNvPr id="22" name="Text 17"/>
          <p:cNvSpPr txBox="1"/>
          <p:nvPr/>
        </p:nvSpPr>
        <p:spPr>
          <a:xfrm>
            <a:off x="914400" y="3959352"/>
            <a:ext cx="2743200" cy="201168"/>
          </a:xfrm>
          <a:prstGeom prst="rect">
            <a:avLst/>
          </a:prstGeom>
          <a:noFill/>
          <a:ln/>
        </p:spPr>
        <p:txBody>
          <a:bodyPr wrap="square" lIns="0" tIns="0" rIns="0" bIns="0" rtlCol="0" anchor="t"/>
          <a:lstStyle/>
          <a:p>
            <a:pPr indent="0" marL="0">
              <a:buNone/>
            </a:pPr>
            <a:r>
              <a:rPr lang="en-US" sz="950" b="1" spc="300" kern="0" dirty="0">
                <a:solidFill>
                  <a:srgbClr val="3B82F6"/>
                </a:solidFill>
                <a:latin typeface="Calibri" pitchFamily="34" charset="0"/>
                <a:ea typeface="Calibri" pitchFamily="34" charset="-122"/>
                <a:cs typeface="Calibri" pitchFamily="34" charset="-120"/>
              </a:rPr>
              <a:t>POSITIONING</a:t>
            </a:r>
            <a:endParaRPr lang="en-US" sz="950" dirty="0"/>
          </a:p>
        </p:txBody>
      </p:sp>
      <p:sp>
        <p:nvSpPr>
          <p:cNvPr id="23" name="pos_text"/>
          <p:cNvSpPr txBox="1"/>
          <p:nvPr/>
        </p:nvSpPr>
        <p:spPr>
          <a:xfrm>
            <a:off x="914400" y="4206240"/>
            <a:ext cx="5897880" cy="137160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For older adults, people living with movement disorders and the clinicians and families who support them in urban India, AVERRA is a biomedical technology company that turns precise movement sensing into everyday insight (ParkinSense) and practical assistance (TremoSense), at prices built for Indian households.</a:t>
            </a:r>
            <a:endParaRPr lang="en-US" sz="1350" dirty="0"/>
          </a:p>
        </p:txBody>
      </p:sp>
      <p:pic>
        <p:nvPicPr>
          <p:cNvPr id="24" name="!!ps_photo" descr="../public/images/parkinsense-wrist.jpg">    </p:cNvPr>
          <p:cNvPicPr>
            <a:picLocks noChangeAspect="1"/>
          </p:cNvPicPr>
          <p:nvPr/>
        </p:nvPicPr>
        <p:blipFill>
          <a:blip r:embed="rId3"/>
          <a:stretch>
            <a:fillRect/>
          </a:stretch>
        </p:blipFill>
        <p:spPr>
          <a:xfrm>
            <a:off x="7498080" y="822960"/>
            <a:ext cx="2103120" cy="2298710"/>
          </a:xfrm>
          <a:prstGeom prst="rect">
            <a:avLst/>
          </a:prstGeom>
        </p:spPr>
      </p:pic>
      <p:pic>
        <p:nvPicPr>
          <p:cNvPr id="25" name="!!ts_photo" descr="../public/images/tremosense-rig.jpg">    </p:cNvPr>
          <p:cNvPicPr>
            <a:picLocks noChangeAspect="1"/>
          </p:cNvPicPr>
          <p:nvPr/>
        </p:nvPicPr>
        <p:blipFill>
          <a:blip r:embed="rId4"/>
          <a:stretch>
            <a:fillRect/>
          </a:stretch>
        </p:blipFill>
        <p:spPr>
          <a:xfrm>
            <a:off x="9829800" y="822960"/>
            <a:ext cx="1719072" cy="2291523"/>
          </a:xfrm>
          <a:prstGeom prst="rect">
            <a:avLst/>
          </a:prstGeom>
        </p:spPr>
      </p:pic>
      <p:sp>
        <p:nvSpPr>
          <p:cNvPr id="26" name="!!ps_label"/>
          <p:cNvSpPr txBox="1"/>
          <p:nvPr/>
        </p:nvSpPr>
        <p:spPr>
          <a:xfrm>
            <a:off x="7498080" y="3200400"/>
            <a:ext cx="2194560" cy="5486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ParkinSense</a:t>
            </a:r>
            <a:endParaRPr lang="en-US" sz="1500" dirty="0"/>
          </a:p>
          <a:p>
            <a:pPr indent="0" marL="0">
              <a:buNone/>
            </a:pPr>
            <a:r>
              <a:rPr lang="en-US" sz="1100" dirty="0">
                <a:solidFill>
                  <a:srgbClr val="06B6D4"/>
                </a:solidFill>
                <a:latin typeface="Calibri" pitchFamily="34" charset="0"/>
                <a:ea typeface="Calibri" pitchFamily="34" charset="-122"/>
                <a:cs typeface="Calibri" pitchFamily="34" charset="-120"/>
              </a:rPr>
              <a:t>Measure and understand movement</a:t>
            </a:r>
            <a:endParaRPr lang="en-US" sz="1500" dirty="0"/>
          </a:p>
        </p:txBody>
      </p:sp>
      <p:sp>
        <p:nvSpPr>
          <p:cNvPr id="27" name="!!ts_label"/>
          <p:cNvSpPr txBox="1"/>
          <p:nvPr/>
        </p:nvSpPr>
        <p:spPr>
          <a:xfrm>
            <a:off x="9829800" y="3200400"/>
            <a:ext cx="2011680" cy="5486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TremoSense</a:t>
            </a:r>
            <a:endParaRPr lang="en-US" sz="1500" dirty="0"/>
          </a:p>
          <a:p>
            <a:pPr indent="0" marL="0">
              <a:buNone/>
            </a:pPr>
            <a:r>
              <a:rPr lang="en-US" sz="1100" dirty="0">
                <a:solidFill>
                  <a:srgbClr val="8B5CF6"/>
                </a:solidFill>
                <a:latin typeface="Calibri" pitchFamily="34" charset="0"/>
                <a:ea typeface="Calibri" pitchFamily="34" charset="-122"/>
                <a:cs typeface="Calibri" pitchFamily="34" charset="-120"/>
              </a:rPr>
              <a:t>Assist people with tremor</a:t>
            </a:r>
            <a:endParaRPr lang="en-US" sz="1500" dirty="0"/>
          </a:p>
        </p:txBody>
      </p:sp>
      <p:sp>
        <p:nvSpPr>
          <p:cNvPr id="28" name="founders"/>
          <p:cNvSpPr txBox="1"/>
          <p:nvPr/>
        </p:nvSpPr>
        <p:spPr>
          <a:xfrm>
            <a:off x="7498080" y="4206240"/>
            <a:ext cx="4206240" cy="64008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Pranshu Kumar · Pawan Shinde</a:t>
            </a:r>
            <a:endParaRPr lang="en-US" sz="1250" dirty="0"/>
          </a:p>
          <a:p>
            <a:pPr indent="0" marL="0">
              <a:buNone/>
            </a:pPr>
            <a:r>
              <a:rPr lang="en-US" sz="1250" dirty="0">
                <a:solidFill>
                  <a:srgbClr val="94A3B8"/>
                </a:solidFill>
                <a:latin typeface="Calibri" pitchFamily="34" charset="0"/>
                <a:ea typeface="Calibri" pitchFamily="34" charset="-122"/>
                <a:cs typeface="Calibri" pitchFamily="34" charset="-120"/>
              </a:rPr>
              <a:t>Co-founders · B.Tech EXTC, VJTI Mumbai · SEC-ENT-301</a:t>
            </a:r>
            <a:endParaRPr lang="en-US" sz="1250" dirty="0"/>
          </a:p>
        </p:txBody>
      </p:sp>
      <p:sp>
        <p:nvSpPr>
          <p:cNvPr id="29" name="Text 22"/>
          <p:cNvSpPr txBox="1"/>
          <p:nvPr/>
        </p:nvSpPr>
        <p:spPr>
          <a:xfrm>
            <a:off x="7498080" y="5349240"/>
            <a:ext cx="4206240" cy="27432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Photos: real prototypes from the project repositories.</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5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50"/>
                                        <p:tgtEl>
                                          <p:spTgt spid="22"/>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450"/>
                                        <p:tgtEl>
                                          <p:spTgt spid="2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450"/>
                                        <p:tgtEl>
                                          <p:spTgt spid="28"/>
                                        </p:tgtEl>
                                      </p:cBhvr>
                                    </p:animEffect>
                                  </p:childTnLst>
                                </p:cTn>
                              </p:par>
                              <p:par>
                                <p:cTn id="19" presetID="10"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fade">
                                      <p:cBhvr>
                                        <p:cTn id="21"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8" grpId="0" animBg="1"/>
      <p:bldP spid="2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kicker"/>
          <p:cNvSpPr txBox="1"/>
          <p:nvPr/>
        </p:nvSpPr>
        <p:spPr>
          <a:xfrm>
            <a:off x="502920" y="274320"/>
            <a:ext cx="7315200" cy="256032"/>
          </a:xfrm>
          <a:prstGeom prst="rect">
            <a:avLst/>
          </a:prstGeom>
          <a:noFill/>
          <a:ln/>
        </p:spPr>
        <p:txBody>
          <a:bodyPr wrap="square" lIns="0" tIns="0" rIns="0" bIns="0" rtlCol="0" anchor="t"/>
          <a:lstStyle/>
          <a:p>
            <a:pPr indent="0" marL="0">
              <a:buNone/>
            </a:pPr>
            <a:r>
              <a:rPr lang="en-US" sz="1100" b="1" spc="300" kern="0" dirty="0">
                <a:solidFill>
                  <a:srgbClr val="06B6D4"/>
                </a:solidFill>
                <a:latin typeface="Calibri" pitchFamily="34" charset="0"/>
                <a:ea typeface="Calibri" pitchFamily="34" charset="-122"/>
                <a:cs typeface="Calibri" pitchFamily="34" charset="-120"/>
              </a:rPr>
              <a:t>01 · PROBLEM &amp; WHY NOW</a:t>
            </a:r>
            <a:endParaRPr lang="en-US" sz="1100" dirty="0"/>
          </a:p>
        </p:txBody>
      </p:sp>
      <p:sp>
        <p:nvSpPr>
          <p:cNvPr id="3" name="!!title"/>
          <p:cNvSpPr txBox="1"/>
          <p:nvPr/>
        </p:nvSpPr>
        <p:spPr>
          <a:xfrm>
            <a:off x="502920" y="530352"/>
            <a:ext cx="10241280" cy="64008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Movement is measured for minutes — and lived with all day</a:t>
            </a:r>
            <a:endParaRPr lang="en-US" sz="2800" dirty="0"/>
          </a:p>
        </p:txBody>
      </p:sp>
      <p:pic>
        <p:nvPicPr>
          <p:cNvPr id="4" name="!!mark" descr="../public/brand/averra-mark-white.png">    </p:cNvPr>
          <p:cNvPicPr>
            <a:picLocks noChangeAspect="1"/>
          </p:cNvPicPr>
          <p:nvPr/>
        </p:nvPicPr>
        <p:blipFill>
          <a:blip r:embed="rId1"/>
          <a:stretch>
            <a:fillRect/>
          </a:stretch>
        </p:blipFill>
        <p:spPr>
          <a:xfrm>
            <a:off x="11201400" y="292608"/>
            <a:ext cx="502920" cy="502920"/>
          </a:xfrm>
          <a:prstGeom prst="rect">
            <a:avLst/>
          </a:prstGeom>
        </p:spPr>
      </p:pic>
      <p:sp>
        <p:nvSpPr>
          <p:cNvPr id="5" name="!!dot1"/>
          <p:cNvSpPr/>
          <p:nvPr/>
        </p:nvSpPr>
        <p:spPr>
          <a:xfrm>
            <a:off x="9692640" y="6510528"/>
            <a:ext cx="54864" cy="54864"/>
          </a:xfrm>
          <a:prstGeom prst="ellipse">
            <a:avLst/>
          </a:prstGeom>
          <a:solidFill>
            <a:srgbClr val="2B3A5C"/>
          </a:solidFill>
          <a:ln w="12700">
            <a:solidFill>
              <a:srgbClr val="2B3A5C"/>
            </a:solidFill>
            <a:prstDash val="solid"/>
          </a:ln>
        </p:spPr>
      </p:sp>
      <p:sp>
        <p:nvSpPr>
          <p:cNvPr id="6" name="!!dot2"/>
          <p:cNvSpPr/>
          <p:nvPr/>
        </p:nvSpPr>
        <p:spPr>
          <a:xfrm>
            <a:off x="9838944" y="6510528"/>
            <a:ext cx="100584" cy="100584"/>
          </a:xfrm>
          <a:prstGeom prst="ellipse">
            <a:avLst/>
          </a:prstGeom>
          <a:solidFill>
            <a:srgbClr val="06B6D4"/>
          </a:solidFill>
          <a:ln w="12700">
            <a:solidFill>
              <a:srgbClr val="06B6D4"/>
            </a:solidFill>
            <a:prstDash val="solid"/>
          </a:ln>
        </p:spPr>
      </p:sp>
      <p:sp>
        <p:nvSpPr>
          <p:cNvPr id="7" name="!!dot3"/>
          <p:cNvSpPr/>
          <p:nvPr/>
        </p:nvSpPr>
        <p:spPr>
          <a:xfrm>
            <a:off x="9985248" y="6510528"/>
            <a:ext cx="54864" cy="54864"/>
          </a:xfrm>
          <a:prstGeom prst="ellipse">
            <a:avLst/>
          </a:prstGeom>
          <a:solidFill>
            <a:srgbClr val="2B3A5C"/>
          </a:solidFill>
          <a:ln w="12700">
            <a:solidFill>
              <a:srgbClr val="2B3A5C"/>
            </a:solidFill>
            <a:prstDash val="solid"/>
          </a:ln>
        </p:spPr>
      </p:sp>
      <p:sp>
        <p:nvSpPr>
          <p:cNvPr id="8" name="!!dot4"/>
          <p:cNvSpPr/>
          <p:nvPr/>
        </p:nvSpPr>
        <p:spPr>
          <a:xfrm>
            <a:off x="10131552" y="6510528"/>
            <a:ext cx="54864" cy="54864"/>
          </a:xfrm>
          <a:prstGeom prst="ellipse">
            <a:avLst/>
          </a:prstGeom>
          <a:solidFill>
            <a:srgbClr val="2B3A5C"/>
          </a:solidFill>
          <a:ln w="12700">
            <a:solidFill>
              <a:srgbClr val="2B3A5C"/>
            </a:solidFill>
            <a:prstDash val="solid"/>
          </a:ln>
        </p:spPr>
      </p:sp>
      <p:sp>
        <p:nvSpPr>
          <p:cNvPr id="9" name="!!dot5"/>
          <p:cNvSpPr/>
          <p:nvPr/>
        </p:nvSpPr>
        <p:spPr>
          <a:xfrm>
            <a:off x="10277856" y="6510528"/>
            <a:ext cx="54864" cy="54864"/>
          </a:xfrm>
          <a:prstGeom prst="ellipse">
            <a:avLst/>
          </a:prstGeom>
          <a:solidFill>
            <a:srgbClr val="2B3A5C"/>
          </a:solidFill>
          <a:ln w="12700">
            <a:solidFill>
              <a:srgbClr val="2B3A5C"/>
            </a:solidFill>
            <a:prstDash val="solid"/>
          </a:ln>
        </p:spPr>
      </p:sp>
      <p:sp>
        <p:nvSpPr>
          <p:cNvPr id="10" name="!!dot6"/>
          <p:cNvSpPr/>
          <p:nvPr/>
        </p:nvSpPr>
        <p:spPr>
          <a:xfrm>
            <a:off x="10424160" y="6510528"/>
            <a:ext cx="54864" cy="54864"/>
          </a:xfrm>
          <a:prstGeom prst="ellipse">
            <a:avLst/>
          </a:prstGeom>
          <a:solidFill>
            <a:srgbClr val="2B3A5C"/>
          </a:solidFill>
          <a:ln w="12700">
            <a:solidFill>
              <a:srgbClr val="2B3A5C"/>
            </a:solidFill>
            <a:prstDash val="solid"/>
          </a:ln>
        </p:spPr>
      </p:sp>
      <p:sp>
        <p:nvSpPr>
          <p:cNvPr id="11" name="!!dot7"/>
          <p:cNvSpPr/>
          <p:nvPr/>
        </p:nvSpPr>
        <p:spPr>
          <a:xfrm>
            <a:off x="10570464" y="6510528"/>
            <a:ext cx="54864" cy="54864"/>
          </a:xfrm>
          <a:prstGeom prst="ellipse">
            <a:avLst/>
          </a:prstGeom>
          <a:solidFill>
            <a:srgbClr val="2B3A5C"/>
          </a:solidFill>
          <a:ln w="12700">
            <a:solidFill>
              <a:srgbClr val="2B3A5C"/>
            </a:solidFill>
            <a:prstDash val="solid"/>
          </a:ln>
        </p:spPr>
      </p:sp>
      <p:sp>
        <p:nvSpPr>
          <p:cNvPr id="12" name="!!dot8"/>
          <p:cNvSpPr/>
          <p:nvPr/>
        </p:nvSpPr>
        <p:spPr>
          <a:xfrm>
            <a:off x="10716768" y="6510528"/>
            <a:ext cx="54864" cy="54864"/>
          </a:xfrm>
          <a:prstGeom prst="ellipse">
            <a:avLst/>
          </a:prstGeom>
          <a:solidFill>
            <a:srgbClr val="2B3A5C"/>
          </a:solidFill>
          <a:ln w="12700">
            <a:solidFill>
              <a:srgbClr val="2B3A5C"/>
            </a:solidFill>
            <a:prstDash val="solid"/>
          </a:ln>
        </p:spPr>
      </p:sp>
      <p:sp>
        <p:nvSpPr>
          <p:cNvPr id="13" name="!!dot9"/>
          <p:cNvSpPr/>
          <p:nvPr/>
        </p:nvSpPr>
        <p:spPr>
          <a:xfrm>
            <a:off x="10863072" y="6510528"/>
            <a:ext cx="54864" cy="54864"/>
          </a:xfrm>
          <a:prstGeom prst="ellipse">
            <a:avLst/>
          </a:prstGeom>
          <a:solidFill>
            <a:srgbClr val="2B3A5C"/>
          </a:solidFill>
          <a:ln w="12700">
            <a:solidFill>
              <a:srgbClr val="2B3A5C"/>
            </a:solidFill>
            <a:prstDash val="solid"/>
          </a:ln>
        </p:spPr>
      </p:sp>
      <p:sp>
        <p:nvSpPr>
          <p:cNvPr id="14" name="!!dot10"/>
          <p:cNvSpPr/>
          <p:nvPr/>
        </p:nvSpPr>
        <p:spPr>
          <a:xfrm>
            <a:off x="11009376" y="6510528"/>
            <a:ext cx="54864" cy="54864"/>
          </a:xfrm>
          <a:prstGeom prst="ellipse">
            <a:avLst/>
          </a:prstGeom>
          <a:solidFill>
            <a:srgbClr val="2B3A5C"/>
          </a:solidFill>
          <a:ln w="12700">
            <a:solidFill>
              <a:srgbClr val="2B3A5C"/>
            </a:solidFill>
            <a:prstDash val="solid"/>
          </a:ln>
        </p:spPr>
      </p:sp>
      <p:sp>
        <p:nvSpPr>
          <p:cNvPr id="15" name="!!dot11"/>
          <p:cNvSpPr/>
          <p:nvPr/>
        </p:nvSpPr>
        <p:spPr>
          <a:xfrm>
            <a:off x="11155680" y="6510528"/>
            <a:ext cx="54864" cy="54864"/>
          </a:xfrm>
          <a:prstGeom prst="ellipse">
            <a:avLst/>
          </a:prstGeom>
          <a:solidFill>
            <a:srgbClr val="2B3A5C"/>
          </a:solidFill>
          <a:ln w="12700">
            <a:solidFill>
              <a:srgbClr val="2B3A5C"/>
            </a:solidFill>
            <a:prstDash val="solid"/>
          </a:ln>
        </p:spPr>
      </p:sp>
      <p:sp>
        <p:nvSpPr>
          <p:cNvPr id="16" name="!!dot12"/>
          <p:cNvSpPr/>
          <p:nvPr/>
        </p:nvSpPr>
        <p:spPr>
          <a:xfrm>
            <a:off x="11301984" y="6510528"/>
            <a:ext cx="54864" cy="54864"/>
          </a:xfrm>
          <a:prstGeom prst="ellipse">
            <a:avLst/>
          </a:prstGeom>
          <a:solidFill>
            <a:srgbClr val="2B3A5C"/>
          </a:solidFill>
          <a:ln w="12700">
            <a:solidFill>
              <a:srgbClr val="2B3A5C"/>
            </a:solidFill>
            <a:prstDash val="solid"/>
          </a:ln>
        </p:spPr>
      </p:sp>
      <p:sp>
        <p:nvSpPr>
          <p:cNvPr id="17" name="!!dot13"/>
          <p:cNvSpPr/>
          <p:nvPr/>
        </p:nvSpPr>
        <p:spPr>
          <a:xfrm>
            <a:off x="11448288" y="6510528"/>
            <a:ext cx="54864" cy="54864"/>
          </a:xfrm>
          <a:prstGeom prst="ellipse">
            <a:avLst/>
          </a:prstGeom>
          <a:solidFill>
            <a:srgbClr val="2B3A5C"/>
          </a:solidFill>
          <a:ln w="12700">
            <a:solidFill>
              <a:srgbClr val="2B3A5C"/>
            </a:solidFill>
            <a:prstDash val="solid"/>
          </a:ln>
        </p:spPr>
      </p:sp>
      <p:sp>
        <p:nvSpPr>
          <p:cNvPr id="18" name="!!dot14"/>
          <p:cNvSpPr/>
          <p:nvPr/>
        </p:nvSpPr>
        <p:spPr>
          <a:xfrm>
            <a:off x="11594592" y="6510528"/>
            <a:ext cx="54864" cy="54864"/>
          </a:xfrm>
          <a:prstGeom prst="ellipse">
            <a:avLst/>
          </a:prstGeom>
          <a:solidFill>
            <a:srgbClr val="2B3A5C"/>
          </a:solidFill>
          <a:ln w="12700">
            <a:solidFill>
              <a:srgbClr val="2B3A5C"/>
            </a:solidFill>
            <a:prstDash val="solid"/>
          </a:ln>
        </p:spPr>
      </p:sp>
      <p:sp>
        <p:nvSpPr>
          <p:cNvPr id="19" name="!!brand"/>
          <p:cNvSpPr txBox="1"/>
          <p:nvPr/>
        </p:nvSpPr>
        <p:spPr>
          <a:xfrm>
            <a:off x="502920" y="6446520"/>
            <a:ext cx="1828800" cy="201168"/>
          </a:xfrm>
          <a:prstGeom prst="rect">
            <a:avLst/>
          </a:prstGeom>
          <a:noFill/>
          <a:ln/>
        </p:spPr>
        <p:txBody>
          <a:bodyPr wrap="square" lIns="0" tIns="0" rIns="0" bIns="0" rtlCol="0" anchor="t"/>
          <a:lstStyle/>
          <a:p>
            <a:pPr indent="0" marL="0">
              <a:buNone/>
            </a:pPr>
            <a:r>
              <a:rPr lang="en-US" sz="900" b="1" spc="500" kern="0" dirty="0">
                <a:solidFill>
                  <a:srgbClr val="94A3B8"/>
                </a:solidFill>
                <a:latin typeface="Calibri" pitchFamily="34" charset="0"/>
                <a:ea typeface="Calibri" pitchFamily="34" charset="-122"/>
                <a:cs typeface="Calibri" pitchFamily="34" charset="-120"/>
              </a:rPr>
              <a:t>AVERRA</a:t>
            </a:r>
            <a:endParaRPr lang="en-US" sz="900" dirty="0"/>
          </a:p>
        </p:txBody>
      </p:sp>
      <p:sp>
        <p:nvSpPr>
          <p:cNvPr id="21" name="stat0"/>
          <p:cNvSpPr/>
          <p:nvPr/>
        </p:nvSpPr>
        <p:spPr>
          <a:xfrm>
            <a:off x="502920" y="1417320"/>
            <a:ext cx="2240280" cy="1325880"/>
          </a:xfrm>
          <a:prstGeom prst="roundRect">
            <a:avLst>
              <a:gd name="adj" fmla="val 4828"/>
            </a:avLst>
          </a:prstGeom>
          <a:solidFill>
            <a:srgbClr val="16213A"/>
          </a:solidFill>
          <a:ln w="9525">
            <a:solidFill>
              <a:srgbClr val="2B3A5C"/>
            </a:solidFill>
            <a:prstDash val="solid"/>
          </a:ln>
        </p:spPr>
      </p:sp>
      <p:sp>
        <p:nvSpPr>
          <p:cNvPr id="22" name="stat_v0"/>
          <p:cNvSpPr txBox="1"/>
          <p:nvPr/>
        </p:nvSpPr>
        <p:spPr>
          <a:xfrm>
            <a:off x="685800" y="1536192"/>
            <a:ext cx="1920240" cy="548640"/>
          </a:xfrm>
          <a:prstGeom prst="rect">
            <a:avLst/>
          </a:prstGeom>
          <a:noFill/>
          <a:ln/>
        </p:spPr>
        <p:txBody>
          <a:bodyPr wrap="square" lIns="0" tIns="0" rIns="0" bIns="0" rtlCol="0" anchor="t"/>
          <a:lstStyle/>
          <a:p>
            <a:pPr indent="0" marL="0">
              <a:buNone/>
            </a:pPr>
            <a:r>
              <a:rPr lang="en-US" sz="2800" b="1" dirty="0">
                <a:solidFill>
                  <a:srgbClr val="06B6D4"/>
                </a:solidFill>
                <a:latin typeface="Calibri" pitchFamily="34" charset="0"/>
                <a:ea typeface="Calibri" pitchFamily="34" charset="-122"/>
                <a:cs typeface="Calibri" pitchFamily="34" charset="-120"/>
              </a:rPr>
              <a:t>≈4.6 lakh</a:t>
            </a:r>
            <a:endParaRPr lang="en-US" sz="2800" dirty="0"/>
          </a:p>
        </p:txBody>
      </p:sp>
      <p:sp>
        <p:nvSpPr>
          <p:cNvPr id="23" name="stat_l0"/>
          <p:cNvSpPr txBox="1"/>
          <p:nvPr/>
        </p:nvSpPr>
        <p:spPr>
          <a:xfrm>
            <a:off x="685800" y="2103120"/>
            <a:ext cx="1920240" cy="59436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Indians aged 60+ living with Parkinson's (derived)</a:t>
            </a:r>
            <a:endParaRPr lang="en-US" sz="1150" dirty="0"/>
          </a:p>
        </p:txBody>
      </p:sp>
      <p:sp>
        <p:nvSpPr>
          <p:cNvPr id="24" name="stat1"/>
          <p:cNvSpPr/>
          <p:nvPr/>
        </p:nvSpPr>
        <p:spPr>
          <a:xfrm>
            <a:off x="2880360" y="1417320"/>
            <a:ext cx="2240280" cy="1325880"/>
          </a:xfrm>
          <a:prstGeom prst="roundRect">
            <a:avLst>
              <a:gd name="adj" fmla="val 4828"/>
            </a:avLst>
          </a:prstGeom>
          <a:solidFill>
            <a:srgbClr val="16213A"/>
          </a:solidFill>
          <a:ln w="9525">
            <a:solidFill>
              <a:srgbClr val="2B3A5C"/>
            </a:solidFill>
            <a:prstDash val="solid"/>
          </a:ln>
        </p:spPr>
      </p:sp>
      <p:sp>
        <p:nvSpPr>
          <p:cNvPr id="25" name="stat_v1"/>
          <p:cNvSpPr txBox="1"/>
          <p:nvPr/>
        </p:nvSpPr>
        <p:spPr>
          <a:xfrm>
            <a:off x="3063240" y="1536192"/>
            <a:ext cx="1920240" cy="548640"/>
          </a:xfrm>
          <a:prstGeom prst="rect">
            <a:avLst/>
          </a:prstGeom>
          <a:noFill/>
          <a:ln/>
        </p:spPr>
        <p:txBody>
          <a:bodyPr wrap="square" lIns="0" tIns="0" rIns="0" bIns="0" rtlCol="0" anchor="t"/>
          <a:lstStyle/>
          <a:p>
            <a:pPr indent="0" marL="0">
              <a:buNone/>
            </a:pPr>
            <a:r>
              <a:rPr lang="en-US" sz="2800" b="1" dirty="0">
                <a:solidFill>
                  <a:srgbClr val="06B6D4"/>
                </a:solidFill>
                <a:latin typeface="Calibri" pitchFamily="34" charset="0"/>
                <a:ea typeface="Calibri" pitchFamily="34" charset="-122"/>
                <a:cs typeface="Calibri" pitchFamily="34" charset="-120"/>
              </a:rPr>
              <a:t>≈12.8 lakh</a:t>
            </a:r>
            <a:endParaRPr lang="en-US" sz="2800" dirty="0"/>
          </a:p>
        </p:txBody>
      </p:sp>
      <p:sp>
        <p:nvSpPr>
          <p:cNvPr id="26" name="stat_l1"/>
          <p:cNvSpPr txBox="1"/>
          <p:nvPr/>
        </p:nvSpPr>
        <p:spPr>
          <a:xfrm>
            <a:off x="3063240" y="2103120"/>
            <a:ext cx="1920240" cy="59436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with essential tremor (single-study estimate)</a:t>
            </a:r>
            <a:endParaRPr lang="en-US" sz="1150" dirty="0"/>
          </a:p>
        </p:txBody>
      </p:sp>
      <p:sp>
        <p:nvSpPr>
          <p:cNvPr id="27" name="stat2"/>
          <p:cNvSpPr/>
          <p:nvPr/>
        </p:nvSpPr>
        <p:spPr>
          <a:xfrm>
            <a:off x="5257800" y="1417320"/>
            <a:ext cx="2240280" cy="1325880"/>
          </a:xfrm>
          <a:prstGeom prst="roundRect">
            <a:avLst>
              <a:gd name="adj" fmla="val 4828"/>
            </a:avLst>
          </a:prstGeom>
          <a:solidFill>
            <a:srgbClr val="16213A"/>
          </a:solidFill>
          <a:ln w="9525">
            <a:solidFill>
              <a:srgbClr val="2B3A5C"/>
            </a:solidFill>
            <a:prstDash val="solid"/>
          </a:ln>
        </p:spPr>
      </p:sp>
      <p:sp>
        <p:nvSpPr>
          <p:cNvPr id="28" name="stat_v2"/>
          <p:cNvSpPr txBox="1"/>
          <p:nvPr/>
        </p:nvSpPr>
        <p:spPr>
          <a:xfrm>
            <a:off x="5440680" y="1536192"/>
            <a:ext cx="1920240" cy="54864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4–12 Hz</a:t>
            </a:r>
            <a:endParaRPr lang="en-US" sz="2800" dirty="0"/>
          </a:p>
        </p:txBody>
      </p:sp>
      <p:sp>
        <p:nvSpPr>
          <p:cNvPr id="29" name="stat_l2"/>
          <p:cNvSpPr txBox="1"/>
          <p:nvPr/>
        </p:nvSpPr>
        <p:spPr>
          <a:xfrm>
            <a:off x="5440680" y="2103120"/>
            <a:ext cx="1920240" cy="59436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tremor band that turns a spoon into a spill</a:t>
            </a:r>
            <a:endParaRPr lang="en-US" sz="1150" dirty="0"/>
          </a:p>
        </p:txBody>
      </p:sp>
      <p:sp>
        <p:nvSpPr>
          <p:cNvPr id="30" name="Text 26"/>
          <p:cNvSpPr txBox="1"/>
          <p:nvPr/>
        </p:nvSpPr>
        <p:spPr>
          <a:xfrm>
            <a:off x="502920" y="2971800"/>
            <a:ext cx="5486400" cy="228600"/>
          </a:xfrm>
          <a:prstGeom prst="rect">
            <a:avLst/>
          </a:prstGeom>
          <a:noFill/>
          <a:ln/>
        </p:spPr>
        <p:txBody>
          <a:bodyPr wrap="square" lIns="0" tIns="0" rIns="0" bIns="0" rtlCol="0" anchor="t"/>
          <a:lstStyle/>
          <a:p>
            <a:pPr indent="0" marL="0">
              <a:buNone/>
            </a:pPr>
            <a:r>
              <a:rPr lang="en-US" sz="1000" b="1" spc="200" kern="0" dirty="0">
                <a:solidFill>
                  <a:srgbClr val="F59E0B"/>
                </a:solidFill>
                <a:latin typeface="Calibri" pitchFamily="34" charset="0"/>
                <a:ea typeface="Calibri" pitchFamily="34" charset="-122"/>
                <a:cs typeface="Calibri" pitchFamily="34" charset="-120"/>
              </a:rPr>
              <a:t>CUSTOMER DISCOVERY · PLACEHOLDERS</a:t>
            </a:r>
            <a:endParaRPr lang="en-US" sz="1000" dirty="0"/>
          </a:p>
        </p:txBody>
      </p:sp>
      <p:sp>
        <p:nvSpPr>
          <p:cNvPr id="31" name="quote0"/>
          <p:cNvSpPr/>
          <p:nvPr/>
        </p:nvSpPr>
        <p:spPr>
          <a:xfrm>
            <a:off x="502920" y="3291840"/>
            <a:ext cx="7086600" cy="749808"/>
          </a:xfrm>
          <a:prstGeom prst="roundRect">
            <a:avLst>
              <a:gd name="adj" fmla="val 8537"/>
            </a:avLst>
          </a:prstGeom>
          <a:solidFill>
            <a:srgbClr val="1B2847"/>
          </a:solidFill>
          <a:ln w="9525">
            <a:solidFill>
              <a:srgbClr val="F59E0B"/>
            </a:solidFill>
            <a:prstDash val="solid"/>
          </a:ln>
        </p:spPr>
      </p:sp>
      <p:sp>
        <p:nvSpPr>
          <p:cNvPr id="32" name="Text 28"/>
          <p:cNvSpPr txBox="1"/>
          <p:nvPr/>
        </p:nvSpPr>
        <p:spPr>
          <a:xfrm>
            <a:off x="731520" y="3383280"/>
            <a:ext cx="5120640" cy="54864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“[Insert verbatim quote: how movement is tracked between visits]”</a:t>
            </a:r>
            <a:endParaRPr lang="en-US" sz="1300" dirty="0"/>
          </a:p>
        </p:txBody>
      </p:sp>
      <p:sp>
        <p:nvSpPr>
          <p:cNvPr id="33" name="Text 29"/>
          <p:cNvSpPr txBox="1"/>
          <p:nvPr/>
        </p:nvSpPr>
        <p:spPr>
          <a:xfrm>
            <a:off x="5897880" y="3401568"/>
            <a:ext cx="1600200" cy="502920"/>
          </a:xfrm>
          <a:prstGeom prst="rect">
            <a:avLst/>
          </a:prstGeom>
          <a:noFill/>
          <a:ln/>
        </p:spPr>
        <p:txBody>
          <a:bodyPr wrap="square" lIns="0" tIns="0" rIns="0" bIns="0" rtlCol="0" anchor="t"/>
          <a:lstStyle/>
          <a:p>
            <a:pPr algn="r" indent="0" marL="0">
              <a:buNone/>
            </a:pPr>
            <a:r>
              <a:rPr lang="en-US" sz="1000" dirty="0">
                <a:solidFill>
                  <a:srgbClr val="94A3B8"/>
                </a:solidFill>
                <a:latin typeface="Calibri" pitchFamily="34" charset="0"/>
                <a:ea typeface="Calibri" pitchFamily="34" charset="-122"/>
                <a:cs typeface="Calibri" pitchFamily="34" charset="-120"/>
              </a:rPr>
              <a:t>— Neurologist</a:t>
            </a:r>
            <a:endParaRPr lang="en-US" sz="1000" dirty="0"/>
          </a:p>
        </p:txBody>
      </p:sp>
      <p:sp>
        <p:nvSpPr>
          <p:cNvPr id="34" name="quote1"/>
          <p:cNvSpPr/>
          <p:nvPr/>
        </p:nvSpPr>
        <p:spPr>
          <a:xfrm>
            <a:off x="502920" y="4160520"/>
            <a:ext cx="7086600" cy="749808"/>
          </a:xfrm>
          <a:prstGeom prst="roundRect">
            <a:avLst>
              <a:gd name="adj" fmla="val 8537"/>
            </a:avLst>
          </a:prstGeom>
          <a:solidFill>
            <a:srgbClr val="1B2847"/>
          </a:solidFill>
          <a:ln w="9525">
            <a:solidFill>
              <a:srgbClr val="F59E0B"/>
            </a:solidFill>
            <a:prstDash val="solid"/>
          </a:ln>
        </p:spPr>
      </p:sp>
      <p:sp>
        <p:nvSpPr>
          <p:cNvPr id="35" name="Text 31"/>
          <p:cNvSpPr txBox="1"/>
          <p:nvPr/>
        </p:nvSpPr>
        <p:spPr>
          <a:xfrm>
            <a:off x="731520" y="4251960"/>
            <a:ext cx="5120640" cy="54864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“[Insert verbatim quote: eating and daily tasks]”</a:t>
            </a:r>
            <a:endParaRPr lang="en-US" sz="1300" dirty="0"/>
          </a:p>
        </p:txBody>
      </p:sp>
      <p:sp>
        <p:nvSpPr>
          <p:cNvPr id="36" name="Text 32"/>
          <p:cNvSpPr txBox="1"/>
          <p:nvPr/>
        </p:nvSpPr>
        <p:spPr>
          <a:xfrm>
            <a:off x="5897880" y="4270248"/>
            <a:ext cx="1600200" cy="502920"/>
          </a:xfrm>
          <a:prstGeom prst="rect">
            <a:avLst/>
          </a:prstGeom>
          <a:noFill/>
          <a:ln/>
        </p:spPr>
        <p:txBody>
          <a:bodyPr wrap="square" lIns="0" tIns="0" rIns="0" bIns="0" rtlCol="0" anchor="t"/>
          <a:lstStyle/>
          <a:p>
            <a:pPr algn="r" indent="0" marL="0">
              <a:buNone/>
            </a:pPr>
            <a:r>
              <a:rPr lang="en-US" sz="1000" dirty="0">
                <a:solidFill>
                  <a:srgbClr val="94A3B8"/>
                </a:solidFill>
                <a:latin typeface="Calibri" pitchFamily="34" charset="0"/>
                <a:ea typeface="Calibri" pitchFamily="34" charset="-122"/>
                <a:cs typeface="Calibri" pitchFamily="34" charset="-120"/>
              </a:rPr>
              <a:t>— Person living with tremor</a:t>
            </a:r>
            <a:endParaRPr lang="en-US" sz="1000" dirty="0"/>
          </a:p>
        </p:txBody>
      </p:sp>
      <p:sp>
        <p:nvSpPr>
          <p:cNvPr id="37" name="quote2"/>
          <p:cNvSpPr/>
          <p:nvPr/>
        </p:nvSpPr>
        <p:spPr>
          <a:xfrm>
            <a:off x="502920" y="5029200"/>
            <a:ext cx="7086600" cy="749808"/>
          </a:xfrm>
          <a:prstGeom prst="roundRect">
            <a:avLst>
              <a:gd name="adj" fmla="val 8537"/>
            </a:avLst>
          </a:prstGeom>
          <a:solidFill>
            <a:srgbClr val="1B2847"/>
          </a:solidFill>
          <a:ln w="9525">
            <a:solidFill>
              <a:srgbClr val="F59E0B"/>
            </a:solidFill>
            <a:prstDash val="solid"/>
          </a:ln>
        </p:spPr>
      </p:sp>
      <p:sp>
        <p:nvSpPr>
          <p:cNvPr id="38" name="Text 34"/>
          <p:cNvSpPr txBox="1"/>
          <p:nvPr/>
        </p:nvSpPr>
        <p:spPr>
          <a:xfrm>
            <a:off x="731520" y="5120640"/>
            <a:ext cx="5120640" cy="54864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“[Insert verbatim quote: what they use today and would pay]”</a:t>
            </a:r>
            <a:endParaRPr lang="en-US" sz="1300" dirty="0"/>
          </a:p>
        </p:txBody>
      </p:sp>
      <p:sp>
        <p:nvSpPr>
          <p:cNvPr id="39" name="Text 35"/>
          <p:cNvSpPr txBox="1"/>
          <p:nvPr/>
        </p:nvSpPr>
        <p:spPr>
          <a:xfrm>
            <a:off x="5897880" y="5138928"/>
            <a:ext cx="1600200" cy="502920"/>
          </a:xfrm>
          <a:prstGeom prst="rect">
            <a:avLst/>
          </a:prstGeom>
          <a:noFill/>
          <a:ln/>
        </p:spPr>
        <p:txBody>
          <a:bodyPr wrap="square" lIns="0" tIns="0" rIns="0" bIns="0" rtlCol="0" anchor="t"/>
          <a:lstStyle/>
          <a:p>
            <a:pPr algn="r" indent="0" marL="0">
              <a:buNone/>
            </a:pPr>
            <a:r>
              <a:rPr lang="en-US" sz="1000" dirty="0">
                <a:solidFill>
                  <a:srgbClr val="94A3B8"/>
                </a:solidFill>
                <a:latin typeface="Calibri" pitchFamily="34" charset="0"/>
                <a:ea typeface="Calibri" pitchFamily="34" charset="-122"/>
                <a:cs typeface="Calibri" pitchFamily="34" charset="-120"/>
              </a:rPr>
              <a:t>— Caregiver</a:t>
            </a:r>
            <a:endParaRPr lang="en-US" sz="1000" dirty="0"/>
          </a:p>
        </p:txBody>
      </p:sp>
      <p:sp>
        <p:nvSpPr>
          <p:cNvPr id="40" name="Text 36"/>
          <p:cNvSpPr txBox="1"/>
          <p:nvPr/>
        </p:nvSpPr>
        <p:spPr>
          <a:xfrm>
            <a:off x="502920" y="5897880"/>
            <a:ext cx="7040880" cy="256032"/>
          </a:xfrm>
          <a:prstGeom prst="rect">
            <a:avLst/>
          </a:prstGeom>
          <a:noFill/>
          <a:ln/>
        </p:spPr>
        <p:txBody>
          <a:bodyPr wrap="square" lIns="0" tIns="0" rIns="0" bIns="0" rtlCol="0" anchor="t"/>
          <a:lstStyle/>
          <a:p>
            <a:pPr indent="0" marL="0">
              <a:buNone/>
            </a:pPr>
            <a:r>
              <a:rPr lang="en-US" sz="950" dirty="0">
                <a:solidFill>
                  <a:srgbClr val="F59E0B"/>
                </a:solidFill>
                <a:latin typeface="Calibri" pitchFamily="34" charset="0"/>
                <a:ea typeface="Calibri" pitchFamily="34" charset="-122"/>
                <a:cs typeface="Calibri" pitchFamily="34" charset="-120"/>
              </a:rPr>
              <a:t>No interviews supplied. Replace with verbatim quotes, role, date and consent.</a:t>
            </a:r>
            <a:endParaRPr lang="en-US" sz="950" dirty="0"/>
          </a:p>
        </p:txBody>
      </p:sp>
      <p:sp>
        <p:nvSpPr>
          <p:cNvPr id="41" name="Text 37"/>
          <p:cNvSpPr txBox="1"/>
          <p:nvPr/>
        </p:nvSpPr>
        <p:spPr>
          <a:xfrm>
            <a:off x="8001000" y="1417320"/>
            <a:ext cx="2743200" cy="228600"/>
          </a:xfrm>
          <a:prstGeom prst="rect">
            <a:avLst/>
          </a:prstGeom>
          <a:noFill/>
          <a:ln/>
        </p:spPr>
        <p:txBody>
          <a:bodyPr wrap="square" lIns="0" tIns="0" rIns="0" bIns="0" rtlCol="0" anchor="t"/>
          <a:lstStyle/>
          <a:p>
            <a:pPr indent="0" marL="0">
              <a:buNone/>
            </a:pPr>
            <a:r>
              <a:rPr lang="en-US" sz="1000" b="1" spc="300" kern="0" dirty="0">
                <a:solidFill>
                  <a:srgbClr val="06B6D4"/>
                </a:solidFill>
                <a:latin typeface="Calibri" pitchFamily="34" charset="0"/>
                <a:ea typeface="Calibri" pitchFamily="34" charset="-122"/>
                <a:cs typeface="Calibri" pitchFamily="34" charset="-120"/>
              </a:rPr>
              <a:t>WHY NOW</a:t>
            </a:r>
            <a:endParaRPr lang="en-US" sz="1000" dirty="0"/>
          </a:p>
        </p:txBody>
      </p:sp>
      <p:sp>
        <p:nvSpPr>
          <p:cNvPr id="42" name="wn_line"/>
          <p:cNvSpPr/>
          <p:nvPr/>
        </p:nvSpPr>
        <p:spPr>
          <a:xfrm>
            <a:off x="8101584" y="1828800"/>
            <a:ext cx="0" cy="4023360"/>
          </a:xfrm>
          <a:prstGeom prst="line">
            <a:avLst/>
          </a:prstGeom>
          <a:noFill/>
          <a:ln w="19050">
            <a:solidFill>
              <a:srgbClr val="2B3A5C"/>
            </a:solidFill>
            <a:prstDash val="solid"/>
          </a:ln>
        </p:spPr>
      </p:sp>
      <p:sp>
        <p:nvSpPr>
          <p:cNvPr id="43" name="wn_dot0"/>
          <p:cNvSpPr/>
          <p:nvPr/>
        </p:nvSpPr>
        <p:spPr>
          <a:xfrm>
            <a:off x="8010144" y="1847088"/>
            <a:ext cx="182880" cy="182880"/>
          </a:xfrm>
          <a:prstGeom prst="ellipse">
            <a:avLst/>
          </a:prstGeom>
          <a:solidFill>
            <a:srgbClr val="06B6D4"/>
          </a:solidFill>
          <a:ln w="19050">
            <a:solidFill>
              <a:srgbClr val="0F172A"/>
            </a:solidFill>
            <a:prstDash val="solid"/>
          </a:ln>
        </p:spPr>
      </p:sp>
      <p:sp>
        <p:nvSpPr>
          <p:cNvPr id="44" name="wn_t0"/>
          <p:cNvSpPr txBox="1"/>
          <p:nvPr/>
        </p:nvSpPr>
        <p:spPr>
          <a:xfrm>
            <a:off x="8366760" y="1783080"/>
            <a:ext cx="3337560" cy="749808"/>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Jun 2018</a:t>
            </a:r>
            <a:endParaRPr lang="en-US" sz="1300" dirty="0"/>
          </a:p>
          <a:p>
            <a:pPr indent="0" marL="0">
              <a:buNone/>
            </a:pPr>
            <a:r>
              <a:rPr lang="en-US" sz="1100" dirty="0">
                <a:solidFill>
                  <a:srgbClr val="CBD5E1"/>
                </a:solidFill>
                <a:latin typeface="Calibri" pitchFamily="34" charset="0"/>
                <a:ea typeface="Calibri" pitchFamily="34" charset="-122"/>
                <a:cs typeface="Calibri" pitchFamily="34" charset="-120"/>
              </a:rPr>
              <a:t>Apple opens a Movement Disorder API in ResearchKit</a:t>
            </a:r>
            <a:endParaRPr lang="en-US" sz="1300" dirty="0"/>
          </a:p>
        </p:txBody>
      </p:sp>
      <p:sp>
        <p:nvSpPr>
          <p:cNvPr id="45" name="wn_dot1"/>
          <p:cNvSpPr/>
          <p:nvPr/>
        </p:nvSpPr>
        <p:spPr>
          <a:xfrm>
            <a:off x="8010144" y="2670048"/>
            <a:ext cx="182880" cy="182880"/>
          </a:xfrm>
          <a:prstGeom prst="ellipse">
            <a:avLst/>
          </a:prstGeom>
          <a:solidFill>
            <a:srgbClr val="8B5CF6"/>
          </a:solidFill>
          <a:ln w="19050">
            <a:solidFill>
              <a:srgbClr val="0F172A"/>
            </a:solidFill>
            <a:prstDash val="solid"/>
          </a:ln>
        </p:spPr>
      </p:sp>
      <p:sp>
        <p:nvSpPr>
          <p:cNvPr id="46" name="wn_t1"/>
          <p:cNvSpPr txBox="1"/>
          <p:nvPr/>
        </p:nvSpPr>
        <p:spPr>
          <a:xfrm>
            <a:off x="8366760" y="2606040"/>
            <a:ext cx="3337560" cy="749808"/>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Jun 2022</a:t>
            </a:r>
            <a:endParaRPr lang="en-US" sz="1300" dirty="0"/>
          </a:p>
          <a:p>
            <a:pPr indent="0" marL="0">
              <a:buNone/>
            </a:pPr>
            <a:r>
              <a:rPr lang="en-US" sz="1100" dirty="0">
                <a:solidFill>
                  <a:srgbClr val="CBD5E1"/>
                </a:solidFill>
                <a:latin typeface="Calibri" pitchFamily="34" charset="0"/>
                <a:ea typeface="Calibri" pitchFamily="34" charset="-122"/>
                <a:cs typeface="Calibri" pitchFamily="34" charset="-120"/>
              </a:rPr>
              <a:t>Rune Labs' Apple Watch PD monitoring gets FDA clearance</a:t>
            </a:r>
            <a:endParaRPr lang="en-US" sz="1300" dirty="0"/>
          </a:p>
        </p:txBody>
      </p:sp>
      <p:sp>
        <p:nvSpPr>
          <p:cNvPr id="47" name="wn_dot2"/>
          <p:cNvSpPr/>
          <p:nvPr/>
        </p:nvSpPr>
        <p:spPr>
          <a:xfrm>
            <a:off x="8010144" y="3493008"/>
            <a:ext cx="182880" cy="182880"/>
          </a:xfrm>
          <a:prstGeom prst="ellipse">
            <a:avLst/>
          </a:prstGeom>
          <a:solidFill>
            <a:srgbClr val="06B6D4"/>
          </a:solidFill>
          <a:ln w="19050">
            <a:solidFill>
              <a:srgbClr val="0F172A"/>
            </a:solidFill>
            <a:prstDash val="solid"/>
          </a:ln>
        </p:spPr>
      </p:sp>
      <p:sp>
        <p:nvSpPr>
          <p:cNvPr id="48" name="wn_t2"/>
          <p:cNvSpPr txBox="1"/>
          <p:nvPr/>
        </p:nvSpPr>
        <p:spPr>
          <a:xfrm>
            <a:off x="8366760" y="3429000"/>
            <a:ext cx="3337560" cy="749808"/>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Oct 2023</a:t>
            </a:r>
            <a:endParaRPr lang="en-US" sz="1300" dirty="0"/>
          </a:p>
          <a:p>
            <a:pPr indent="0" marL="0">
              <a:buNone/>
            </a:pPr>
            <a:r>
              <a:rPr lang="en-US" sz="1100" dirty="0">
                <a:solidFill>
                  <a:srgbClr val="CBD5E1"/>
                </a:solidFill>
                <a:latin typeface="Calibri" pitchFamily="34" charset="0"/>
                <a:ea typeface="Calibri" pitchFamily="34" charset="-122"/>
                <a:cs typeface="Calibri" pitchFamily="34" charset="-120"/>
              </a:rPr>
              <a:t>Licensing becomes mandatory for medical devices in India</a:t>
            </a:r>
            <a:endParaRPr lang="en-US" sz="1300" dirty="0"/>
          </a:p>
        </p:txBody>
      </p:sp>
      <p:sp>
        <p:nvSpPr>
          <p:cNvPr id="49" name="wn_dot3"/>
          <p:cNvSpPr/>
          <p:nvPr/>
        </p:nvSpPr>
        <p:spPr>
          <a:xfrm>
            <a:off x="8010144" y="4315968"/>
            <a:ext cx="182880" cy="182880"/>
          </a:xfrm>
          <a:prstGeom prst="ellipse">
            <a:avLst/>
          </a:prstGeom>
          <a:solidFill>
            <a:srgbClr val="8B5CF6"/>
          </a:solidFill>
          <a:ln w="19050">
            <a:solidFill>
              <a:srgbClr val="0F172A"/>
            </a:solidFill>
            <a:prstDash val="solid"/>
          </a:ln>
        </p:spPr>
      </p:sp>
      <p:sp>
        <p:nvSpPr>
          <p:cNvPr id="50" name="wn_t3"/>
          <p:cNvSpPr txBox="1"/>
          <p:nvPr/>
        </p:nvSpPr>
        <p:spPr>
          <a:xfrm>
            <a:off x="8366760" y="4251960"/>
            <a:ext cx="3337560" cy="749808"/>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Sep 2023</a:t>
            </a:r>
            <a:endParaRPr lang="en-US" sz="1300" dirty="0"/>
          </a:p>
          <a:p>
            <a:pPr indent="0" marL="0">
              <a:buNone/>
            </a:pPr>
            <a:r>
              <a:rPr lang="en-US" sz="1100" dirty="0">
                <a:solidFill>
                  <a:srgbClr val="CBD5E1"/>
                </a:solidFill>
                <a:latin typeface="Calibri" pitchFamily="34" charset="0"/>
                <a:ea typeface="Calibri" pitchFamily="34" charset="-122"/>
                <a:cs typeface="Calibri" pitchFamily="34" charset="-120"/>
              </a:rPr>
              <a:t>UNFPA: India's 60+ population 149M → 347M by 2050</a:t>
            </a:r>
            <a:endParaRPr lang="en-US" sz="1300" dirty="0"/>
          </a:p>
        </p:txBody>
      </p:sp>
      <p:sp>
        <p:nvSpPr>
          <p:cNvPr id="51" name="wn_dot4"/>
          <p:cNvSpPr/>
          <p:nvPr/>
        </p:nvSpPr>
        <p:spPr>
          <a:xfrm>
            <a:off x="8010144" y="5138928"/>
            <a:ext cx="182880" cy="182880"/>
          </a:xfrm>
          <a:prstGeom prst="ellipse">
            <a:avLst/>
          </a:prstGeom>
          <a:solidFill>
            <a:srgbClr val="06B6D4"/>
          </a:solidFill>
          <a:ln w="19050">
            <a:solidFill>
              <a:srgbClr val="0F172A"/>
            </a:solidFill>
            <a:prstDash val="solid"/>
          </a:ln>
        </p:spPr>
      </p:sp>
      <p:sp>
        <p:nvSpPr>
          <p:cNvPr id="52" name="wn_t4"/>
          <p:cNvSpPr txBox="1"/>
          <p:nvPr/>
        </p:nvSpPr>
        <p:spPr>
          <a:xfrm>
            <a:off x="8366760" y="5074920"/>
            <a:ext cx="3337560" cy="749808"/>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Mar 2025</a:t>
            </a:r>
            <a:endParaRPr lang="en-US" sz="1300" dirty="0"/>
          </a:p>
          <a:p>
            <a:pPr indent="0" marL="0">
              <a:buNone/>
            </a:pPr>
            <a:r>
              <a:rPr lang="en-US" sz="1100" dirty="0">
                <a:solidFill>
                  <a:srgbClr val="CBD5E1"/>
                </a:solidFill>
                <a:latin typeface="Calibri" pitchFamily="34" charset="0"/>
                <a:ea typeface="Calibri" pitchFamily="34" charset="-122"/>
                <a:cs typeface="Calibri" pitchFamily="34" charset="-120"/>
              </a:rPr>
              <a:t>BMJ: 25.2M people with Parkinson's worldwide by 2050</a:t>
            </a:r>
            <a:endParaRPr lang="en-US" sz="1300" dirty="0"/>
          </a:p>
        </p:txBody>
      </p:sp>
      <p:sp>
        <p:nvSpPr>
          <p:cNvPr id="53" name="sources"/>
          <p:cNvSpPr txBox="1"/>
          <p:nvPr/>
        </p:nvSpPr>
        <p:spPr>
          <a:xfrm>
            <a:off x="502920" y="6199632"/>
            <a:ext cx="8778240" cy="274320"/>
          </a:xfrm>
          <a:prstGeom prst="rect">
            <a:avLst/>
          </a:prstGeom>
          <a:noFill/>
          <a:ln/>
        </p:spPr>
        <p:txBody>
          <a:bodyPr wrap="square" lIns="0" tIns="0" rIns="0" bIns="0" rtlCol="0" anchor="t"/>
          <a:lstStyle/>
          <a:p>
            <a:pPr indent="0" marL="0">
              <a:buNone/>
            </a:pPr>
            <a:r>
              <a:rPr lang="en-US" sz="850" dirty="0">
                <a:solidFill>
                  <a:srgbClr val="94A3B8"/>
                </a:solidFill>
                <a:latin typeface="Calibri" pitchFamily="34" charset="0"/>
                <a:ea typeface="Calibri" pitchFamily="34" charset="-122"/>
                <a:cs typeface="Calibri" pitchFamily="34" charset="-120"/>
              </a:rPr>
              <a:t>Sources: UNFPA 2023; Khurana &amp; Gourie-Devi, Cureus 2025; Chin et al. 2021; Engadget 2018; 9to5Mac 2022; Digital Health News; BMJ 2025. Full links in the companion guide.</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450"/>
                                        <p:tgtEl>
                                          <p:spTgt spid="21"/>
                                        </p:tgtEl>
                                      </p:cBhvr>
                                    </p:animEffect>
                                  </p:childTnLst>
                                </p:cTn>
                              </p:par>
                              <p:par>
                                <p:cTn id="8" presetID="22" presetClass="entr" presetSubtype="8"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0" dur="450"/>
                                        <p:tgtEl>
                                          <p:spTgt spid="22"/>
                                        </p:tgtEl>
                                      </p:cBhvr>
                                    </p:animEffect>
                                  </p:childTnLst>
                                </p:cTn>
                              </p:par>
                              <p:par>
                                <p:cTn id="11" presetID="22" presetClass="entr" presetSubtype="8"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wipe(left)">
                                      <p:cBhvr>
                                        <p:cTn id="13" dur="450"/>
                                        <p:tgtEl>
                                          <p:spTgt spid="2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wipe(left)">
                                      <p:cBhvr>
                                        <p:cTn id="18" dur="450"/>
                                        <p:tgtEl>
                                          <p:spTgt spid="24"/>
                                        </p:tgtEl>
                                      </p:cBhvr>
                                    </p:animEffect>
                                  </p:childTnLst>
                                </p:cTn>
                              </p:par>
                              <p:par>
                                <p:cTn id="19" presetID="22" presetClass="entr" presetSubtype="8"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wipe(left)">
                                      <p:cBhvr>
                                        <p:cTn id="21" dur="450"/>
                                        <p:tgtEl>
                                          <p:spTgt spid="25"/>
                                        </p:tgtEl>
                                      </p:cBhvr>
                                    </p:animEffect>
                                  </p:childTnLst>
                                </p:cTn>
                              </p:par>
                              <p:par>
                                <p:cTn id="22" presetID="22" presetClass="entr" presetSubtype="8" fill="hold"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wipe(left)">
                                      <p:cBhvr>
                                        <p:cTn id="24" dur="450"/>
                                        <p:tgtEl>
                                          <p:spTgt spid="2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wipe(left)">
                                      <p:cBhvr>
                                        <p:cTn id="29" dur="450"/>
                                        <p:tgtEl>
                                          <p:spTgt spid="27"/>
                                        </p:tgtEl>
                                      </p:cBhvr>
                                    </p:animEffect>
                                  </p:childTnLst>
                                </p:cTn>
                              </p:par>
                              <p:par>
                                <p:cTn id="30" presetID="22" presetClass="entr" presetSubtype="8" fill="hold"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left)">
                                      <p:cBhvr>
                                        <p:cTn id="32" dur="450"/>
                                        <p:tgtEl>
                                          <p:spTgt spid="28"/>
                                        </p:tgtEl>
                                      </p:cBhvr>
                                    </p:animEffect>
                                  </p:childTnLst>
                                </p:cTn>
                              </p:par>
                              <p:par>
                                <p:cTn id="33" presetID="22" presetClass="entr" presetSubtype="8"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wipe(left)">
                                      <p:cBhvr>
                                        <p:cTn id="35" dur="450"/>
                                        <p:tgtEl>
                                          <p:spTgt spid="2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50"/>
                                        <p:tgtEl>
                                          <p:spTgt spid="30"/>
                                        </p:tgtEl>
                                      </p:cBhvr>
                                    </p:animEffect>
                                  </p:childTnLst>
                                </p:cTn>
                              </p:par>
                            </p:childTnLst>
                          </p:cTn>
                        </p:par>
                        <p:par>
                          <p:cTn id="41" fill="hold">
                            <p:stCondLst>
                              <p:cond delay="450"/>
                            </p:stCondLst>
                            <p:childTnLst>
                              <p:par>
                                <p:cTn id="42" presetID="10" presetClass="entr" presetSubtype="0" fill="hold" nodeType="after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fade">
                                      <p:cBhvr>
                                        <p:cTn id="44" dur="450"/>
                                        <p:tgtEl>
                                          <p:spTgt spid="31"/>
                                        </p:tgtEl>
                                      </p:cBhvr>
                                    </p:animEffect>
                                  </p:childTnLst>
                                </p:cTn>
                              </p:par>
                              <p:par>
                                <p:cTn id="45" presetID="10" presetClass="entr" presetSubtype="0"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450"/>
                                        <p:tgtEl>
                                          <p:spTgt spid="32"/>
                                        </p:tgtEl>
                                      </p:cBhvr>
                                    </p:animEffect>
                                  </p:childTnLst>
                                </p:cTn>
                              </p:par>
                              <p:par>
                                <p:cTn id="48" presetID="10" presetClass="entr" presetSubtype="0" fill="hold" nodeType="with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fade">
                                      <p:cBhvr>
                                        <p:cTn id="50" dur="450"/>
                                        <p:tgtEl>
                                          <p:spTgt spid="33"/>
                                        </p:tgtEl>
                                      </p:cBhvr>
                                    </p:animEffect>
                                  </p:childTnLst>
                                </p:cTn>
                              </p:par>
                            </p:childTnLst>
                          </p:cTn>
                        </p:par>
                        <p:par>
                          <p:cTn id="51" fill="hold">
                            <p:stCondLst>
                              <p:cond delay="750"/>
                            </p:stCondLst>
                            <p:childTnLst>
                              <p:par>
                                <p:cTn id="52" presetID="10" presetClass="entr" presetSubtype="0" fill="hold" nodeType="after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450"/>
                                        <p:tgtEl>
                                          <p:spTgt spid="34"/>
                                        </p:tgtEl>
                                      </p:cBhvr>
                                    </p:animEffect>
                                  </p:childTnLst>
                                </p:cTn>
                              </p:par>
                              <p:par>
                                <p:cTn id="55" presetID="10" presetClass="entr" presetSubtype="0" fill="hold" nodeType="with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fade">
                                      <p:cBhvr>
                                        <p:cTn id="57" dur="450"/>
                                        <p:tgtEl>
                                          <p:spTgt spid="35"/>
                                        </p:tgtEl>
                                      </p:cBhvr>
                                    </p:animEffect>
                                  </p:childTnLst>
                                </p:cTn>
                              </p:par>
                              <p:par>
                                <p:cTn id="58" presetID="10" presetClass="entr" presetSubtype="0" fill="hold" nodeType="with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450"/>
                                        <p:tgtEl>
                                          <p:spTgt spid="36"/>
                                        </p:tgtEl>
                                      </p:cBhvr>
                                    </p:animEffect>
                                  </p:childTnLst>
                                </p:cTn>
                              </p:par>
                            </p:childTnLst>
                          </p:cTn>
                        </p:par>
                        <p:par>
                          <p:cTn id="61" fill="hold">
                            <p:stCondLst>
                              <p:cond delay="1050"/>
                            </p:stCondLst>
                            <p:childTnLst>
                              <p:par>
                                <p:cTn id="62" presetID="10" presetClass="entr" presetSubtype="0" fill="hold" nodeType="afterEffect">
                                  <p:stCondLst>
                                    <p:cond delay="0"/>
                                  </p:stCondLst>
                                  <p:childTnLst>
                                    <p:set>
                                      <p:cBhvr>
                                        <p:cTn id="63" dur="1" fill="hold">
                                          <p:stCondLst>
                                            <p:cond delay="0"/>
                                          </p:stCondLst>
                                        </p:cTn>
                                        <p:tgtEl>
                                          <p:spTgt spid="37"/>
                                        </p:tgtEl>
                                        <p:attrNameLst>
                                          <p:attrName>style.visibility</p:attrName>
                                        </p:attrNameLst>
                                      </p:cBhvr>
                                      <p:to>
                                        <p:strVal val="visible"/>
                                      </p:to>
                                    </p:set>
                                    <p:animEffect transition="in" filter="fade">
                                      <p:cBhvr>
                                        <p:cTn id="64" dur="450"/>
                                        <p:tgtEl>
                                          <p:spTgt spid="37"/>
                                        </p:tgtEl>
                                      </p:cBhvr>
                                    </p:animEffect>
                                  </p:childTnLst>
                                </p:cTn>
                              </p:par>
                              <p:par>
                                <p:cTn id="65" presetID="10" presetClass="entr" presetSubtype="0" fill="hold" nodeType="withEffect">
                                  <p:stCondLst>
                                    <p:cond delay="0"/>
                                  </p:stCondLst>
                                  <p:childTnLst>
                                    <p:set>
                                      <p:cBhvr>
                                        <p:cTn id="66" dur="1" fill="hold">
                                          <p:stCondLst>
                                            <p:cond delay="0"/>
                                          </p:stCondLst>
                                        </p:cTn>
                                        <p:tgtEl>
                                          <p:spTgt spid="38"/>
                                        </p:tgtEl>
                                        <p:attrNameLst>
                                          <p:attrName>style.visibility</p:attrName>
                                        </p:attrNameLst>
                                      </p:cBhvr>
                                      <p:to>
                                        <p:strVal val="visible"/>
                                      </p:to>
                                    </p:set>
                                    <p:animEffect transition="in" filter="fade">
                                      <p:cBhvr>
                                        <p:cTn id="67" dur="450"/>
                                        <p:tgtEl>
                                          <p:spTgt spid="38"/>
                                        </p:tgtEl>
                                      </p:cBhvr>
                                    </p:animEffect>
                                  </p:childTnLst>
                                </p:cTn>
                              </p:par>
                              <p:par>
                                <p:cTn id="68" presetID="10" presetClass="entr" presetSubtype="0" fill="hold" nodeType="withEffect">
                                  <p:stCondLst>
                                    <p:cond delay="0"/>
                                  </p:stCondLst>
                                  <p:childTnLst>
                                    <p:set>
                                      <p:cBhvr>
                                        <p:cTn id="69" dur="1" fill="hold">
                                          <p:stCondLst>
                                            <p:cond delay="0"/>
                                          </p:stCondLst>
                                        </p:cTn>
                                        <p:tgtEl>
                                          <p:spTgt spid="39"/>
                                        </p:tgtEl>
                                        <p:attrNameLst>
                                          <p:attrName>style.visibility</p:attrName>
                                        </p:attrNameLst>
                                      </p:cBhvr>
                                      <p:to>
                                        <p:strVal val="visible"/>
                                      </p:to>
                                    </p:set>
                                    <p:animEffect transition="in" filter="fade">
                                      <p:cBhvr>
                                        <p:cTn id="70" dur="450"/>
                                        <p:tgtEl>
                                          <p:spTgt spid="39"/>
                                        </p:tgtEl>
                                      </p:cBhvr>
                                    </p:animEffect>
                                  </p:childTnLst>
                                </p:cTn>
                              </p:par>
                            </p:childTnLst>
                          </p:cTn>
                        </p:par>
                        <p:par>
                          <p:cTn id="71" fill="hold">
                            <p:stCondLst>
                              <p:cond delay="1350"/>
                            </p:stCondLst>
                            <p:childTnLst>
                              <p:par>
                                <p:cTn id="72" presetID="10" presetClass="entr" presetSubtype="0" fill="hold" nodeType="afterEffect">
                                  <p:stCondLst>
                                    <p:cond delay="0"/>
                                  </p:stCondLst>
                                  <p:childTnLst>
                                    <p:set>
                                      <p:cBhvr>
                                        <p:cTn id="73" dur="1" fill="hold">
                                          <p:stCondLst>
                                            <p:cond delay="0"/>
                                          </p:stCondLst>
                                        </p:cTn>
                                        <p:tgtEl>
                                          <p:spTgt spid="40"/>
                                        </p:tgtEl>
                                        <p:attrNameLst>
                                          <p:attrName>style.visibility</p:attrName>
                                        </p:attrNameLst>
                                      </p:cBhvr>
                                      <p:to>
                                        <p:strVal val="visible"/>
                                      </p:to>
                                    </p:set>
                                    <p:animEffect transition="in" filter="fade">
                                      <p:cBhvr>
                                        <p:cTn id="74" dur="450"/>
                                        <p:tgtEl>
                                          <p:spTgt spid="40"/>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41"/>
                                        </p:tgtEl>
                                        <p:attrNameLst>
                                          <p:attrName>style.visibility</p:attrName>
                                        </p:attrNameLst>
                                      </p:cBhvr>
                                      <p:to>
                                        <p:strVal val="visible"/>
                                      </p:to>
                                    </p:set>
                                    <p:animEffect transition="in" filter="fade">
                                      <p:cBhvr>
                                        <p:cTn id="79" dur="450"/>
                                        <p:tgtEl>
                                          <p:spTgt spid="41"/>
                                        </p:tgtEl>
                                      </p:cBhvr>
                                    </p:animEffect>
                                  </p:childTnLst>
                                </p:cTn>
                              </p:par>
                            </p:childTnLst>
                          </p:cTn>
                        </p:par>
                        <p:par>
                          <p:cTn id="80" fill="hold">
                            <p:stCondLst>
                              <p:cond delay="450"/>
                            </p:stCondLst>
                            <p:childTnLst>
                              <p:par>
                                <p:cTn id="81" presetID="10" presetClass="entr" presetSubtype="0" fill="hold" nodeType="after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fade">
                                      <p:cBhvr>
                                        <p:cTn id="83" dur="450"/>
                                        <p:tgtEl>
                                          <p:spTgt spid="42"/>
                                        </p:tgtEl>
                                      </p:cBhvr>
                                    </p:animEffect>
                                  </p:childTnLst>
                                </p:cTn>
                              </p:par>
                              <p:par>
                                <p:cTn id="84" presetID="10" presetClass="entr" presetSubtype="0" fill="hold" nodeType="withEffect">
                                  <p:stCondLst>
                                    <p:cond delay="0"/>
                                  </p:stCondLst>
                                  <p:childTnLst>
                                    <p:set>
                                      <p:cBhvr>
                                        <p:cTn id="85" dur="1" fill="hold">
                                          <p:stCondLst>
                                            <p:cond delay="0"/>
                                          </p:stCondLst>
                                        </p:cTn>
                                        <p:tgtEl>
                                          <p:spTgt spid="43"/>
                                        </p:tgtEl>
                                        <p:attrNameLst>
                                          <p:attrName>style.visibility</p:attrName>
                                        </p:attrNameLst>
                                      </p:cBhvr>
                                      <p:to>
                                        <p:strVal val="visible"/>
                                      </p:to>
                                    </p:set>
                                    <p:animEffect transition="in" filter="fade">
                                      <p:cBhvr>
                                        <p:cTn id="86" dur="450"/>
                                        <p:tgtEl>
                                          <p:spTgt spid="43"/>
                                        </p:tgtEl>
                                      </p:cBhvr>
                                    </p:animEffect>
                                  </p:childTnLst>
                                </p:cTn>
                              </p:par>
                              <p:par>
                                <p:cTn id="87" presetID="10" presetClass="entr" presetSubtype="0" fill="hold" nodeType="withEffect">
                                  <p:stCondLst>
                                    <p:cond delay="0"/>
                                  </p:stCondLst>
                                  <p:childTnLst>
                                    <p:set>
                                      <p:cBhvr>
                                        <p:cTn id="88" dur="1" fill="hold">
                                          <p:stCondLst>
                                            <p:cond delay="0"/>
                                          </p:stCondLst>
                                        </p:cTn>
                                        <p:tgtEl>
                                          <p:spTgt spid="45"/>
                                        </p:tgtEl>
                                        <p:attrNameLst>
                                          <p:attrName>style.visibility</p:attrName>
                                        </p:attrNameLst>
                                      </p:cBhvr>
                                      <p:to>
                                        <p:strVal val="visible"/>
                                      </p:to>
                                    </p:set>
                                    <p:animEffect transition="in" filter="fade">
                                      <p:cBhvr>
                                        <p:cTn id="89" dur="450"/>
                                        <p:tgtEl>
                                          <p:spTgt spid="45"/>
                                        </p:tgtEl>
                                      </p:cBhvr>
                                    </p:animEffect>
                                  </p:childTnLst>
                                </p:cTn>
                              </p:par>
                              <p:par>
                                <p:cTn id="90" presetID="10" presetClass="entr" presetSubtype="0" fill="hold" nodeType="withEffect">
                                  <p:stCondLst>
                                    <p:cond delay="0"/>
                                  </p:stCondLst>
                                  <p:childTnLst>
                                    <p:set>
                                      <p:cBhvr>
                                        <p:cTn id="91" dur="1" fill="hold">
                                          <p:stCondLst>
                                            <p:cond delay="0"/>
                                          </p:stCondLst>
                                        </p:cTn>
                                        <p:tgtEl>
                                          <p:spTgt spid="47"/>
                                        </p:tgtEl>
                                        <p:attrNameLst>
                                          <p:attrName>style.visibility</p:attrName>
                                        </p:attrNameLst>
                                      </p:cBhvr>
                                      <p:to>
                                        <p:strVal val="visible"/>
                                      </p:to>
                                    </p:set>
                                    <p:animEffect transition="in" filter="fade">
                                      <p:cBhvr>
                                        <p:cTn id="92" dur="450"/>
                                        <p:tgtEl>
                                          <p:spTgt spid="47"/>
                                        </p:tgtEl>
                                      </p:cBhvr>
                                    </p:animEffect>
                                  </p:childTnLst>
                                </p:cTn>
                              </p:par>
                              <p:par>
                                <p:cTn id="93" presetID="10" presetClass="entr" presetSubtype="0" fill="hold" nodeType="withEffect">
                                  <p:stCondLst>
                                    <p:cond delay="0"/>
                                  </p:stCondLst>
                                  <p:childTnLst>
                                    <p:set>
                                      <p:cBhvr>
                                        <p:cTn id="94" dur="1" fill="hold">
                                          <p:stCondLst>
                                            <p:cond delay="0"/>
                                          </p:stCondLst>
                                        </p:cTn>
                                        <p:tgtEl>
                                          <p:spTgt spid="49"/>
                                        </p:tgtEl>
                                        <p:attrNameLst>
                                          <p:attrName>style.visibility</p:attrName>
                                        </p:attrNameLst>
                                      </p:cBhvr>
                                      <p:to>
                                        <p:strVal val="visible"/>
                                      </p:to>
                                    </p:set>
                                    <p:animEffect transition="in" filter="fade">
                                      <p:cBhvr>
                                        <p:cTn id="95" dur="450"/>
                                        <p:tgtEl>
                                          <p:spTgt spid="49"/>
                                        </p:tgtEl>
                                      </p:cBhvr>
                                    </p:animEffect>
                                  </p:childTnLst>
                                </p:cTn>
                              </p:par>
                              <p:par>
                                <p:cTn id="96" presetID="10" presetClass="entr" presetSubtype="0" fill="hold" nodeType="withEffect">
                                  <p:stCondLst>
                                    <p:cond delay="0"/>
                                  </p:stCondLst>
                                  <p:childTnLst>
                                    <p:set>
                                      <p:cBhvr>
                                        <p:cTn id="97" dur="1" fill="hold">
                                          <p:stCondLst>
                                            <p:cond delay="0"/>
                                          </p:stCondLst>
                                        </p:cTn>
                                        <p:tgtEl>
                                          <p:spTgt spid="51"/>
                                        </p:tgtEl>
                                        <p:attrNameLst>
                                          <p:attrName>style.visibility</p:attrName>
                                        </p:attrNameLst>
                                      </p:cBhvr>
                                      <p:to>
                                        <p:strVal val="visible"/>
                                      </p:to>
                                    </p:set>
                                    <p:animEffect transition="in" filter="fade">
                                      <p:cBhvr>
                                        <p:cTn id="98" dur="450"/>
                                        <p:tgtEl>
                                          <p:spTgt spid="51"/>
                                        </p:tgtEl>
                                      </p:cBhvr>
                                    </p:animEffect>
                                  </p:childTnLst>
                                </p:cTn>
                              </p:par>
                            </p:childTnLst>
                          </p:cTn>
                        </p:par>
                        <p:par>
                          <p:cTn id="99" fill="hold">
                            <p:stCondLst>
                              <p:cond delay="750"/>
                            </p:stCondLst>
                            <p:childTnLst>
                              <p:par>
                                <p:cTn id="100" presetID="22" presetClass="entr" presetSubtype="8" fill="hold" nodeType="afterEffect">
                                  <p:stCondLst>
                                    <p:cond delay="0"/>
                                  </p:stCondLst>
                                  <p:childTnLst>
                                    <p:set>
                                      <p:cBhvr>
                                        <p:cTn id="101" dur="1" fill="hold">
                                          <p:stCondLst>
                                            <p:cond delay="0"/>
                                          </p:stCondLst>
                                        </p:cTn>
                                        <p:tgtEl>
                                          <p:spTgt spid="44"/>
                                        </p:tgtEl>
                                        <p:attrNameLst>
                                          <p:attrName>style.visibility</p:attrName>
                                        </p:attrNameLst>
                                      </p:cBhvr>
                                      <p:to>
                                        <p:strVal val="visible"/>
                                      </p:to>
                                    </p:set>
                                    <p:animEffect transition="in" filter="wipe(left)">
                                      <p:cBhvr>
                                        <p:cTn id="102" dur="450"/>
                                        <p:tgtEl>
                                          <p:spTgt spid="44"/>
                                        </p:tgtEl>
                                      </p:cBhvr>
                                    </p:animEffect>
                                  </p:childTnLst>
                                </p:cTn>
                              </p:par>
                            </p:childTnLst>
                          </p:cTn>
                        </p:par>
                        <p:par>
                          <p:cTn id="103" fill="hold">
                            <p:stCondLst>
                              <p:cond delay="1050"/>
                            </p:stCondLst>
                            <p:childTnLst>
                              <p:par>
                                <p:cTn id="104" presetID="22" presetClass="entr" presetSubtype="8" fill="hold" nodeType="afterEffect">
                                  <p:stCondLst>
                                    <p:cond delay="0"/>
                                  </p:stCondLst>
                                  <p:childTnLst>
                                    <p:set>
                                      <p:cBhvr>
                                        <p:cTn id="105" dur="1" fill="hold">
                                          <p:stCondLst>
                                            <p:cond delay="0"/>
                                          </p:stCondLst>
                                        </p:cTn>
                                        <p:tgtEl>
                                          <p:spTgt spid="46"/>
                                        </p:tgtEl>
                                        <p:attrNameLst>
                                          <p:attrName>style.visibility</p:attrName>
                                        </p:attrNameLst>
                                      </p:cBhvr>
                                      <p:to>
                                        <p:strVal val="visible"/>
                                      </p:to>
                                    </p:set>
                                    <p:animEffect transition="in" filter="wipe(left)">
                                      <p:cBhvr>
                                        <p:cTn id="106" dur="450"/>
                                        <p:tgtEl>
                                          <p:spTgt spid="46"/>
                                        </p:tgtEl>
                                      </p:cBhvr>
                                    </p:animEffect>
                                  </p:childTnLst>
                                </p:cTn>
                              </p:par>
                            </p:childTnLst>
                          </p:cTn>
                        </p:par>
                        <p:par>
                          <p:cTn id="107" fill="hold">
                            <p:stCondLst>
                              <p:cond delay="1350"/>
                            </p:stCondLst>
                            <p:childTnLst>
                              <p:par>
                                <p:cTn id="108" presetID="22" presetClass="entr" presetSubtype="8" fill="hold" nodeType="afterEffect">
                                  <p:stCondLst>
                                    <p:cond delay="0"/>
                                  </p:stCondLst>
                                  <p:childTnLst>
                                    <p:set>
                                      <p:cBhvr>
                                        <p:cTn id="109" dur="1" fill="hold">
                                          <p:stCondLst>
                                            <p:cond delay="0"/>
                                          </p:stCondLst>
                                        </p:cTn>
                                        <p:tgtEl>
                                          <p:spTgt spid="48"/>
                                        </p:tgtEl>
                                        <p:attrNameLst>
                                          <p:attrName>style.visibility</p:attrName>
                                        </p:attrNameLst>
                                      </p:cBhvr>
                                      <p:to>
                                        <p:strVal val="visible"/>
                                      </p:to>
                                    </p:set>
                                    <p:animEffect transition="in" filter="wipe(left)">
                                      <p:cBhvr>
                                        <p:cTn id="110" dur="450"/>
                                        <p:tgtEl>
                                          <p:spTgt spid="48"/>
                                        </p:tgtEl>
                                      </p:cBhvr>
                                    </p:animEffect>
                                  </p:childTnLst>
                                </p:cTn>
                              </p:par>
                            </p:childTnLst>
                          </p:cTn>
                        </p:par>
                        <p:par>
                          <p:cTn id="111" fill="hold">
                            <p:stCondLst>
                              <p:cond delay="1650"/>
                            </p:stCondLst>
                            <p:childTnLst>
                              <p:par>
                                <p:cTn id="112" presetID="22" presetClass="entr" presetSubtype="8" fill="hold" nodeType="afterEffect">
                                  <p:stCondLst>
                                    <p:cond delay="0"/>
                                  </p:stCondLst>
                                  <p:childTnLst>
                                    <p:set>
                                      <p:cBhvr>
                                        <p:cTn id="113" dur="1" fill="hold">
                                          <p:stCondLst>
                                            <p:cond delay="0"/>
                                          </p:stCondLst>
                                        </p:cTn>
                                        <p:tgtEl>
                                          <p:spTgt spid="50"/>
                                        </p:tgtEl>
                                        <p:attrNameLst>
                                          <p:attrName>style.visibility</p:attrName>
                                        </p:attrNameLst>
                                      </p:cBhvr>
                                      <p:to>
                                        <p:strVal val="visible"/>
                                      </p:to>
                                    </p:set>
                                    <p:animEffect transition="in" filter="wipe(left)">
                                      <p:cBhvr>
                                        <p:cTn id="114" dur="450"/>
                                        <p:tgtEl>
                                          <p:spTgt spid="50"/>
                                        </p:tgtEl>
                                      </p:cBhvr>
                                    </p:animEffect>
                                  </p:childTnLst>
                                </p:cTn>
                              </p:par>
                            </p:childTnLst>
                          </p:cTn>
                        </p:par>
                        <p:par>
                          <p:cTn id="115" fill="hold">
                            <p:stCondLst>
                              <p:cond delay="1950"/>
                            </p:stCondLst>
                            <p:childTnLst>
                              <p:par>
                                <p:cTn id="116" presetID="22" presetClass="entr" presetSubtype="8" fill="hold" nodeType="afterEffect">
                                  <p:stCondLst>
                                    <p:cond delay="0"/>
                                  </p:stCondLst>
                                  <p:childTnLst>
                                    <p:set>
                                      <p:cBhvr>
                                        <p:cTn id="117" dur="1" fill="hold">
                                          <p:stCondLst>
                                            <p:cond delay="0"/>
                                          </p:stCondLst>
                                        </p:cTn>
                                        <p:tgtEl>
                                          <p:spTgt spid="52"/>
                                        </p:tgtEl>
                                        <p:attrNameLst>
                                          <p:attrName>style.visibility</p:attrName>
                                        </p:attrNameLst>
                                      </p:cBhvr>
                                      <p:to>
                                        <p:strVal val="visible"/>
                                      </p:to>
                                    </p:set>
                                    <p:animEffect transition="in" filter="wipe(left)">
                                      <p:cBhvr>
                                        <p:cTn id="118" dur="45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5" grpId="0" animBg="1"/>
      <p:bldP spid="47" grpId="0" animBg="1"/>
      <p:bldP spid="49" grpId="0" animBg="1"/>
      <p:bldP spid="51" grpId="0" animBg="1"/>
      <p:bldP spid="44" grpId="0" animBg="1"/>
      <p:bldP spid="46" grpId="0" animBg="1"/>
      <p:bldP spid="48" grpId="0" animBg="1"/>
      <p:bldP spid="50" grpId="0" animBg="1"/>
      <p:bldP spid="5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kicker"/>
          <p:cNvSpPr txBox="1"/>
          <p:nvPr/>
        </p:nvSpPr>
        <p:spPr>
          <a:xfrm>
            <a:off x="502920" y="274320"/>
            <a:ext cx="7315200" cy="256032"/>
          </a:xfrm>
          <a:prstGeom prst="rect">
            <a:avLst/>
          </a:prstGeom>
          <a:noFill/>
          <a:ln/>
        </p:spPr>
        <p:txBody>
          <a:bodyPr wrap="square" lIns="0" tIns="0" rIns="0" bIns="0" rtlCol="0" anchor="t"/>
          <a:lstStyle/>
          <a:p>
            <a:pPr indent="0" marL="0">
              <a:buNone/>
            </a:pPr>
            <a:r>
              <a:rPr lang="en-US" sz="1100" b="1" spc="300" kern="0" dirty="0">
                <a:solidFill>
                  <a:srgbClr val="06B6D4"/>
                </a:solidFill>
                <a:latin typeface="Calibri" pitchFamily="34" charset="0"/>
                <a:ea typeface="Calibri" pitchFamily="34" charset="-122"/>
                <a:cs typeface="Calibri" pitchFamily="34" charset="-120"/>
              </a:rPr>
              <a:t>02 · ONE COMPANY, TWO PRODUCTS</a:t>
            </a:r>
            <a:endParaRPr lang="en-US" sz="1100" dirty="0"/>
          </a:p>
        </p:txBody>
      </p:sp>
      <p:sp>
        <p:nvSpPr>
          <p:cNvPr id="3" name="!!title"/>
          <p:cNvSpPr txBox="1"/>
          <p:nvPr/>
        </p:nvSpPr>
        <p:spPr>
          <a:xfrm>
            <a:off x="502920" y="530352"/>
            <a:ext cx="10241280" cy="64008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Shared engineering, different customers</a:t>
            </a:r>
            <a:endParaRPr lang="en-US" sz="2800" dirty="0"/>
          </a:p>
        </p:txBody>
      </p:sp>
      <p:pic>
        <p:nvPicPr>
          <p:cNvPr id="4" name="!!mark" descr="../public/brand/averra-mark-white.png">    </p:cNvPr>
          <p:cNvPicPr>
            <a:picLocks noChangeAspect="1"/>
          </p:cNvPicPr>
          <p:nvPr/>
        </p:nvPicPr>
        <p:blipFill>
          <a:blip r:embed="rId1"/>
          <a:stretch>
            <a:fillRect/>
          </a:stretch>
        </p:blipFill>
        <p:spPr>
          <a:xfrm>
            <a:off x="11201400" y="292608"/>
            <a:ext cx="502920" cy="502920"/>
          </a:xfrm>
          <a:prstGeom prst="rect">
            <a:avLst/>
          </a:prstGeom>
        </p:spPr>
      </p:pic>
      <p:sp>
        <p:nvSpPr>
          <p:cNvPr id="5" name="!!dot1"/>
          <p:cNvSpPr/>
          <p:nvPr/>
        </p:nvSpPr>
        <p:spPr>
          <a:xfrm>
            <a:off x="9692640" y="6510528"/>
            <a:ext cx="54864" cy="54864"/>
          </a:xfrm>
          <a:prstGeom prst="ellipse">
            <a:avLst/>
          </a:prstGeom>
          <a:solidFill>
            <a:srgbClr val="2B3A5C"/>
          </a:solidFill>
          <a:ln w="12700">
            <a:solidFill>
              <a:srgbClr val="2B3A5C"/>
            </a:solidFill>
            <a:prstDash val="solid"/>
          </a:ln>
        </p:spPr>
      </p:sp>
      <p:sp>
        <p:nvSpPr>
          <p:cNvPr id="6" name="!!dot2"/>
          <p:cNvSpPr/>
          <p:nvPr/>
        </p:nvSpPr>
        <p:spPr>
          <a:xfrm>
            <a:off x="9838944" y="6510528"/>
            <a:ext cx="54864" cy="54864"/>
          </a:xfrm>
          <a:prstGeom prst="ellipse">
            <a:avLst/>
          </a:prstGeom>
          <a:solidFill>
            <a:srgbClr val="2B3A5C"/>
          </a:solidFill>
          <a:ln w="12700">
            <a:solidFill>
              <a:srgbClr val="2B3A5C"/>
            </a:solidFill>
            <a:prstDash val="solid"/>
          </a:ln>
        </p:spPr>
      </p:sp>
      <p:sp>
        <p:nvSpPr>
          <p:cNvPr id="7" name="!!dot3"/>
          <p:cNvSpPr/>
          <p:nvPr/>
        </p:nvSpPr>
        <p:spPr>
          <a:xfrm>
            <a:off x="9985248" y="6510528"/>
            <a:ext cx="100584" cy="100584"/>
          </a:xfrm>
          <a:prstGeom prst="ellipse">
            <a:avLst/>
          </a:prstGeom>
          <a:solidFill>
            <a:srgbClr val="06B6D4"/>
          </a:solidFill>
          <a:ln w="12700">
            <a:solidFill>
              <a:srgbClr val="06B6D4"/>
            </a:solidFill>
            <a:prstDash val="solid"/>
          </a:ln>
        </p:spPr>
      </p:sp>
      <p:sp>
        <p:nvSpPr>
          <p:cNvPr id="8" name="!!dot4"/>
          <p:cNvSpPr/>
          <p:nvPr/>
        </p:nvSpPr>
        <p:spPr>
          <a:xfrm>
            <a:off x="10131552" y="6510528"/>
            <a:ext cx="54864" cy="54864"/>
          </a:xfrm>
          <a:prstGeom prst="ellipse">
            <a:avLst/>
          </a:prstGeom>
          <a:solidFill>
            <a:srgbClr val="2B3A5C"/>
          </a:solidFill>
          <a:ln w="12700">
            <a:solidFill>
              <a:srgbClr val="2B3A5C"/>
            </a:solidFill>
            <a:prstDash val="solid"/>
          </a:ln>
        </p:spPr>
      </p:sp>
      <p:sp>
        <p:nvSpPr>
          <p:cNvPr id="9" name="!!dot5"/>
          <p:cNvSpPr/>
          <p:nvPr/>
        </p:nvSpPr>
        <p:spPr>
          <a:xfrm>
            <a:off x="10277856" y="6510528"/>
            <a:ext cx="54864" cy="54864"/>
          </a:xfrm>
          <a:prstGeom prst="ellipse">
            <a:avLst/>
          </a:prstGeom>
          <a:solidFill>
            <a:srgbClr val="2B3A5C"/>
          </a:solidFill>
          <a:ln w="12700">
            <a:solidFill>
              <a:srgbClr val="2B3A5C"/>
            </a:solidFill>
            <a:prstDash val="solid"/>
          </a:ln>
        </p:spPr>
      </p:sp>
      <p:sp>
        <p:nvSpPr>
          <p:cNvPr id="10" name="!!dot6"/>
          <p:cNvSpPr/>
          <p:nvPr/>
        </p:nvSpPr>
        <p:spPr>
          <a:xfrm>
            <a:off x="10424160" y="6510528"/>
            <a:ext cx="54864" cy="54864"/>
          </a:xfrm>
          <a:prstGeom prst="ellipse">
            <a:avLst/>
          </a:prstGeom>
          <a:solidFill>
            <a:srgbClr val="2B3A5C"/>
          </a:solidFill>
          <a:ln w="12700">
            <a:solidFill>
              <a:srgbClr val="2B3A5C"/>
            </a:solidFill>
            <a:prstDash val="solid"/>
          </a:ln>
        </p:spPr>
      </p:sp>
      <p:sp>
        <p:nvSpPr>
          <p:cNvPr id="11" name="!!dot7"/>
          <p:cNvSpPr/>
          <p:nvPr/>
        </p:nvSpPr>
        <p:spPr>
          <a:xfrm>
            <a:off x="10570464" y="6510528"/>
            <a:ext cx="54864" cy="54864"/>
          </a:xfrm>
          <a:prstGeom prst="ellipse">
            <a:avLst/>
          </a:prstGeom>
          <a:solidFill>
            <a:srgbClr val="2B3A5C"/>
          </a:solidFill>
          <a:ln w="12700">
            <a:solidFill>
              <a:srgbClr val="2B3A5C"/>
            </a:solidFill>
            <a:prstDash val="solid"/>
          </a:ln>
        </p:spPr>
      </p:sp>
      <p:sp>
        <p:nvSpPr>
          <p:cNvPr id="12" name="!!dot8"/>
          <p:cNvSpPr/>
          <p:nvPr/>
        </p:nvSpPr>
        <p:spPr>
          <a:xfrm>
            <a:off x="10716768" y="6510528"/>
            <a:ext cx="54864" cy="54864"/>
          </a:xfrm>
          <a:prstGeom prst="ellipse">
            <a:avLst/>
          </a:prstGeom>
          <a:solidFill>
            <a:srgbClr val="2B3A5C"/>
          </a:solidFill>
          <a:ln w="12700">
            <a:solidFill>
              <a:srgbClr val="2B3A5C"/>
            </a:solidFill>
            <a:prstDash val="solid"/>
          </a:ln>
        </p:spPr>
      </p:sp>
      <p:sp>
        <p:nvSpPr>
          <p:cNvPr id="13" name="!!dot9"/>
          <p:cNvSpPr/>
          <p:nvPr/>
        </p:nvSpPr>
        <p:spPr>
          <a:xfrm>
            <a:off x="10863072" y="6510528"/>
            <a:ext cx="54864" cy="54864"/>
          </a:xfrm>
          <a:prstGeom prst="ellipse">
            <a:avLst/>
          </a:prstGeom>
          <a:solidFill>
            <a:srgbClr val="2B3A5C"/>
          </a:solidFill>
          <a:ln w="12700">
            <a:solidFill>
              <a:srgbClr val="2B3A5C"/>
            </a:solidFill>
            <a:prstDash val="solid"/>
          </a:ln>
        </p:spPr>
      </p:sp>
      <p:sp>
        <p:nvSpPr>
          <p:cNvPr id="14" name="!!dot10"/>
          <p:cNvSpPr/>
          <p:nvPr/>
        </p:nvSpPr>
        <p:spPr>
          <a:xfrm>
            <a:off x="11009376" y="6510528"/>
            <a:ext cx="54864" cy="54864"/>
          </a:xfrm>
          <a:prstGeom prst="ellipse">
            <a:avLst/>
          </a:prstGeom>
          <a:solidFill>
            <a:srgbClr val="2B3A5C"/>
          </a:solidFill>
          <a:ln w="12700">
            <a:solidFill>
              <a:srgbClr val="2B3A5C"/>
            </a:solidFill>
            <a:prstDash val="solid"/>
          </a:ln>
        </p:spPr>
      </p:sp>
      <p:sp>
        <p:nvSpPr>
          <p:cNvPr id="15" name="!!dot11"/>
          <p:cNvSpPr/>
          <p:nvPr/>
        </p:nvSpPr>
        <p:spPr>
          <a:xfrm>
            <a:off x="11155680" y="6510528"/>
            <a:ext cx="54864" cy="54864"/>
          </a:xfrm>
          <a:prstGeom prst="ellipse">
            <a:avLst/>
          </a:prstGeom>
          <a:solidFill>
            <a:srgbClr val="2B3A5C"/>
          </a:solidFill>
          <a:ln w="12700">
            <a:solidFill>
              <a:srgbClr val="2B3A5C"/>
            </a:solidFill>
            <a:prstDash val="solid"/>
          </a:ln>
        </p:spPr>
      </p:sp>
      <p:sp>
        <p:nvSpPr>
          <p:cNvPr id="16" name="!!dot12"/>
          <p:cNvSpPr/>
          <p:nvPr/>
        </p:nvSpPr>
        <p:spPr>
          <a:xfrm>
            <a:off x="11301984" y="6510528"/>
            <a:ext cx="54864" cy="54864"/>
          </a:xfrm>
          <a:prstGeom prst="ellipse">
            <a:avLst/>
          </a:prstGeom>
          <a:solidFill>
            <a:srgbClr val="2B3A5C"/>
          </a:solidFill>
          <a:ln w="12700">
            <a:solidFill>
              <a:srgbClr val="2B3A5C"/>
            </a:solidFill>
            <a:prstDash val="solid"/>
          </a:ln>
        </p:spPr>
      </p:sp>
      <p:sp>
        <p:nvSpPr>
          <p:cNvPr id="17" name="!!dot13"/>
          <p:cNvSpPr/>
          <p:nvPr/>
        </p:nvSpPr>
        <p:spPr>
          <a:xfrm>
            <a:off x="11448288" y="6510528"/>
            <a:ext cx="54864" cy="54864"/>
          </a:xfrm>
          <a:prstGeom prst="ellipse">
            <a:avLst/>
          </a:prstGeom>
          <a:solidFill>
            <a:srgbClr val="2B3A5C"/>
          </a:solidFill>
          <a:ln w="12700">
            <a:solidFill>
              <a:srgbClr val="2B3A5C"/>
            </a:solidFill>
            <a:prstDash val="solid"/>
          </a:ln>
        </p:spPr>
      </p:sp>
      <p:sp>
        <p:nvSpPr>
          <p:cNvPr id="18" name="!!dot14"/>
          <p:cNvSpPr/>
          <p:nvPr/>
        </p:nvSpPr>
        <p:spPr>
          <a:xfrm>
            <a:off x="11594592" y="6510528"/>
            <a:ext cx="54864" cy="54864"/>
          </a:xfrm>
          <a:prstGeom prst="ellipse">
            <a:avLst/>
          </a:prstGeom>
          <a:solidFill>
            <a:srgbClr val="2B3A5C"/>
          </a:solidFill>
          <a:ln w="12700">
            <a:solidFill>
              <a:srgbClr val="2B3A5C"/>
            </a:solidFill>
            <a:prstDash val="solid"/>
          </a:ln>
        </p:spPr>
      </p:sp>
      <p:sp>
        <p:nvSpPr>
          <p:cNvPr id="19" name="!!brand"/>
          <p:cNvSpPr txBox="1"/>
          <p:nvPr/>
        </p:nvSpPr>
        <p:spPr>
          <a:xfrm>
            <a:off x="502920" y="6446520"/>
            <a:ext cx="1828800" cy="201168"/>
          </a:xfrm>
          <a:prstGeom prst="rect">
            <a:avLst/>
          </a:prstGeom>
          <a:noFill/>
          <a:ln/>
        </p:spPr>
        <p:txBody>
          <a:bodyPr wrap="square" lIns="0" tIns="0" rIns="0" bIns="0" rtlCol="0" anchor="t"/>
          <a:lstStyle/>
          <a:p>
            <a:pPr indent="0" marL="0">
              <a:buNone/>
            </a:pPr>
            <a:r>
              <a:rPr lang="en-US" sz="900" b="1" spc="500" kern="0" dirty="0">
                <a:solidFill>
                  <a:srgbClr val="94A3B8"/>
                </a:solidFill>
                <a:latin typeface="Calibri" pitchFamily="34" charset="0"/>
                <a:ea typeface="Calibri" pitchFamily="34" charset="-122"/>
                <a:cs typeface="Calibri" pitchFamily="34" charset="-120"/>
              </a:rPr>
              <a:t>AVERRA</a:t>
            </a:r>
            <a:endParaRPr lang="en-US" sz="900" dirty="0"/>
          </a:p>
        </p:txBody>
      </p:sp>
      <p:sp>
        <p:nvSpPr>
          <p:cNvPr id="21" name="ps_card"/>
          <p:cNvSpPr/>
          <p:nvPr/>
        </p:nvSpPr>
        <p:spPr>
          <a:xfrm>
            <a:off x="502920" y="1417320"/>
            <a:ext cx="4206240" cy="4526280"/>
          </a:xfrm>
          <a:prstGeom prst="roundRect">
            <a:avLst>
              <a:gd name="adj" fmla="val 1522"/>
            </a:avLst>
          </a:prstGeom>
          <a:solidFill>
            <a:srgbClr val="16213A"/>
          </a:solidFill>
          <a:ln w="9525">
            <a:solidFill>
              <a:srgbClr val="06B6D4"/>
            </a:solidFill>
            <a:prstDash val="solid"/>
          </a:ln>
        </p:spPr>
      </p:sp>
      <p:pic>
        <p:nvPicPr>
          <p:cNvPr id="22" name="!!ps_photo" descr="../public/images/parkinsense-wrist.jpg">    </p:cNvPr>
          <p:cNvPicPr>
            <a:picLocks noChangeAspect="1"/>
          </p:cNvPicPr>
          <p:nvPr/>
        </p:nvPicPr>
        <p:blipFill>
          <a:blip r:embed="rId2"/>
          <a:stretch>
            <a:fillRect/>
          </a:stretch>
        </p:blipFill>
        <p:spPr>
          <a:xfrm>
            <a:off x="777240" y="1645920"/>
            <a:ext cx="1417320" cy="1549131"/>
          </a:xfrm>
          <a:prstGeom prst="rect">
            <a:avLst/>
          </a:prstGeom>
        </p:spPr>
      </p:pic>
      <p:sp>
        <p:nvSpPr>
          <p:cNvPr id="23" name="!!ps_label"/>
          <p:cNvSpPr txBox="1"/>
          <p:nvPr/>
        </p:nvSpPr>
        <p:spPr>
          <a:xfrm>
            <a:off x="2331720" y="1691640"/>
            <a:ext cx="2286000" cy="73152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ParkinSense</a:t>
            </a:r>
            <a:endParaRPr lang="en-US" sz="1400" dirty="0"/>
          </a:p>
          <a:p>
            <a:pPr indent="0" marL="0">
              <a:buNone/>
            </a:pPr>
            <a:r>
              <a:rPr lang="en-US" sz="1050" b="1" spc="200" kern="0" dirty="0">
                <a:solidFill>
                  <a:srgbClr val="06B6D4"/>
                </a:solidFill>
                <a:latin typeface="Calibri" pitchFamily="34" charset="0"/>
                <a:ea typeface="Calibri" pitchFamily="34" charset="-122"/>
                <a:cs typeface="Calibri" pitchFamily="34" charset="-120"/>
              </a:rPr>
              <a:t>MEASURE &amp; UNDERSTAND</a:t>
            </a:r>
            <a:endParaRPr lang="en-US" sz="1400" dirty="0"/>
          </a:p>
        </p:txBody>
      </p:sp>
      <p:sp>
        <p:nvSpPr>
          <p:cNvPr id="24" name="ps_body"/>
          <p:cNvSpPr txBox="1"/>
          <p:nvPr/>
        </p:nvSpPr>
        <p:spPr>
          <a:xfrm>
            <a:off x="777240" y="3337560"/>
            <a:ext cx="3749040" cy="2377440"/>
          </a:xfrm>
          <a:prstGeom prst="rect">
            <a:avLst/>
          </a:prstGeom>
          <a:noFill/>
          <a:ln/>
        </p:spPr>
        <p:txBody>
          <a:bodyPr wrap="square" lIns="0" tIns="0" rIns="0" bIns="0" rtlCol="0" anchor="t"/>
          <a:lstStyle/>
          <a:p>
            <a:pPr indent="0" marL="0">
              <a:spcAft>
                <a:spcPts val="600"/>
              </a:spcAft>
              <a:buNone/>
            </a:pPr>
            <a:r>
              <a:rPr lang="en-US" sz="1300" b="1" dirty="0">
                <a:solidFill>
                  <a:srgbClr val="FFFFFF"/>
                </a:solidFill>
                <a:latin typeface="Calibri" pitchFamily="34" charset="0"/>
                <a:ea typeface="Calibri" pitchFamily="34" charset="-122"/>
                <a:cs typeface="Calibri" pitchFamily="34" charset="-120"/>
              </a:rPr>
              <a:t>Who: </a:t>
            </a:r>
            <a:pPr indent="0" marL="0">
              <a:spcAft>
                <a:spcPts val="600"/>
              </a:spcAft>
              <a:buNone/>
            </a:pPr>
            <a:r>
              <a:rPr lang="en-US" sz="1300" dirty="0">
                <a:solidFill>
                  <a:srgbClr val="CBD5E1"/>
                </a:solidFill>
                <a:latin typeface="Calibri" pitchFamily="34" charset="0"/>
                <a:ea typeface="Calibri" pitchFamily="34" charset="-122"/>
                <a:cs typeface="Calibri" pitchFamily="34" charset="-120"/>
              </a:rPr>
              <a:t>wellness-minded adults and households living with movement disorders</a:t>
            </a:r>
            <a:endParaRPr lang="en-US" sz="1300" dirty="0"/>
          </a:p>
          <a:p>
            <a:pPr indent="0" marL="0">
              <a:spcAft>
                <a:spcPts val="600"/>
              </a:spcAft>
              <a:buNone/>
            </a:pPr>
            <a:r>
              <a:rPr lang="en-US" sz="1300" b="1" dirty="0">
                <a:solidFill>
                  <a:srgbClr val="FFFFFF"/>
                </a:solidFill>
                <a:latin typeface="Calibri" pitchFamily="34" charset="0"/>
                <a:ea typeface="Calibri" pitchFamily="34" charset="-122"/>
                <a:cs typeface="Calibri" pitchFamily="34" charset="-120"/>
              </a:rPr>
              <a:t>Buys it: </a:t>
            </a:r>
            <a:pPr indent="0" marL="0">
              <a:spcAft>
                <a:spcPts val="600"/>
              </a:spcAft>
              <a:buNone/>
            </a:pPr>
            <a:r>
              <a:rPr lang="en-US" sz="1300" dirty="0">
                <a:solidFill>
                  <a:srgbClr val="CBD5E1"/>
                </a:solidFill>
                <a:latin typeface="Calibri" pitchFamily="34" charset="0"/>
                <a:ea typeface="Calibri" pitchFamily="34" charset="-122"/>
                <a:cs typeface="Calibri" pitchFamily="34" charset="-120"/>
              </a:rPr>
              <a:t>the user, online</a:t>
            </a:r>
            <a:endParaRPr lang="en-US" sz="1300" dirty="0"/>
          </a:p>
          <a:p>
            <a:pPr indent="0" marL="0">
              <a:spcAft>
                <a:spcPts val="600"/>
              </a:spcAft>
              <a:buNone/>
            </a:pPr>
            <a:r>
              <a:rPr lang="en-US" sz="1300" b="1" dirty="0">
                <a:solidFill>
                  <a:srgbClr val="FFFFFF"/>
                </a:solidFill>
                <a:latin typeface="Calibri" pitchFamily="34" charset="0"/>
                <a:ea typeface="Calibri" pitchFamily="34" charset="-122"/>
                <a:cs typeface="Calibri" pitchFamily="34" charset="-120"/>
              </a:rPr>
              <a:t>Value: </a:t>
            </a:r>
            <a:pPr indent="0" marL="0">
              <a:spcAft>
                <a:spcPts val="600"/>
              </a:spcAft>
              <a:buNone/>
            </a:pPr>
            <a:r>
              <a:rPr lang="en-US" sz="1300" dirty="0">
                <a:solidFill>
                  <a:srgbClr val="CBD5E1"/>
                </a:solidFill>
                <a:latin typeface="Calibri" pitchFamily="34" charset="0"/>
                <a:ea typeface="Calibri" pitchFamily="34" charset="-122"/>
                <a:cs typeface="Calibri" pitchFamily="34" charset="-120"/>
              </a:rPr>
              <a:t>activity and vitals plus movement-specific insight</a:t>
            </a:r>
            <a:endParaRPr lang="en-US" sz="1300" dirty="0"/>
          </a:p>
        </p:txBody>
      </p:sp>
      <p:sp>
        <p:nvSpPr>
          <p:cNvPr id="25" name="ts_card"/>
          <p:cNvSpPr/>
          <p:nvPr/>
        </p:nvSpPr>
        <p:spPr>
          <a:xfrm>
            <a:off x="7479792" y="1417320"/>
            <a:ext cx="4206240" cy="4526280"/>
          </a:xfrm>
          <a:prstGeom prst="roundRect">
            <a:avLst>
              <a:gd name="adj" fmla="val 1522"/>
            </a:avLst>
          </a:prstGeom>
          <a:solidFill>
            <a:srgbClr val="16213A"/>
          </a:solidFill>
          <a:ln w="9525">
            <a:solidFill>
              <a:srgbClr val="8B5CF6"/>
            </a:solidFill>
            <a:prstDash val="solid"/>
          </a:ln>
        </p:spPr>
      </p:sp>
      <p:pic>
        <p:nvPicPr>
          <p:cNvPr id="26" name="!!ts_photo" descr="../public/images/tremosense-rig.jpg">    </p:cNvPr>
          <p:cNvPicPr>
            <a:picLocks noChangeAspect="1"/>
          </p:cNvPicPr>
          <p:nvPr/>
        </p:nvPicPr>
        <p:blipFill>
          <a:blip r:embed="rId3"/>
          <a:stretch>
            <a:fillRect/>
          </a:stretch>
        </p:blipFill>
        <p:spPr>
          <a:xfrm>
            <a:off x="7754112" y="1645920"/>
            <a:ext cx="1143000" cy="1523619"/>
          </a:xfrm>
          <a:prstGeom prst="rect">
            <a:avLst/>
          </a:prstGeom>
        </p:spPr>
      </p:pic>
      <p:sp>
        <p:nvSpPr>
          <p:cNvPr id="27" name="!!ts_label"/>
          <p:cNvSpPr txBox="1"/>
          <p:nvPr/>
        </p:nvSpPr>
        <p:spPr>
          <a:xfrm>
            <a:off x="9098280" y="1691640"/>
            <a:ext cx="2468880" cy="73152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TremoSense</a:t>
            </a:r>
            <a:endParaRPr lang="en-US" sz="1400" dirty="0"/>
          </a:p>
          <a:p>
            <a:pPr indent="0" marL="0">
              <a:buNone/>
            </a:pPr>
            <a:r>
              <a:rPr lang="en-US" sz="1050" b="1" spc="200" kern="0" dirty="0">
                <a:solidFill>
                  <a:srgbClr val="8B5CF6"/>
                </a:solidFill>
                <a:latin typeface="Calibri" pitchFamily="34" charset="0"/>
                <a:ea typeface="Calibri" pitchFamily="34" charset="-122"/>
                <a:cs typeface="Calibri" pitchFamily="34" charset="-120"/>
              </a:rPr>
              <a:t>ASSIST</a:t>
            </a:r>
            <a:endParaRPr lang="en-US" sz="1400" dirty="0"/>
          </a:p>
        </p:txBody>
      </p:sp>
      <p:sp>
        <p:nvSpPr>
          <p:cNvPr id="28" name="ts_body"/>
          <p:cNvSpPr txBox="1"/>
          <p:nvPr/>
        </p:nvSpPr>
        <p:spPr>
          <a:xfrm>
            <a:off x="7754112" y="3337560"/>
            <a:ext cx="3749040" cy="2377440"/>
          </a:xfrm>
          <a:prstGeom prst="rect">
            <a:avLst/>
          </a:prstGeom>
          <a:noFill/>
          <a:ln/>
        </p:spPr>
        <p:txBody>
          <a:bodyPr wrap="square" lIns="0" tIns="0" rIns="0" bIns="0" rtlCol="0" anchor="t"/>
          <a:lstStyle/>
          <a:p>
            <a:pPr indent="0" marL="0">
              <a:spcAft>
                <a:spcPts val="600"/>
              </a:spcAft>
              <a:buNone/>
            </a:pPr>
            <a:r>
              <a:rPr lang="en-US" sz="1300" b="1" dirty="0">
                <a:solidFill>
                  <a:srgbClr val="FFFFFF"/>
                </a:solidFill>
                <a:latin typeface="Calibri" pitchFamily="34" charset="0"/>
                <a:ea typeface="Calibri" pitchFamily="34" charset="-122"/>
                <a:cs typeface="Calibri" pitchFamily="34" charset="-120"/>
              </a:rPr>
              <a:t>Who: </a:t>
            </a:r>
            <a:pPr indent="0" marL="0">
              <a:spcAft>
                <a:spcPts val="600"/>
              </a:spcAft>
              <a:buNone/>
            </a:pPr>
            <a:r>
              <a:rPr lang="en-US" sz="1300" dirty="0">
                <a:solidFill>
                  <a:srgbClr val="CBD5E1"/>
                </a:solidFill>
                <a:latin typeface="Calibri" pitchFamily="34" charset="0"/>
                <a:ea typeface="Calibri" pitchFamily="34" charset="-122"/>
                <a:cs typeface="Calibri" pitchFamily="34" charset="-120"/>
              </a:rPr>
              <a:t>older adults whose tremor disrupts eating</a:t>
            </a:r>
            <a:endParaRPr lang="en-US" sz="1300" dirty="0"/>
          </a:p>
          <a:p>
            <a:pPr indent="0" marL="0">
              <a:spcAft>
                <a:spcPts val="600"/>
              </a:spcAft>
              <a:buNone/>
            </a:pPr>
            <a:r>
              <a:rPr lang="en-US" sz="1300" b="1" dirty="0">
                <a:solidFill>
                  <a:srgbClr val="FFFFFF"/>
                </a:solidFill>
                <a:latin typeface="Calibri" pitchFamily="34" charset="0"/>
                <a:ea typeface="Calibri" pitchFamily="34" charset="-122"/>
                <a:cs typeface="Calibri" pitchFamily="34" charset="-120"/>
              </a:rPr>
              <a:t>Buys it: </a:t>
            </a:r>
            <a:pPr indent="0" marL="0">
              <a:spcAft>
                <a:spcPts val="600"/>
              </a:spcAft>
              <a:buNone/>
            </a:pPr>
            <a:r>
              <a:rPr lang="en-US" sz="1300" dirty="0">
                <a:solidFill>
                  <a:srgbClr val="CBD5E1"/>
                </a:solidFill>
                <a:latin typeface="Calibri" pitchFamily="34" charset="0"/>
                <a:ea typeface="Calibri" pitchFamily="34" charset="-122"/>
                <a:cs typeface="Calibri" pitchFamily="34" charset="-120"/>
              </a:rPr>
              <a:t>family, via clinic or OT referral</a:t>
            </a:r>
            <a:endParaRPr lang="en-US" sz="1300" dirty="0"/>
          </a:p>
          <a:p>
            <a:pPr indent="0" marL="0">
              <a:spcAft>
                <a:spcPts val="600"/>
              </a:spcAft>
              <a:buNone/>
            </a:pPr>
            <a:r>
              <a:rPr lang="en-US" sz="1300" b="1" dirty="0">
                <a:solidFill>
                  <a:srgbClr val="FFFFFF"/>
                </a:solidFill>
                <a:latin typeface="Calibri" pitchFamily="34" charset="0"/>
                <a:ea typeface="Calibri" pitchFamily="34" charset="-122"/>
                <a:cs typeface="Calibri" pitchFamily="34" charset="-120"/>
              </a:rPr>
              <a:t>Value: </a:t>
            </a:r>
            <a:pPr indent="0" marL="0">
              <a:spcAft>
                <a:spcPts val="600"/>
              </a:spcAft>
              <a:buNone/>
            </a:pPr>
            <a:r>
              <a:rPr lang="en-US" sz="1300" dirty="0">
                <a:solidFill>
                  <a:srgbClr val="CBD5E1"/>
                </a:solidFill>
                <a:latin typeface="Calibri" pitchFamily="34" charset="0"/>
                <a:ea typeface="Calibri" pitchFamily="34" charset="-122"/>
                <a:cs typeface="Calibri" pitchFamily="34" charset="-120"/>
              </a:rPr>
              <a:t>eat more independently, at an Indian price</a:t>
            </a:r>
            <a:endParaRPr lang="en-US" sz="1300" dirty="0"/>
          </a:p>
        </p:txBody>
      </p:sp>
      <p:pic>
        <p:nvPicPr>
          <p:cNvPr id="29" name="core_mark" descr="../public/brand/averra-mark-white.png">    </p:cNvPr>
          <p:cNvPicPr>
            <a:picLocks noChangeAspect="1"/>
          </p:cNvPicPr>
          <p:nvPr/>
        </p:nvPicPr>
        <p:blipFill>
          <a:blip r:embed="rId4"/>
          <a:stretch>
            <a:fillRect/>
          </a:stretch>
        </p:blipFill>
        <p:spPr>
          <a:xfrm>
            <a:off x="5641848" y="1600200"/>
            <a:ext cx="914400" cy="914400"/>
          </a:xfrm>
          <a:prstGeom prst="rect">
            <a:avLst/>
          </a:prstGeom>
        </p:spPr>
      </p:pic>
      <p:sp>
        <p:nvSpPr>
          <p:cNvPr id="30" name="Text 23"/>
          <p:cNvSpPr txBox="1"/>
          <p:nvPr/>
        </p:nvSpPr>
        <p:spPr>
          <a:xfrm>
            <a:off x="4937760" y="2651760"/>
            <a:ext cx="2331720" cy="228600"/>
          </a:xfrm>
          <a:prstGeom prst="rect">
            <a:avLst/>
          </a:prstGeom>
          <a:noFill/>
          <a:ln/>
        </p:spPr>
        <p:txBody>
          <a:bodyPr wrap="square" lIns="0" tIns="0" rIns="0" bIns="0" rtlCol="0" anchor="t"/>
          <a:lstStyle/>
          <a:p>
            <a:pPr algn="ctr" indent="0" marL="0">
              <a:buNone/>
            </a:pPr>
            <a:r>
              <a:rPr lang="en-US" sz="1000" b="1" spc="300" kern="0" dirty="0">
                <a:solidFill>
                  <a:srgbClr val="3B82F6"/>
                </a:solidFill>
                <a:latin typeface="Calibri" pitchFamily="34" charset="0"/>
                <a:ea typeface="Calibri" pitchFamily="34" charset="-122"/>
                <a:cs typeface="Calibri" pitchFamily="34" charset="-120"/>
              </a:rPr>
              <a:t>SHARED</a:t>
            </a:r>
            <a:endParaRPr lang="en-US" sz="1000" dirty="0"/>
          </a:p>
        </p:txBody>
      </p:sp>
      <p:sp>
        <p:nvSpPr>
          <p:cNvPr id="31" name="core0"/>
          <p:cNvSpPr txBox="1"/>
          <p:nvPr/>
        </p:nvSpPr>
        <p:spPr>
          <a:xfrm>
            <a:off x="4937760" y="2971800"/>
            <a:ext cx="2331720" cy="365760"/>
          </a:xfrm>
          <a:prstGeom prst="roundRect">
            <a:avLst>
              <a:gd name="adj" fmla="val 15000"/>
            </a:avLst>
          </a:prstGeom>
          <a:solidFill>
            <a:srgbClr val="1B2847"/>
          </a:solidFill>
          <a:ln w="9525">
            <a:solidFill>
              <a:srgbClr val="3B82F6"/>
            </a:solid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Nordic nRF52840 MCU family</a:t>
            </a:r>
            <a:endParaRPr lang="en-US" sz="1150" dirty="0"/>
          </a:p>
        </p:txBody>
      </p:sp>
      <p:sp>
        <p:nvSpPr>
          <p:cNvPr id="32" name="core1"/>
          <p:cNvSpPr txBox="1"/>
          <p:nvPr/>
        </p:nvSpPr>
        <p:spPr>
          <a:xfrm>
            <a:off x="4937760" y="3429000"/>
            <a:ext cx="2331720" cy="365760"/>
          </a:xfrm>
          <a:prstGeom prst="roundRect">
            <a:avLst>
              <a:gd name="adj" fmla="val 15000"/>
            </a:avLst>
          </a:prstGeom>
          <a:solidFill>
            <a:srgbClr val="1B2847"/>
          </a:solidFill>
          <a:ln w="9525">
            <a:solidFill>
              <a:srgbClr val="3B82F6"/>
            </a:solid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LSM6DS3 6-axis IMU</a:t>
            </a:r>
            <a:endParaRPr lang="en-US" sz="1150" dirty="0"/>
          </a:p>
        </p:txBody>
      </p:sp>
      <p:sp>
        <p:nvSpPr>
          <p:cNvPr id="33" name="core2"/>
          <p:cNvSpPr txBox="1"/>
          <p:nvPr/>
        </p:nvSpPr>
        <p:spPr>
          <a:xfrm>
            <a:off x="4937760" y="3886200"/>
            <a:ext cx="2331720" cy="365760"/>
          </a:xfrm>
          <a:prstGeom prst="roundRect">
            <a:avLst>
              <a:gd name="adj" fmla="val 15000"/>
            </a:avLst>
          </a:prstGeom>
          <a:solidFill>
            <a:srgbClr val="1B2847"/>
          </a:solidFill>
          <a:ln w="9525">
            <a:solidFill>
              <a:srgbClr val="3B82F6"/>
            </a:solid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Real-time signal processing</a:t>
            </a:r>
            <a:endParaRPr lang="en-US" sz="1150" dirty="0"/>
          </a:p>
        </p:txBody>
      </p:sp>
      <p:sp>
        <p:nvSpPr>
          <p:cNvPr id="34" name="core3"/>
          <p:cNvSpPr txBox="1"/>
          <p:nvPr/>
        </p:nvSpPr>
        <p:spPr>
          <a:xfrm>
            <a:off x="4937760" y="4343400"/>
            <a:ext cx="2331720" cy="365760"/>
          </a:xfrm>
          <a:prstGeom prst="roundRect">
            <a:avLst>
              <a:gd name="adj" fmla="val 15000"/>
            </a:avLst>
          </a:prstGeom>
          <a:solidFill>
            <a:srgbClr val="1B2847"/>
          </a:solidFill>
          <a:ln w="9525">
            <a:solidFill>
              <a:srgbClr val="3B82F6"/>
            </a:solid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Embedded firmware</a:t>
            </a:r>
            <a:endParaRPr lang="en-US" sz="1150" dirty="0"/>
          </a:p>
        </p:txBody>
      </p:sp>
      <p:sp>
        <p:nvSpPr>
          <p:cNvPr id="35" name="core4"/>
          <p:cNvSpPr txBox="1"/>
          <p:nvPr/>
        </p:nvSpPr>
        <p:spPr>
          <a:xfrm>
            <a:off x="4937760" y="4800600"/>
            <a:ext cx="2331720" cy="365760"/>
          </a:xfrm>
          <a:prstGeom prst="roundRect">
            <a:avLst>
              <a:gd name="adj" fmla="val 15000"/>
            </a:avLst>
          </a:prstGeom>
          <a:solidFill>
            <a:srgbClr val="1B2847"/>
          </a:solidFill>
          <a:ln w="9525">
            <a:solidFill>
              <a:srgbClr val="3B82F6"/>
            </a:solid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The same founding team</a:t>
            </a:r>
            <a:endParaRPr lang="en-US" sz="1150" dirty="0"/>
          </a:p>
        </p:txBody>
      </p:sp>
      <p:sp>
        <p:nvSpPr>
          <p:cNvPr id="36" name="core_note"/>
          <p:cNvSpPr txBox="1"/>
          <p:nvPr/>
        </p:nvSpPr>
        <p:spPr>
          <a:xfrm>
            <a:off x="4892040" y="5303520"/>
            <a:ext cx="2423160" cy="457200"/>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No shared revenue or cost savings claimed.</a:t>
            </a:r>
            <a:endParaRPr lang="en-US" sz="1000" dirty="0"/>
          </a:p>
        </p:txBody>
      </p:sp>
      <p:sp>
        <p:nvSpPr>
          <p:cNvPr id="37" name="sources"/>
          <p:cNvSpPr txBox="1"/>
          <p:nvPr/>
        </p:nvSpPr>
        <p:spPr>
          <a:xfrm>
            <a:off x="502920" y="6199632"/>
            <a:ext cx="8778240" cy="274320"/>
          </a:xfrm>
          <a:prstGeom prst="rect">
            <a:avLst/>
          </a:prstGeom>
          <a:noFill/>
          <a:ln/>
        </p:spPr>
        <p:txBody>
          <a:bodyPr wrap="square" lIns="0" tIns="0" rIns="0" bIns="0" rtlCol="0" anchor="t"/>
          <a:lstStyle/>
          <a:p>
            <a:pPr indent="0" marL="0">
              <a:buNone/>
            </a:pPr>
            <a:r>
              <a:rPr lang="en-US" sz="850" dirty="0">
                <a:solidFill>
                  <a:srgbClr val="94A3B8"/>
                </a:solidFill>
                <a:latin typeface="Calibri" pitchFamily="34" charset="0"/>
                <a:ea typeface="Calibri" pitchFamily="34" charset="-122"/>
                <a:cs typeface="Calibri" pitchFamily="34" charset="-120"/>
              </a:rPr>
              <a:t>Hardware from the ParkinSense and TremoSense repositories.</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5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45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45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450"/>
                                        <p:tgtEl>
                                          <p:spTgt spid="30"/>
                                        </p:tgtEl>
                                      </p:cBhvr>
                                    </p:animEffect>
                                  </p:childTnLst>
                                </p:cTn>
                              </p:par>
                            </p:childTnLst>
                          </p:cTn>
                        </p:par>
                        <p:par>
                          <p:cTn id="19" fill="hold">
                            <p:stCondLst>
                              <p:cond delay="450"/>
                            </p:stCondLst>
                            <p:childTnLst>
                              <p:par>
                                <p:cTn id="20" presetID="22" presetClass="entr" presetSubtype="8" fill="hold" nodeType="after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450"/>
                                        <p:tgtEl>
                                          <p:spTgt spid="31"/>
                                        </p:tgtEl>
                                      </p:cBhvr>
                                    </p:animEffect>
                                  </p:childTnLst>
                                </p:cTn>
                              </p:par>
                            </p:childTnLst>
                          </p:cTn>
                        </p:par>
                        <p:par>
                          <p:cTn id="23" fill="hold">
                            <p:stCondLst>
                              <p:cond delay="750"/>
                            </p:stCondLst>
                            <p:childTnLst>
                              <p:par>
                                <p:cTn id="24" presetID="22" presetClass="entr" presetSubtype="8" fill="hold" nodeType="after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wipe(left)">
                                      <p:cBhvr>
                                        <p:cTn id="26" dur="450"/>
                                        <p:tgtEl>
                                          <p:spTgt spid="32"/>
                                        </p:tgtEl>
                                      </p:cBhvr>
                                    </p:animEffect>
                                  </p:childTnLst>
                                </p:cTn>
                              </p:par>
                            </p:childTnLst>
                          </p:cTn>
                        </p:par>
                        <p:par>
                          <p:cTn id="27" fill="hold">
                            <p:stCondLst>
                              <p:cond delay="1050"/>
                            </p:stCondLst>
                            <p:childTnLst>
                              <p:par>
                                <p:cTn id="28" presetID="22" presetClass="entr" presetSubtype="8" fill="hold" nodeType="after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wipe(left)">
                                      <p:cBhvr>
                                        <p:cTn id="30" dur="450"/>
                                        <p:tgtEl>
                                          <p:spTgt spid="33"/>
                                        </p:tgtEl>
                                      </p:cBhvr>
                                    </p:animEffect>
                                  </p:childTnLst>
                                </p:cTn>
                              </p:par>
                            </p:childTnLst>
                          </p:cTn>
                        </p:par>
                        <p:par>
                          <p:cTn id="31" fill="hold">
                            <p:stCondLst>
                              <p:cond delay="1350"/>
                            </p:stCondLst>
                            <p:childTnLst>
                              <p:par>
                                <p:cTn id="32" presetID="22" presetClass="entr" presetSubtype="8" fill="hold" nodeType="after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wipe(left)">
                                      <p:cBhvr>
                                        <p:cTn id="34" dur="450"/>
                                        <p:tgtEl>
                                          <p:spTgt spid="34"/>
                                        </p:tgtEl>
                                      </p:cBhvr>
                                    </p:animEffect>
                                  </p:childTnLst>
                                </p:cTn>
                              </p:par>
                            </p:childTnLst>
                          </p:cTn>
                        </p:par>
                        <p:par>
                          <p:cTn id="35" fill="hold">
                            <p:stCondLst>
                              <p:cond delay="1650"/>
                            </p:stCondLst>
                            <p:childTnLst>
                              <p:par>
                                <p:cTn id="36" presetID="22" presetClass="entr" presetSubtype="8" fill="hold" nodeType="afterEffect">
                                  <p:stCondLst>
                                    <p:cond delay="0"/>
                                  </p:stCondLst>
                                  <p:childTnLst>
                                    <p:set>
                                      <p:cBhvr>
                                        <p:cTn id="37" dur="1" fill="hold">
                                          <p:stCondLst>
                                            <p:cond delay="0"/>
                                          </p:stCondLst>
                                        </p:cTn>
                                        <p:tgtEl>
                                          <p:spTgt spid="35"/>
                                        </p:tgtEl>
                                        <p:attrNameLst>
                                          <p:attrName>style.visibility</p:attrName>
                                        </p:attrNameLst>
                                      </p:cBhvr>
                                      <p:to>
                                        <p:strVal val="visible"/>
                                      </p:to>
                                    </p:set>
                                    <p:animEffect transition="in" filter="wipe(left)">
                                      <p:cBhvr>
                                        <p:cTn id="38" dur="450"/>
                                        <p:tgtEl>
                                          <p:spTgt spid="35"/>
                                        </p:tgtEl>
                                      </p:cBhvr>
                                    </p:animEffect>
                                  </p:childTnLst>
                                </p:cTn>
                              </p:par>
                            </p:childTnLst>
                          </p:cTn>
                        </p:par>
                        <p:par>
                          <p:cTn id="39" fill="hold">
                            <p:stCondLst>
                              <p:cond delay="1950"/>
                            </p:stCondLst>
                            <p:childTnLst>
                              <p:par>
                                <p:cTn id="40" presetID="10" presetClass="entr" presetSubtype="0" fill="hold" nodeType="after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450"/>
                                        <p:tgtEl>
                                          <p:spTgt spid="3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450"/>
                                        <p:tgtEl>
                                          <p:spTgt spid="25"/>
                                        </p:tgtEl>
                                      </p:cBhvr>
                                    </p:animEffect>
                                  </p:childTnLst>
                                </p:cTn>
                              </p:par>
                              <p:par>
                                <p:cTn id="48" presetID="10" presetClass="entr" presetSubtype="0" fill="hold"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P spid="30" grpId="0" animBg="1"/>
      <p:bldP spid="31" grpId="0" animBg="1"/>
      <p:bldP spid="32" grpId="0" animBg="1"/>
      <p:bldP spid="33" grpId="0" animBg="1"/>
      <p:bldP spid="34" grpId="0" animBg="1"/>
      <p:bldP spid="35" grpId="0" animBg="1"/>
      <p:bldP spid="36" grpId="0" animBg="1"/>
      <p:bldP spid="25" grpId="0" animBg="1"/>
      <p:bldP spid="2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kicker"/>
          <p:cNvSpPr txBox="1"/>
          <p:nvPr/>
        </p:nvSpPr>
        <p:spPr>
          <a:xfrm>
            <a:off x="502920" y="274320"/>
            <a:ext cx="7315200" cy="256032"/>
          </a:xfrm>
          <a:prstGeom prst="rect">
            <a:avLst/>
          </a:prstGeom>
          <a:noFill/>
          <a:ln/>
        </p:spPr>
        <p:txBody>
          <a:bodyPr wrap="square" lIns="0" tIns="0" rIns="0" bIns="0" rtlCol="0" anchor="t"/>
          <a:lstStyle/>
          <a:p>
            <a:pPr indent="0" marL="0">
              <a:buNone/>
            </a:pPr>
            <a:r>
              <a:rPr lang="en-US" sz="1100" b="1" spc="300" kern="0" dirty="0">
                <a:solidFill>
                  <a:srgbClr val="06B6D4"/>
                </a:solidFill>
                <a:latin typeface="Calibri" pitchFamily="34" charset="0"/>
                <a:ea typeface="Calibri" pitchFamily="34" charset="-122"/>
                <a:cs typeface="Calibri" pitchFamily="34" charset="-120"/>
              </a:rPr>
              <a:t>03 · PARKINSENSE</a:t>
            </a:r>
            <a:endParaRPr lang="en-US" sz="1100" dirty="0"/>
          </a:p>
        </p:txBody>
      </p:sp>
      <p:sp>
        <p:nvSpPr>
          <p:cNvPr id="3" name="!!title"/>
          <p:cNvSpPr txBox="1"/>
          <p:nvPr/>
        </p:nvSpPr>
        <p:spPr>
          <a:xfrm>
            <a:off x="502920" y="530352"/>
            <a:ext cx="10241280" cy="64008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A wellness wearable with movement intelligence</a:t>
            </a:r>
            <a:endParaRPr lang="en-US" sz="2800" dirty="0"/>
          </a:p>
        </p:txBody>
      </p:sp>
      <p:pic>
        <p:nvPicPr>
          <p:cNvPr id="4" name="!!mark" descr="../public/brand/averra-mark-white.png">    </p:cNvPr>
          <p:cNvPicPr>
            <a:picLocks noChangeAspect="1"/>
          </p:cNvPicPr>
          <p:nvPr/>
        </p:nvPicPr>
        <p:blipFill>
          <a:blip r:embed="rId1"/>
          <a:stretch>
            <a:fillRect/>
          </a:stretch>
        </p:blipFill>
        <p:spPr>
          <a:xfrm>
            <a:off x="11201400" y="292608"/>
            <a:ext cx="502920" cy="502920"/>
          </a:xfrm>
          <a:prstGeom prst="rect">
            <a:avLst/>
          </a:prstGeom>
        </p:spPr>
      </p:pic>
      <p:sp>
        <p:nvSpPr>
          <p:cNvPr id="5" name="!!dot1"/>
          <p:cNvSpPr/>
          <p:nvPr/>
        </p:nvSpPr>
        <p:spPr>
          <a:xfrm>
            <a:off x="9692640" y="6510528"/>
            <a:ext cx="54864" cy="54864"/>
          </a:xfrm>
          <a:prstGeom prst="ellipse">
            <a:avLst/>
          </a:prstGeom>
          <a:solidFill>
            <a:srgbClr val="2B3A5C"/>
          </a:solidFill>
          <a:ln w="12700">
            <a:solidFill>
              <a:srgbClr val="2B3A5C"/>
            </a:solidFill>
            <a:prstDash val="solid"/>
          </a:ln>
        </p:spPr>
      </p:sp>
      <p:sp>
        <p:nvSpPr>
          <p:cNvPr id="6" name="!!dot2"/>
          <p:cNvSpPr/>
          <p:nvPr/>
        </p:nvSpPr>
        <p:spPr>
          <a:xfrm>
            <a:off x="9838944" y="6510528"/>
            <a:ext cx="54864" cy="54864"/>
          </a:xfrm>
          <a:prstGeom prst="ellipse">
            <a:avLst/>
          </a:prstGeom>
          <a:solidFill>
            <a:srgbClr val="2B3A5C"/>
          </a:solidFill>
          <a:ln w="12700">
            <a:solidFill>
              <a:srgbClr val="2B3A5C"/>
            </a:solidFill>
            <a:prstDash val="solid"/>
          </a:ln>
        </p:spPr>
      </p:sp>
      <p:sp>
        <p:nvSpPr>
          <p:cNvPr id="7" name="!!dot3"/>
          <p:cNvSpPr/>
          <p:nvPr/>
        </p:nvSpPr>
        <p:spPr>
          <a:xfrm>
            <a:off x="9985248" y="6510528"/>
            <a:ext cx="54864" cy="54864"/>
          </a:xfrm>
          <a:prstGeom prst="ellipse">
            <a:avLst/>
          </a:prstGeom>
          <a:solidFill>
            <a:srgbClr val="2B3A5C"/>
          </a:solidFill>
          <a:ln w="12700">
            <a:solidFill>
              <a:srgbClr val="2B3A5C"/>
            </a:solidFill>
            <a:prstDash val="solid"/>
          </a:ln>
        </p:spPr>
      </p:sp>
      <p:sp>
        <p:nvSpPr>
          <p:cNvPr id="8" name="!!dot4"/>
          <p:cNvSpPr/>
          <p:nvPr/>
        </p:nvSpPr>
        <p:spPr>
          <a:xfrm>
            <a:off x="10131552" y="6510528"/>
            <a:ext cx="100584" cy="100584"/>
          </a:xfrm>
          <a:prstGeom prst="ellipse">
            <a:avLst/>
          </a:prstGeom>
          <a:solidFill>
            <a:srgbClr val="06B6D4"/>
          </a:solidFill>
          <a:ln w="12700">
            <a:solidFill>
              <a:srgbClr val="06B6D4"/>
            </a:solidFill>
            <a:prstDash val="solid"/>
          </a:ln>
        </p:spPr>
      </p:sp>
      <p:sp>
        <p:nvSpPr>
          <p:cNvPr id="9" name="!!dot5"/>
          <p:cNvSpPr/>
          <p:nvPr/>
        </p:nvSpPr>
        <p:spPr>
          <a:xfrm>
            <a:off x="10277856" y="6510528"/>
            <a:ext cx="54864" cy="54864"/>
          </a:xfrm>
          <a:prstGeom prst="ellipse">
            <a:avLst/>
          </a:prstGeom>
          <a:solidFill>
            <a:srgbClr val="2B3A5C"/>
          </a:solidFill>
          <a:ln w="12700">
            <a:solidFill>
              <a:srgbClr val="2B3A5C"/>
            </a:solidFill>
            <a:prstDash val="solid"/>
          </a:ln>
        </p:spPr>
      </p:sp>
      <p:sp>
        <p:nvSpPr>
          <p:cNvPr id="10" name="!!dot6"/>
          <p:cNvSpPr/>
          <p:nvPr/>
        </p:nvSpPr>
        <p:spPr>
          <a:xfrm>
            <a:off x="10424160" y="6510528"/>
            <a:ext cx="54864" cy="54864"/>
          </a:xfrm>
          <a:prstGeom prst="ellipse">
            <a:avLst/>
          </a:prstGeom>
          <a:solidFill>
            <a:srgbClr val="2B3A5C"/>
          </a:solidFill>
          <a:ln w="12700">
            <a:solidFill>
              <a:srgbClr val="2B3A5C"/>
            </a:solidFill>
            <a:prstDash val="solid"/>
          </a:ln>
        </p:spPr>
      </p:sp>
      <p:sp>
        <p:nvSpPr>
          <p:cNvPr id="11" name="!!dot7"/>
          <p:cNvSpPr/>
          <p:nvPr/>
        </p:nvSpPr>
        <p:spPr>
          <a:xfrm>
            <a:off x="10570464" y="6510528"/>
            <a:ext cx="54864" cy="54864"/>
          </a:xfrm>
          <a:prstGeom prst="ellipse">
            <a:avLst/>
          </a:prstGeom>
          <a:solidFill>
            <a:srgbClr val="2B3A5C"/>
          </a:solidFill>
          <a:ln w="12700">
            <a:solidFill>
              <a:srgbClr val="2B3A5C"/>
            </a:solidFill>
            <a:prstDash val="solid"/>
          </a:ln>
        </p:spPr>
      </p:sp>
      <p:sp>
        <p:nvSpPr>
          <p:cNvPr id="12" name="!!dot8"/>
          <p:cNvSpPr/>
          <p:nvPr/>
        </p:nvSpPr>
        <p:spPr>
          <a:xfrm>
            <a:off x="10716768" y="6510528"/>
            <a:ext cx="54864" cy="54864"/>
          </a:xfrm>
          <a:prstGeom prst="ellipse">
            <a:avLst/>
          </a:prstGeom>
          <a:solidFill>
            <a:srgbClr val="2B3A5C"/>
          </a:solidFill>
          <a:ln w="12700">
            <a:solidFill>
              <a:srgbClr val="2B3A5C"/>
            </a:solidFill>
            <a:prstDash val="solid"/>
          </a:ln>
        </p:spPr>
      </p:sp>
      <p:sp>
        <p:nvSpPr>
          <p:cNvPr id="13" name="!!dot9"/>
          <p:cNvSpPr/>
          <p:nvPr/>
        </p:nvSpPr>
        <p:spPr>
          <a:xfrm>
            <a:off x="10863072" y="6510528"/>
            <a:ext cx="54864" cy="54864"/>
          </a:xfrm>
          <a:prstGeom prst="ellipse">
            <a:avLst/>
          </a:prstGeom>
          <a:solidFill>
            <a:srgbClr val="2B3A5C"/>
          </a:solidFill>
          <a:ln w="12700">
            <a:solidFill>
              <a:srgbClr val="2B3A5C"/>
            </a:solidFill>
            <a:prstDash val="solid"/>
          </a:ln>
        </p:spPr>
      </p:sp>
      <p:sp>
        <p:nvSpPr>
          <p:cNvPr id="14" name="!!dot10"/>
          <p:cNvSpPr/>
          <p:nvPr/>
        </p:nvSpPr>
        <p:spPr>
          <a:xfrm>
            <a:off x="11009376" y="6510528"/>
            <a:ext cx="54864" cy="54864"/>
          </a:xfrm>
          <a:prstGeom prst="ellipse">
            <a:avLst/>
          </a:prstGeom>
          <a:solidFill>
            <a:srgbClr val="2B3A5C"/>
          </a:solidFill>
          <a:ln w="12700">
            <a:solidFill>
              <a:srgbClr val="2B3A5C"/>
            </a:solidFill>
            <a:prstDash val="solid"/>
          </a:ln>
        </p:spPr>
      </p:sp>
      <p:sp>
        <p:nvSpPr>
          <p:cNvPr id="15" name="!!dot11"/>
          <p:cNvSpPr/>
          <p:nvPr/>
        </p:nvSpPr>
        <p:spPr>
          <a:xfrm>
            <a:off x="11155680" y="6510528"/>
            <a:ext cx="54864" cy="54864"/>
          </a:xfrm>
          <a:prstGeom prst="ellipse">
            <a:avLst/>
          </a:prstGeom>
          <a:solidFill>
            <a:srgbClr val="2B3A5C"/>
          </a:solidFill>
          <a:ln w="12700">
            <a:solidFill>
              <a:srgbClr val="2B3A5C"/>
            </a:solidFill>
            <a:prstDash val="solid"/>
          </a:ln>
        </p:spPr>
      </p:sp>
      <p:sp>
        <p:nvSpPr>
          <p:cNvPr id="16" name="!!dot12"/>
          <p:cNvSpPr/>
          <p:nvPr/>
        </p:nvSpPr>
        <p:spPr>
          <a:xfrm>
            <a:off x="11301984" y="6510528"/>
            <a:ext cx="54864" cy="54864"/>
          </a:xfrm>
          <a:prstGeom prst="ellipse">
            <a:avLst/>
          </a:prstGeom>
          <a:solidFill>
            <a:srgbClr val="2B3A5C"/>
          </a:solidFill>
          <a:ln w="12700">
            <a:solidFill>
              <a:srgbClr val="2B3A5C"/>
            </a:solidFill>
            <a:prstDash val="solid"/>
          </a:ln>
        </p:spPr>
      </p:sp>
      <p:sp>
        <p:nvSpPr>
          <p:cNvPr id="17" name="!!dot13"/>
          <p:cNvSpPr/>
          <p:nvPr/>
        </p:nvSpPr>
        <p:spPr>
          <a:xfrm>
            <a:off x="11448288" y="6510528"/>
            <a:ext cx="54864" cy="54864"/>
          </a:xfrm>
          <a:prstGeom prst="ellipse">
            <a:avLst/>
          </a:prstGeom>
          <a:solidFill>
            <a:srgbClr val="2B3A5C"/>
          </a:solidFill>
          <a:ln w="12700">
            <a:solidFill>
              <a:srgbClr val="2B3A5C"/>
            </a:solidFill>
            <a:prstDash val="solid"/>
          </a:ln>
        </p:spPr>
      </p:sp>
      <p:sp>
        <p:nvSpPr>
          <p:cNvPr id="18" name="!!dot14"/>
          <p:cNvSpPr/>
          <p:nvPr/>
        </p:nvSpPr>
        <p:spPr>
          <a:xfrm>
            <a:off x="11594592" y="6510528"/>
            <a:ext cx="54864" cy="54864"/>
          </a:xfrm>
          <a:prstGeom prst="ellipse">
            <a:avLst/>
          </a:prstGeom>
          <a:solidFill>
            <a:srgbClr val="2B3A5C"/>
          </a:solidFill>
          <a:ln w="12700">
            <a:solidFill>
              <a:srgbClr val="2B3A5C"/>
            </a:solidFill>
            <a:prstDash val="solid"/>
          </a:ln>
        </p:spPr>
      </p:sp>
      <p:sp>
        <p:nvSpPr>
          <p:cNvPr id="19" name="!!brand"/>
          <p:cNvSpPr txBox="1"/>
          <p:nvPr/>
        </p:nvSpPr>
        <p:spPr>
          <a:xfrm>
            <a:off x="502920" y="6446520"/>
            <a:ext cx="1828800" cy="201168"/>
          </a:xfrm>
          <a:prstGeom prst="rect">
            <a:avLst/>
          </a:prstGeom>
          <a:noFill/>
          <a:ln/>
        </p:spPr>
        <p:txBody>
          <a:bodyPr wrap="square" lIns="0" tIns="0" rIns="0" bIns="0" rtlCol="0" anchor="t"/>
          <a:lstStyle/>
          <a:p>
            <a:pPr indent="0" marL="0">
              <a:buNone/>
            </a:pPr>
            <a:r>
              <a:rPr lang="en-US" sz="900" b="1" spc="500" kern="0" dirty="0">
                <a:solidFill>
                  <a:srgbClr val="94A3B8"/>
                </a:solidFill>
                <a:latin typeface="Calibri" pitchFamily="34" charset="0"/>
                <a:ea typeface="Calibri" pitchFamily="34" charset="-122"/>
                <a:cs typeface="Calibri" pitchFamily="34" charset="-120"/>
              </a:rPr>
              <a:t>AVERRA</a:t>
            </a:r>
            <a:endParaRPr lang="en-US" sz="900" dirty="0"/>
          </a:p>
        </p:txBody>
      </p:sp>
      <p:pic>
        <p:nvPicPr>
          <p:cNvPr id="21" name="!!ps_photo" descr="../public/images/parkinsense-wrist.jpg">    </p:cNvPr>
          <p:cNvPicPr>
            <a:picLocks noChangeAspect="1"/>
          </p:cNvPicPr>
          <p:nvPr/>
        </p:nvPicPr>
        <p:blipFill>
          <a:blip r:embed="rId2"/>
          <a:stretch>
            <a:fillRect/>
          </a:stretch>
        </p:blipFill>
        <p:spPr>
          <a:xfrm>
            <a:off x="502920" y="1371600"/>
            <a:ext cx="1463040" cy="1599103"/>
          </a:xfrm>
          <a:prstGeom prst="rect">
            <a:avLst/>
          </a:prstGeom>
        </p:spPr>
      </p:pic>
      <p:sp>
        <p:nvSpPr>
          <p:cNvPr id="22" name="!!ps_label"/>
          <p:cNvSpPr txBox="1"/>
          <p:nvPr/>
        </p:nvSpPr>
        <p:spPr>
          <a:xfrm>
            <a:off x="2103120" y="1417320"/>
            <a:ext cx="1737360" cy="64008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ParkinSense</a:t>
            </a:r>
            <a:endParaRPr lang="en-US" sz="1400" dirty="0"/>
          </a:p>
          <a:p>
            <a:pPr indent="0" marL="0">
              <a:buNone/>
            </a:pPr>
            <a:r>
              <a:rPr lang="en-US" sz="1000" b="1" spc="200" kern="0" dirty="0">
                <a:solidFill>
                  <a:srgbClr val="06B6D4"/>
                </a:solidFill>
                <a:latin typeface="Calibri" pitchFamily="34" charset="0"/>
                <a:ea typeface="Calibri" pitchFamily="34" charset="-122"/>
                <a:cs typeface="Calibri" pitchFamily="34" charset="-120"/>
              </a:rPr>
              <a:t>MEASURE</a:t>
            </a:r>
            <a:endParaRPr lang="en-US" sz="1400" dirty="0"/>
          </a:p>
        </p:txBody>
      </p:sp>
      <p:sp>
        <p:nvSpPr>
          <p:cNvPr id="23" name="ps_arch0"/>
          <p:cNvSpPr txBox="1"/>
          <p:nvPr/>
        </p:nvSpPr>
        <p:spPr>
          <a:xfrm>
            <a:off x="502920" y="3090672"/>
            <a:ext cx="3429000" cy="402336"/>
          </a:xfrm>
          <a:prstGeom prst="roundRect">
            <a:avLst>
              <a:gd name="adj" fmla="val 11364"/>
            </a:avLst>
          </a:prstGeom>
          <a:solidFill>
            <a:srgbClr val="16213A"/>
          </a:solidFill>
          <a:ln w="9525">
            <a:solidFill>
              <a:srgbClr val="2B3A5C"/>
            </a:solidFill>
          </a:ln>
        </p:spPr>
        <p:txBody>
          <a:bodyPr wrap="square" lIns="101600" tIns="0" rIns="7620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Wearable streams IMU + PPG over BLE (firmware does no analysis)</a:t>
            </a:r>
            <a:endParaRPr lang="en-US" sz="1050" dirty="0"/>
          </a:p>
        </p:txBody>
      </p:sp>
      <p:sp>
        <p:nvSpPr>
          <p:cNvPr id="24" name="ps_arch1"/>
          <p:cNvSpPr txBox="1"/>
          <p:nvPr/>
        </p:nvSpPr>
        <p:spPr>
          <a:xfrm>
            <a:off x="502920" y="3566160"/>
            <a:ext cx="3429000" cy="402336"/>
          </a:xfrm>
          <a:prstGeom prst="roundRect">
            <a:avLst>
              <a:gd name="adj" fmla="val 11364"/>
            </a:avLst>
          </a:prstGeom>
          <a:solidFill>
            <a:srgbClr val="16213A"/>
          </a:solidFill>
          <a:ln w="9525">
            <a:solidFill>
              <a:srgbClr val="2B3A5C"/>
            </a:solidFill>
          </a:ln>
        </p:spPr>
        <p:txBody>
          <a:bodyPr wrap="square" lIns="101600" tIns="0" rIns="7620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Host runtime (Python today; mobile app in development) decodes packets</a:t>
            </a:r>
            <a:endParaRPr lang="en-US" sz="1050" dirty="0"/>
          </a:p>
        </p:txBody>
      </p:sp>
      <p:sp>
        <p:nvSpPr>
          <p:cNvPr id="25" name="ps_arch2"/>
          <p:cNvSpPr txBox="1"/>
          <p:nvPr/>
        </p:nvSpPr>
        <p:spPr>
          <a:xfrm>
            <a:off x="502920" y="4041648"/>
            <a:ext cx="3429000" cy="402336"/>
          </a:xfrm>
          <a:prstGeom prst="roundRect">
            <a:avLst>
              <a:gd name="adj" fmla="val 11364"/>
            </a:avLst>
          </a:prstGeom>
          <a:solidFill>
            <a:srgbClr val="16213A"/>
          </a:solidFill>
          <a:ln w="9525">
            <a:solidFill>
              <a:srgbClr val="2B3A5C"/>
            </a:solidFill>
          </a:ln>
        </p:spPr>
        <p:txBody>
          <a:bodyPr wrap="square" lIns="101600" tIns="0" rIns="7620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Three pipelines: motion · PPG · steps</a:t>
            </a:r>
            <a:endParaRPr lang="en-US" sz="1050" dirty="0"/>
          </a:p>
        </p:txBody>
      </p:sp>
      <p:sp>
        <p:nvSpPr>
          <p:cNvPr id="26" name="ps_arch3"/>
          <p:cNvSpPr txBox="1"/>
          <p:nvPr/>
        </p:nvSpPr>
        <p:spPr>
          <a:xfrm>
            <a:off x="502920" y="4517136"/>
            <a:ext cx="3429000" cy="402336"/>
          </a:xfrm>
          <a:prstGeom prst="roundRect">
            <a:avLst>
              <a:gd name="adj" fmla="val 11364"/>
            </a:avLst>
          </a:prstGeom>
          <a:solidFill>
            <a:srgbClr val="0E3A4A"/>
          </a:solidFill>
          <a:ln w="9525">
            <a:solidFill>
              <a:srgbClr val="06B6D4"/>
            </a:solidFill>
          </a:ln>
        </p:spPr>
        <p:txBody>
          <a:bodyPr wrap="square" lIns="101600" tIns="0" rIns="7620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Shared motion-context classifier gates steps and discounts HR confidence</a:t>
            </a:r>
            <a:endParaRPr lang="en-US" sz="1050" dirty="0"/>
          </a:p>
        </p:txBody>
      </p:sp>
      <p:sp>
        <p:nvSpPr>
          <p:cNvPr id="27" name="ps_arch4"/>
          <p:cNvSpPr txBox="1"/>
          <p:nvPr/>
        </p:nvSpPr>
        <p:spPr>
          <a:xfrm>
            <a:off x="502920" y="4992624"/>
            <a:ext cx="3429000" cy="402336"/>
          </a:xfrm>
          <a:prstGeom prst="roundRect">
            <a:avLst>
              <a:gd name="adj" fmla="val 11364"/>
            </a:avLst>
          </a:prstGeom>
          <a:solidFill>
            <a:srgbClr val="16213A"/>
          </a:solidFill>
          <a:ln w="9525">
            <a:solidFill>
              <a:srgbClr val="2B3A5C"/>
            </a:solidFill>
          </a:ln>
        </p:spPr>
        <p:txBody>
          <a:bodyPr wrap="square" lIns="101600" tIns="0" rIns="7620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Biomarkers logged to CSV/JSON; live dashboard</a:t>
            </a:r>
            <a:endParaRPr lang="en-US" sz="1050" dirty="0"/>
          </a:p>
        </p:txBody>
      </p:sp>
      <p:sp>
        <p:nvSpPr>
          <p:cNvPr id="28" name="sig_card"/>
          <p:cNvSpPr/>
          <p:nvPr/>
        </p:nvSpPr>
        <p:spPr>
          <a:xfrm>
            <a:off x="4114800" y="1371600"/>
            <a:ext cx="2651760" cy="4096512"/>
          </a:xfrm>
          <a:prstGeom prst="roundRect">
            <a:avLst>
              <a:gd name="adj" fmla="val 2414"/>
            </a:avLst>
          </a:prstGeom>
          <a:solidFill>
            <a:srgbClr val="1B2847"/>
          </a:solidFill>
          <a:ln w="9525">
            <a:solidFill>
              <a:srgbClr val="2B3A5C"/>
            </a:solidFill>
            <a:prstDash val="solid"/>
          </a:ln>
        </p:spPr>
      </p:sp>
      <p:sp>
        <p:nvSpPr>
          <p:cNvPr id="29" name="Text 24"/>
          <p:cNvSpPr txBox="1"/>
          <p:nvPr/>
        </p:nvSpPr>
        <p:spPr>
          <a:xfrm>
            <a:off x="4251960" y="1463040"/>
            <a:ext cx="2377440" cy="201168"/>
          </a:xfrm>
          <a:prstGeom prst="rect">
            <a:avLst/>
          </a:prstGeom>
          <a:noFill/>
          <a:ln/>
        </p:spPr>
        <p:txBody>
          <a:bodyPr wrap="square" lIns="0" tIns="0" rIns="0" bIns="0" rtlCol="0" anchor="t"/>
          <a:lstStyle/>
          <a:p>
            <a:pPr indent="0" marL="0">
              <a:buNone/>
            </a:pPr>
            <a:r>
              <a:rPr lang="en-US" sz="900" b="1" spc="200" kern="0" dirty="0">
                <a:solidFill>
                  <a:srgbClr val="94A3B8"/>
                </a:solidFill>
                <a:latin typeface="Calibri" pitchFamily="34" charset="0"/>
                <a:ea typeface="Calibri" pitchFamily="34" charset="-122"/>
                <a:cs typeface="Calibri" pitchFamily="34" charset="-120"/>
              </a:rPr>
              <a:t>MOVEMENT SIGNAL</a:t>
            </a:r>
            <a:endParaRPr lang="en-US" sz="900" dirty="0"/>
          </a:p>
        </p:txBody>
      </p:sp>
      <p:graphicFrame>
        <p:nvGraphicFramePr>
          <p:cNvPr id="30" name="sig_chart" descr=""/>
          <p:cNvGraphicFramePr/>
          <p:nvPr/>
        </p:nvGraphicFramePr>
        <p:xfrm>
          <a:off x="4160520" y="1691640"/>
          <a:ext cx="2560320" cy="1463040"/>
        </p:xfrm>
        <a:graphic xmlns:a="http://schemas.openxmlformats.org/drawingml/2006/main">
          <a:graphicData uri="http://schemas.openxmlformats.org/drawingml/2006/chart">
            <c:chart xmlns:c="http://schemas.openxmlformats.org/drawingml/2006/chart" r:id="rId3"/>
          </a:graphicData>
        </a:graphic>
      </p:graphicFrame>
      <p:sp>
        <p:nvSpPr>
          <p:cNvPr id="31" name="sig_fft"/>
          <p:cNvSpPr txBox="1"/>
          <p:nvPr/>
        </p:nvSpPr>
        <p:spPr>
          <a:xfrm>
            <a:off x="4251960" y="3172968"/>
            <a:ext cx="2377440" cy="228600"/>
          </a:xfrm>
          <a:prstGeom prst="rect">
            <a:avLst/>
          </a:prstGeom>
          <a:noFill/>
          <a:ln/>
        </p:spPr>
        <p:txBody>
          <a:bodyPr wrap="square" lIns="0" tIns="0" rIns="0" bIns="0" rtlCol="0" anchor="t"/>
          <a:lstStyle/>
          <a:p>
            <a:pPr algn="ctr" indent="0" marL="0">
              <a:buNone/>
            </a:pPr>
            <a:r>
              <a:rPr lang="en-US" sz="1000" b="1" dirty="0">
                <a:solidFill>
                  <a:srgbClr val="3B82F6"/>
                </a:solidFill>
                <a:latin typeface="Calibri" pitchFamily="34" charset="0"/>
                <a:ea typeface="Calibri" pitchFamily="34" charset="-122"/>
                <a:cs typeface="Calibri" pitchFamily="34" charset="-120"/>
              </a:rPr>
              <a:t>↓ FFT</a:t>
            </a:r>
            <a:endParaRPr lang="en-US" sz="1000" dirty="0"/>
          </a:p>
        </p:txBody>
      </p:sp>
      <p:graphicFrame>
        <p:nvGraphicFramePr>
          <p:cNvPr id="32" name="spec_chart" descr=""/>
          <p:cNvGraphicFramePr/>
          <p:nvPr/>
        </p:nvGraphicFramePr>
        <p:xfrm>
          <a:off x="4160520" y="3401568"/>
          <a:ext cx="2560320" cy="1417320"/>
        </p:xfrm>
        <a:graphic xmlns:a="http://schemas.openxmlformats.org/drawingml/2006/main">
          <a:graphicData uri="http://schemas.openxmlformats.org/drawingml/2006/chart">
            <c:chart xmlns:c="http://schemas.openxmlformats.org/drawingml/2006/chart" r:id="rId4"/>
          </a:graphicData>
        </a:graphic>
      </p:graphicFrame>
      <p:sp>
        <p:nvSpPr>
          <p:cNvPr id="33" name="spec_lbl"/>
          <p:cNvSpPr txBox="1"/>
          <p:nvPr/>
        </p:nvSpPr>
        <p:spPr>
          <a:xfrm>
            <a:off x="4251960" y="4846320"/>
            <a:ext cx="2423160" cy="228600"/>
          </a:xfrm>
          <a:prstGeom prst="rect">
            <a:avLst/>
          </a:prstGeom>
          <a:noFill/>
          <a:ln/>
        </p:spPr>
        <p:txBody>
          <a:bodyPr wrap="square" lIns="0" tIns="0" rIns="0" bIns="0" rtlCol="0" anchor="t"/>
          <a:lstStyle/>
          <a:p>
            <a:pPr indent="0" marL="0">
              <a:buNone/>
            </a:pPr>
            <a:r>
              <a:rPr lang="en-US" sz="950" dirty="0">
                <a:solidFill>
                  <a:srgbClr val="CBD5E1"/>
                </a:solidFill>
                <a:latin typeface="Calibri" pitchFamily="34" charset="0"/>
                <a:ea typeface="Calibri" pitchFamily="34" charset="-122"/>
                <a:cs typeface="Calibri" pitchFamily="34" charset="-120"/>
              </a:rPr>
              <a:t>voluntary &lt;2 Hz  </a:t>
            </a:r>
            <a:pPr indent="0" marL="0">
              <a:buNone/>
            </a:pPr>
            <a:r>
              <a:rPr lang="en-US" sz="950" b="1" dirty="0">
                <a:solidFill>
                  <a:srgbClr val="8B5CF6"/>
                </a:solidFill>
                <a:latin typeface="Calibri" pitchFamily="34" charset="0"/>
                <a:ea typeface="Calibri" pitchFamily="34" charset="-122"/>
                <a:cs typeface="Calibri" pitchFamily="34" charset="-120"/>
              </a:rPr>
              <a:t>tremor peak ≈5 Hz</a:t>
            </a:r>
            <a:endParaRPr lang="en-US" sz="950" dirty="0"/>
          </a:p>
        </p:txBody>
      </p:sp>
      <p:sp>
        <p:nvSpPr>
          <p:cNvPr id="34" name="Text 27"/>
          <p:cNvSpPr txBox="1"/>
          <p:nvPr/>
        </p:nvSpPr>
        <p:spPr>
          <a:xfrm>
            <a:off x="4251960" y="5120640"/>
            <a:ext cx="2423160" cy="201168"/>
          </a:xfrm>
          <a:prstGeom prst="rect">
            <a:avLst/>
          </a:prstGeom>
          <a:noFill/>
          <a:ln/>
        </p:spPr>
        <p:txBody>
          <a:bodyPr wrap="square" lIns="0" tIns="0" rIns="0" bIns="0" rtlCol="0" anchor="t"/>
          <a:lstStyle/>
          <a:p>
            <a:pPr indent="0" marL="0">
              <a:buNone/>
            </a:pPr>
            <a:r>
              <a:rPr lang="en-US" sz="850" dirty="0">
                <a:solidFill>
                  <a:srgbClr val="94A3B8"/>
                </a:solidFill>
                <a:latin typeface="Calibri" pitchFamily="34" charset="0"/>
                <a:ea typeface="Calibri" pitchFamily="34" charset="-122"/>
                <a:cs typeface="Calibri" pitchFamily="34" charset="-120"/>
              </a:rPr>
              <a:t>Synthetic signal, for illustration</a:t>
            </a:r>
            <a:endParaRPr lang="en-US" sz="850" dirty="0"/>
          </a:p>
        </p:txBody>
      </p:sp>
      <p:sp>
        <p:nvSpPr>
          <p:cNvPr id="35" name="Text 28"/>
          <p:cNvSpPr txBox="1"/>
          <p:nvPr/>
        </p:nvSpPr>
        <p:spPr>
          <a:xfrm>
            <a:off x="6949440" y="1371600"/>
            <a:ext cx="4754880" cy="228600"/>
          </a:xfrm>
          <a:prstGeom prst="rect">
            <a:avLst/>
          </a:prstGeom>
          <a:noFill/>
          <a:ln/>
        </p:spPr>
        <p:txBody>
          <a:bodyPr wrap="square" lIns="0" tIns="0" rIns="0" bIns="0" rtlCol="0" anchor="t"/>
          <a:lstStyle/>
          <a:p>
            <a:pPr indent="0" marL="0">
              <a:buNone/>
            </a:pPr>
            <a:r>
              <a:rPr lang="en-US" sz="950" b="1" spc="100" kern="0" dirty="0">
                <a:solidFill>
                  <a:srgbClr val="94A3B8"/>
                </a:solidFill>
                <a:latin typeface="Calibri" pitchFamily="34" charset="0"/>
                <a:ea typeface="Calibri" pitchFamily="34" charset="-122"/>
                <a:cs typeface="Calibri" pitchFamily="34" charset="-120"/>
              </a:rPr>
              <a:t>FEATURE STATUS (repository = source of truth)</a:t>
            </a:r>
            <a:endParaRPr lang="en-US" sz="950" dirty="0"/>
          </a:p>
        </p:txBody>
      </p:sp>
      <p:sp>
        <p:nvSpPr>
          <p:cNvPr id="36" name="feat0"/>
          <p:cNvSpPr/>
          <p:nvPr/>
        </p:nvSpPr>
        <p:spPr>
          <a:xfrm>
            <a:off x="6949440" y="1664208"/>
            <a:ext cx="4754880" cy="338328"/>
          </a:xfrm>
          <a:prstGeom prst="roundRect">
            <a:avLst>
              <a:gd name="adj" fmla="val 18919"/>
            </a:avLst>
          </a:prstGeom>
          <a:solidFill>
            <a:srgbClr val="16213A"/>
          </a:solidFill>
          <a:ln w="9525">
            <a:solidFill>
              <a:srgbClr val="2B3A5C"/>
            </a:solidFill>
            <a:prstDash val="solid"/>
          </a:ln>
        </p:spPr>
      </p:sp>
      <p:sp>
        <p:nvSpPr>
          <p:cNvPr id="37" name="Text 30"/>
          <p:cNvSpPr txBox="1"/>
          <p:nvPr/>
        </p:nvSpPr>
        <p:spPr>
          <a:xfrm>
            <a:off x="7059168" y="1728216"/>
            <a:ext cx="3246120" cy="237744"/>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BLE streaming at 104 Hz, 10-sample packets</a:t>
            </a:r>
            <a:endParaRPr lang="en-US" sz="1050" dirty="0"/>
          </a:p>
        </p:txBody>
      </p:sp>
      <p:sp>
        <p:nvSpPr>
          <p:cNvPr id="38" name="feat_chip0"/>
          <p:cNvSpPr txBox="1"/>
          <p:nvPr/>
        </p:nvSpPr>
        <p:spPr>
          <a:xfrm>
            <a:off x="10360152" y="1732788"/>
            <a:ext cx="1261872" cy="201168"/>
          </a:xfrm>
          <a:prstGeom prst="roundRect">
            <a:avLst>
              <a:gd name="adj" fmla="val 22727"/>
            </a:avLst>
          </a:prstGeom>
          <a:solidFill>
            <a:srgbClr val="0F172A"/>
          </a:solidFill>
          <a:ln w="9525">
            <a:solidFill>
              <a:srgbClr val="06B6D4"/>
            </a:solidFill>
          </a:ln>
        </p:spPr>
        <p:txBody>
          <a:bodyPr wrap="square" lIns="0" tIns="0" rIns="0" bIns="0" rtlCol="0" anchor="ctr"/>
          <a:lstStyle/>
          <a:p>
            <a:pPr algn="ctr" indent="0" marL="0">
              <a:buNone/>
            </a:pPr>
            <a:r>
              <a:rPr lang="en-US" sz="800" b="1" dirty="0">
                <a:solidFill>
                  <a:srgbClr val="06B6D4"/>
                </a:solidFill>
                <a:latin typeface="Calibri" pitchFamily="34" charset="0"/>
                <a:ea typeface="Calibri" pitchFamily="34" charset="-122"/>
                <a:cs typeface="Calibri" pitchFamily="34" charset="-120"/>
              </a:rPr>
              <a:t>BENCH-TESTED</a:t>
            </a:r>
            <a:endParaRPr lang="en-US" sz="800" dirty="0"/>
          </a:p>
        </p:txBody>
      </p:sp>
      <p:sp>
        <p:nvSpPr>
          <p:cNvPr id="39" name="feat1"/>
          <p:cNvSpPr/>
          <p:nvPr/>
        </p:nvSpPr>
        <p:spPr>
          <a:xfrm>
            <a:off x="6949440" y="2048256"/>
            <a:ext cx="4754880" cy="338328"/>
          </a:xfrm>
          <a:prstGeom prst="roundRect">
            <a:avLst>
              <a:gd name="adj" fmla="val 18919"/>
            </a:avLst>
          </a:prstGeom>
          <a:solidFill>
            <a:srgbClr val="16213A"/>
          </a:solidFill>
          <a:ln w="9525">
            <a:solidFill>
              <a:srgbClr val="2B3A5C"/>
            </a:solidFill>
            <a:prstDash val="solid"/>
          </a:ln>
        </p:spPr>
      </p:sp>
      <p:sp>
        <p:nvSpPr>
          <p:cNvPr id="40" name="Text 33"/>
          <p:cNvSpPr txBox="1"/>
          <p:nvPr/>
        </p:nvSpPr>
        <p:spPr>
          <a:xfrm>
            <a:off x="7059168" y="2112264"/>
            <a:ext cx="3246120" cy="237744"/>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Steps, cadence, distance, active minutes</a:t>
            </a:r>
            <a:endParaRPr lang="en-US" sz="1050" dirty="0"/>
          </a:p>
        </p:txBody>
      </p:sp>
      <p:sp>
        <p:nvSpPr>
          <p:cNvPr id="41" name="feat_chip1"/>
          <p:cNvSpPr txBox="1"/>
          <p:nvPr/>
        </p:nvSpPr>
        <p:spPr>
          <a:xfrm>
            <a:off x="10360152" y="2116836"/>
            <a:ext cx="1261872" cy="201168"/>
          </a:xfrm>
          <a:prstGeom prst="roundRect">
            <a:avLst>
              <a:gd name="adj" fmla="val 22727"/>
            </a:avLst>
          </a:prstGeom>
          <a:solidFill>
            <a:srgbClr val="0F172A"/>
          </a:solidFill>
          <a:ln w="9525">
            <a:solidFill>
              <a:srgbClr val="06B6D4"/>
            </a:solidFill>
          </a:ln>
        </p:spPr>
        <p:txBody>
          <a:bodyPr wrap="square" lIns="0" tIns="0" rIns="0" bIns="0" rtlCol="0" anchor="ctr"/>
          <a:lstStyle/>
          <a:p>
            <a:pPr algn="ctr" indent="0" marL="0">
              <a:buNone/>
            </a:pPr>
            <a:r>
              <a:rPr lang="en-US" sz="800" b="1" dirty="0">
                <a:solidFill>
                  <a:srgbClr val="06B6D4"/>
                </a:solidFill>
                <a:latin typeface="Calibri" pitchFamily="34" charset="0"/>
                <a:ea typeface="Calibri" pitchFamily="34" charset="-122"/>
                <a:cs typeface="Calibri" pitchFamily="34" charset="-120"/>
              </a:rPr>
              <a:t>BENCH-TESTED</a:t>
            </a:r>
            <a:endParaRPr lang="en-US" sz="800" dirty="0"/>
          </a:p>
        </p:txBody>
      </p:sp>
      <p:sp>
        <p:nvSpPr>
          <p:cNvPr id="42" name="feat2"/>
          <p:cNvSpPr/>
          <p:nvPr/>
        </p:nvSpPr>
        <p:spPr>
          <a:xfrm>
            <a:off x="6949440" y="2432304"/>
            <a:ext cx="4754880" cy="338328"/>
          </a:xfrm>
          <a:prstGeom prst="roundRect">
            <a:avLst>
              <a:gd name="adj" fmla="val 18919"/>
            </a:avLst>
          </a:prstGeom>
          <a:solidFill>
            <a:srgbClr val="16213A"/>
          </a:solidFill>
          <a:ln w="9525">
            <a:solidFill>
              <a:srgbClr val="2B3A5C"/>
            </a:solidFill>
            <a:prstDash val="solid"/>
          </a:ln>
        </p:spPr>
      </p:sp>
      <p:sp>
        <p:nvSpPr>
          <p:cNvPr id="43" name="Text 36"/>
          <p:cNvSpPr txBox="1"/>
          <p:nvPr/>
        </p:nvSpPr>
        <p:spPr>
          <a:xfrm>
            <a:off x="7059168" y="2496312"/>
            <a:ext cx="3246120" cy="237744"/>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Tremor score, frequency, burden, rest index</a:t>
            </a:r>
            <a:endParaRPr lang="en-US" sz="1050" dirty="0"/>
          </a:p>
        </p:txBody>
      </p:sp>
      <p:sp>
        <p:nvSpPr>
          <p:cNvPr id="44" name="feat_chip2"/>
          <p:cNvSpPr txBox="1"/>
          <p:nvPr/>
        </p:nvSpPr>
        <p:spPr>
          <a:xfrm>
            <a:off x="10360152" y="2500884"/>
            <a:ext cx="1261872" cy="201168"/>
          </a:xfrm>
          <a:prstGeom prst="roundRect">
            <a:avLst>
              <a:gd name="adj" fmla="val 22727"/>
            </a:avLst>
          </a:prstGeom>
          <a:solidFill>
            <a:srgbClr val="0F172A"/>
          </a:solidFill>
          <a:ln w="9525">
            <a:solidFill>
              <a:srgbClr val="06B6D4"/>
            </a:solidFill>
          </a:ln>
        </p:spPr>
        <p:txBody>
          <a:bodyPr wrap="square" lIns="0" tIns="0" rIns="0" bIns="0" rtlCol="0" anchor="ctr"/>
          <a:lstStyle/>
          <a:p>
            <a:pPr algn="ctr" indent="0" marL="0">
              <a:buNone/>
            </a:pPr>
            <a:r>
              <a:rPr lang="en-US" sz="800" b="1" dirty="0">
                <a:solidFill>
                  <a:srgbClr val="06B6D4"/>
                </a:solidFill>
                <a:latin typeface="Calibri" pitchFamily="34" charset="0"/>
                <a:ea typeface="Calibri" pitchFamily="34" charset="-122"/>
                <a:cs typeface="Calibri" pitchFamily="34" charset="-120"/>
              </a:rPr>
              <a:t>BENCH-TESTED</a:t>
            </a:r>
            <a:endParaRPr lang="en-US" sz="800" dirty="0"/>
          </a:p>
        </p:txBody>
      </p:sp>
      <p:sp>
        <p:nvSpPr>
          <p:cNvPr id="45" name="feat3"/>
          <p:cNvSpPr/>
          <p:nvPr/>
        </p:nvSpPr>
        <p:spPr>
          <a:xfrm>
            <a:off x="6949440" y="2816352"/>
            <a:ext cx="4754880" cy="338328"/>
          </a:xfrm>
          <a:prstGeom prst="roundRect">
            <a:avLst>
              <a:gd name="adj" fmla="val 18919"/>
            </a:avLst>
          </a:prstGeom>
          <a:solidFill>
            <a:srgbClr val="16213A"/>
          </a:solidFill>
          <a:ln w="9525">
            <a:solidFill>
              <a:srgbClr val="2B3A5C"/>
            </a:solidFill>
            <a:prstDash val="solid"/>
          </a:ln>
        </p:spPr>
      </p:sp>
      <p:sp>
        <p:nvSpPr>
          <p:cNvPr id="46" name="Text 39"/>
          <p:cNvSpPr txBox="1"/>
          <p:nvPr/>
        </p:nvSpPr>
        <p:spPr>
          <a:xfrm>
            <a:off x="7059168" y="2880360"/>
            <a:ext cx="3246120" cy="237744"/>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Heart rate, HRV (RMSSD, SDNN, pNN50), SpO₂</a:t>
            </a:r>
            <a:endParaRPr lang="en-US" sz="1050" dirty="0"/>
          </a:p>
        </p:txBody>
      </p:sp>
      <p:sp>
        <p:nvSpPr>
          <p:cNvPr id="47" name="feat_chip3"/>
          <p:cNvSpPr txBox="1"/>
          <p:nvPr/>
        </p:nvSpPr>
        <p:spPr>
          <a:xfrm>
            <a:off x="10360152" y="2884932"/>
            <a:ext cx="1261872" cy="201168"/>
          </a:xfrm>
          <a:prstGeom prst="roundRect">
            <a:avLst>
              <a:gd name="adj" fmla="val 22727"/>
            </a:avLst>
          </a:prstGeom>
          <a:solidFill>
            <a:srgbClr val="0F172A"/>
          </a:solidFill>
          <a:ln w="9525">
            <a:solidFill>
              <a:srgbClr val="3B82F6"/>
            </a:solidFill>
          </a:ln>
        </p:spPr>
        <p:txBody>
          <a:bodyPr wrap="square" lIns="0" tIns="0" rIns="0" bIns="0" rtlCol="0" anchor="ctr"/>
          <a:lstStyle/>
          <a:p>
            <a:pPr algn="ctr" indent="0" marL="0">
              <a:buNone/>
            </a:pPr>
            <a:r>
              <a:rPr lang="en-US" sz="800" b="1" dirty="0">
                <a:solidFill>
                  <a:srgbClr val="3B82F6"/>
                </a:solidFill>
                <a:latin typeface="Calibri" pitchFamily="34" charset="0"/>
                <a:ea typeface="Calibri" pitchFamily="34" charset="-122"/>
                <a:cs typeface="Calibri" pitchFamily="34" charset="-120"/>
              </a:rPr>
              <a:t>IMPLEMENTED</a:t>
            </a:r>
            <a:endParaRPr lang="en-US" sz="800" dirty="0"/>
          </a:p>
        </p:txBody>
      </p:sp>
      <p:sp>
        <p:nvSpPr>
          <p:cNvPr id="48" name="feat4"/>
          <p:cNvSpPr/>
          <p:nvPr/>
        </p:nvSpPr>
        <p:spPr>
          <a:xfrm>
            <a:off x="6949440" y="3200400"/>
            <a:ext cx="4754880" cy="338328"/>
          </a:xfrm>
          <a:prstGeom prst="roundRect">
            <a:avLst>
              <a:gd name="adj" fmla="val 18919"/>
            </a:avLst>
          </a:prstGeom>
          <a:solidFill>
            <a:srgbClr val="16213A"/>
          </a:solidFill>
          <a:ln w="9525">
            <a:solidFill>
              <a:srgbClr val="2B3A5C"/>
            </a:solidFill>
            <a:prstDash val="solid"/>
          </a:ln>
        </p:spPr>
      </p:sp>
      <p:sp>
        <p:nvSpPr>
          <p:cNvPr id="49" name="Text 42"/>
          <p:cNvSpPr txBox="1"/>
          <p:nvPr/>
        </p:nvSpPr>
        <p:spPr>
          <a:xfrm>
            <a:off x="7059168" y="3264408"/>
            <a:ext cx="3246120" cy="237744"/>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Skin-contact deep sleep, ≈7 mA active</a:t>
            </a:r>
            <a:endParaRPr lang="en-US" sz="1050" dirty="0"/>
          </a:p>
        </p:txBody>
      </p:sp>
      <p:sp>
        <p:nvSpPr>
          <p:cNvPr id="50" name="feat_chip4"/>
          <p:cNvSpPr txBox="1"/>
          <p:nvPr/>
        </p:nvSpPr>
        <p:spPr>
          <a:xfrm>
            <a:off x="10360152" y="3268980"/>
            <a:ext cx="1261872" cy="201168"/>
          </a:xfrm>
          <a:prstGeom prst="roundRect">
            <a:avLst>
              <a:gd name="adj" fmla="val 22727"/>
            </a:avLst>
          </a:prstGeom>
          <a:solidFill>
            <a:srgbClr val="0F172A"/>
          </a:solidFill>
          <a:ln w="9525">
            <a:solidFill>
              <a:srgbClr val="06B6D4"/>
            </a:solidFill>
          </a:ln>
        </p:spPr>
        <p:txBody>
          <a:bodyPr wrap="square" lIns="0" tIns="0" rIns="0" bIns="0" rtlCol="0" anchor="ctr"/>
          <a:lstStyle/>
          <a:p>
            <a:pPr algn="ctr" indent="0" marL="0">
              <a:buNone/>
            </a:pPr>
            <a:r>
              <a:rPr lang="en-US" sz="800" b="1" dirty="0">
                <a:solidFill>
                  <a:srgbClr val="06B6D4"/>
                </a:solidFill>
                <a:latin typeface="Calibri" pitchFamily="34" charset="0"/>
                <a:ea typeface="Calibri" pitchFamily="34" charset="-122"/>
                <a:cs typeface="Calibri" pitchFamily="34" charset="-120"/>
              </a:rPr>
              <a:t>BENCH-TESTED</a:t>
            </a:r>
            <a:endParaRPr lang="en-US" sz="800" dirty="0"/>
          </a:p>
        </p:txBody>
      </p:sp>
      <p:sp>
        <p:nvSpPr>
          <p:cNvPr id="51" name="feat5"/>
          <p:cNvSpPr/>
          <p:nvPr/>
        </p:nvSpPr>
        <p:spPr>
          <a:xfrm>
            <a:off x="6949440" y="3584448"/>
            <a:ext cx="4754880" cy="338328"/>
          </a:xfrm>
          <a:prstGeom prst="roundRect">
            <a:avLst>
              <a:gd name="adj" fmla="val 18919"/>
            </a:avLst>
          </a:prstGeom>
          <a:solidFill>
            <a:srgbClr val="16213A"/>
          </a:solidFill>
          <a:ln w="9525">
            <a:solidFill>
              <a:srgbClr val="F59E0B"/>
            </a:solidFill>
            <a:prstDash val="solid"/>
          </a:ln>
        </p:spPr>
      </p:sp>
      <p:sp>
        <p:nvSpPr>
          <p:cNvPr id="52" name="Text 45"/>
          <p:cNvSpPr txBox="1"/>
          <p:nvPr/>
        </p:nvSpPr>
        <p:spPr>
          <a:xfrm>
            <a:off x="7059168" y="3648456"/>
            <a:ext cx="3246120" cy="237744"/>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Clinical evaluation with ICMR</a:t>
            </a:r>
            <a:endParaRPr lang="en-US" sz="1050" dirty="0"/>
          </a:p>
        </p:txBody>
      </p:sp>
      <p:sp>
        <p:nvSpPr>
          <p:cNvPr id="53" name="feat_chip5"/>
          <p:cNvSpPr txBox="1"/>
          <p:nvPr/>
        </p:nvSpPr>
        <p:spPr>
          <a:xfrm>
            <a:off x="10360152" y="3653028"/>
            <a:ext cx="1261872" cy="201168"/>
          </a:xfrm>
          <a:prstGeom prst="roundRect">
            <a:avLst>
              <a:gd name="adj" fmla="val 22727"/>
            </a:avLst>
          </a:prstGeom>
          <a:solidFill>
            <a:srgbClr val="0F172A"/>
          </a:solidFill>
          <a:ln w="9525">
            <a:solidFill>
              <a:srgbClr val="F59E0B"/>
            </a:solidFill>
          </a:ln>
        </p:spPr>
        <p:txBody>
          <a:bodyPr wrap="square" lIns="0" tIns="0" rIns="0" bIns="0" rtlCol="0" anchor="ctr"/>
          <a:lstStyle/>
          <a:p>
            <a:pPr algn="ctr" indent="0" marL="0">
              <a:buNone/>
            </a:pPr>
            <a:r>
              <a:rPr lang="en-US" sz="800" b="1" dirty="0">
                <a:solidFill>
                  <a:srgbClr val="F59E0B"/>
                </a:solidFill>
                <a:latin typeface="Calibri" pitchFamily="34" charset="0"/>
                <a:ea typeface="Calibri" pitchFamily="34" charset="-122"/>
                <a:cs typeface="Calibri" pitchFamily="34" charset="-120"/>
              </a:rPr>
              <a:t>IN PROGRESS</a:t>
            </a:r>
            <a:endParaRPr lang="en-US" sz="800" dirty="0"/>
          </a:p>
        </p:txBody>
      </p:sp>
      <p:sp>
        <p:nvSpPr>
          <p:cNvPr id="54" name="feat6"/>
          <p:cNvSpPr/>
          <p:nvPr/>
        </p:nvSpPr>
        <p:spPr>
          <a:xfrm>
            <a:off x="6949440" y="3968496"/>
            <a:ext cx="4754880" cy="338328"/>
          </a:xfrm>
          <a:prstGeom prst="roundRect">
            <a:avLst>
              <a:gd name="adj" fmla="val 18919"/>
            </a:avLst>
          </a:prstGeom>
          <a:solidFill>
            <a:srgbClr val="16213A"/>
          </a:solidFill>
          <a:ln w="9525">
            <a:solidFill>
              <a:srgbClr val="2B3A5C"/>
            </a:solidFill>
            <a:prstDash val="solid"/>
          </a:ln>
        </p:spPr>
      </p:sp>
      <p:sp>
        <p:nvSpPr>
          <p:cNvPr id="55" name="Text 48"/>
          <p:cNvSpPr txBox="1"/>
          <p:nvPr/>
        </p:nvSpPr>
        <p:spPr>
          <a:xfrm>
            <a:off x="7059168" y="4032504"/>
            <a:ext cx="3246120" cy="237744"/>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Mobile companion app</a:t>
            </a:r>
            <a:endParaRPr lang="en-US" sz="1050" dirty="0"/>
          </a:p>
        </p:txBody>
      </p:sp>
      <p:sp>
        <p:nvSpPr>
          <p:cNvPr id="56" name="feat_chip6"/>
          <p:cNvSpPr txBox="1"/>
          <p:nvPr/>
        </p:nvSpPr>
        <p:spPr>
          <a:xfrm>
            <a:off x="10360152" y="4037076"/>
            <a:ext cx="1261872" cy="201168"/>
          </a:xfrm>
          <a:prstGeom prst="roundRect">
            <a:avLst>
              <a:gd name="adj" fmla="val 22727"/>
            </a:avLst>
          </a:prstGeom>
          <a:solidFill>
            <a:srgbClr val="0F172A"/>
          </a:solidFill>
          <a:ln w="9525">
            <a:solidFill>
              <a:srgbClr val="F59E0B"/>
            </a:solidFill>
          </a:ln>
        </p:spPr>
        <p:txBody>
          <a:bodyPr wrap="square" lIns="0" tIns="0" rIns="0" bIns="0" rtlCol="0" anchor="ctr"/>
          <a:lstStyle/>
          <a:p>
            <a:pPr algn="ctr" indent="0" marL="0">
              <a:buNone/>
            </a:pPr>
            <a:r>
              <a:rPr lang="en-US" sz="800" b="1" dirty="0">
                <a:solidFill>
                  <a:srgbClr val="F59E0B"/>
                </a:solidFill>
                <a:latin typeface="Calibri" pitchFamily="34" charset="0"/>
                <a:ea typeface="Calibri" pitchFamily="34" charset="-122"/>
                <a:cs typeface="Calibri" pitchFamily="34" charset="-120"/>
              </a:rPr>
              <a:t>IN DEVELOPMENT</a:t>
            </a:r>
            <a:endParaRPr lang="en-US" sz="800" dirty="0"/>
          </a:p>
        </p:txBody>
      </p:sp>
      <p:sp>
        <p:nvSpPr>
          <p:cNvPr id="57" name="feat7"/>
          <p:cNvSpPr/>
          <p:nvPr/>
        </p:nvSpPr>
        <p:spPr>
          <a:xfrm>
            <a:off x="6949440" y="4352544"/>
            <a:ext cx="4754880" cy="338328"/>
          </a:xfrm>
          <a:prstGeom prst="roundRect">
            <a:avLst>
              <a:gd name="adj" fmla="val 18919"/>
            </a:avLst>
          </a:prstGeom>
          <a:solidFill>
            <a:srgbClr val="16213A"/>
          </a:solidFill>
          <a:ln w="9525">
            <a:solidFill>
              <a:srgbClr val="2B3A5C"/>
            </a:solidFill>
            <a:prstDash val="solid"/>
          </a:ln>
        </p:spPr>
      </p:sp>
      <p:sp>
        <p:nvSpPr>
          <p:cNvPr id="58" name="Text 51"/>
          <p:cNvSpPr txBox="1"/>
          <p:nvPr/>
        </p:nvSpPr>
        <p:spPr>
          <a:xfrm>
            <a:off x="7059168" y="4416552"/>
            <a:ext cx="3246120" cy="237744"/>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Processing on the wearable itself</a:t>
            </a:r>
            <a:endParaRPr lang="en-US" sz="1050" dirty="0"/>
          </a:p>
        </p:txBody>
      </p:sp>
      <p:sp>
        <p:nvSpPr>
          <p:cNvPr id="59" name="feat_chip7"/>
          <p:cNvSpPr txBox="1"/>
          <p:nvPr/>
        </p:nvSpPr>
        <p:spPr>
          <a:xfrm>
            <a:off x="10360152" y="4421124"/>
            <a:ext cx="1261872" cy="201168"/>
          </a:xfrm>
          <a:prstGeom prst="roundRect">
            <a:avLst>
              <a:gd name="adj" fmla="val 22727"/>
            </a:avLst>
          </a:prstGeom>
          <a:solidFill>
            <a:srgbClr val="0F172A"/>
          </a:solidFill>
          <a:ln w="9525">
            <a:solidFill>
              <a:srgbClr val="F59E0B"/>
            </a:solidFill>
          </a:ln>
        </p:spPr>
        <p:txBody>
          <a:bodyPr wrap="square" lIns="0" tIns="0" rIns="0" bIns="0" rtlCol="0" anchor="ctr"/>
          <a:lstStyle/>
          <a:p>
            <a:pPr algn="ctr" indent="0" marL="0">
              <a:buNone/>
            </a:pPr>
            <a:r>
              <a:rPr lang="en-US" sz="800" b="1" dirty="0">
                <a:solidFill>
                  <a:srgbClr val="F59E0B"/>
                </a:solidFill>
                <a:latin typeface="Calibri" pitchFamily="34" charset="0"/>
                <a:ea typeface="Calibri" pitchFamily="34" charset="-122"/>
                <a:cs typeface="Calibri" pitchFamily="34" charset="-120"/>
              </a:rPr>
              <a:t>NEEDS HW/FW</a:t>
            </a:r>
            <a:endParaRPr lang="en-US" sz="800" dirty="0"/>
          </a:p>
        </p:txBody>
      </p:sp>
      <p:sp>
        <p:nvSpPr>
          <p:cNvPr id="60" name="feat8"/>
          <p:cNvSpPr/>
          <p:nvPr/>
        </p:nvSpPr>
        <p:spPr>
          <a:xfrm>
            <a:off x="6949440" y="4736592"/>
            <a:ext cx="4754880" cy="338328"/>
          </a:xfrm>
          <a:prstGeom prst="roundRect">
            <a:avLst>
              <a:gd name="adj" fmla="val 18919"/>
            </a:avLst>
          </a:prstGeom>
          <a:solidFill>
            <a:srgbClr val="16213A"/>
          </a:solidFill>
          <a:ln w="9525">
            <a:solidFill>
              <a:srgbClr val="2B3A5C"/>
            </a:solidFill>
            <a:prstDash val="solid"/>
          </a:ln>
        </p:spPr>
      </p:sp>
      <p:sp>
        <p:nvSpPr>
          <p:cNvPr id="61" name="Text 54"/>
          <p:cNvSpPr txBox="1"/>
          <p:nvPr/>
        </p:nvSpPr>
        <p:spPr>
          <a:xfrm>
            <a:off x="7059168" y="4800600"/>
            <a:ext cx="3246120" cy="237744"/>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Sleep, recovery, activity-type, calories, VO₂ max</a:t>
            </a:r>
            <a:endParaRPr lang="en-US" sz="1050" dirty="0"/>
          </a:p>
        </p:txBody>
      </p:sp>
      <p:sp>
        <p:nvSpPr>
          <p:cNvPr id="62" name="feat_chip8"/>
          <p:cNvSpPr txBox="1"/>
          <p:nvPr/>
        </p:nvSpPr>
        <p:spPr>
          <a:xfrm>
            <a:off x="10360152" y="4805172"/>
            <a:ext cx="1261872" cy="201168"/>
          </a:xfrm>
          <a:prstGeom prst="roundRect">
            <a:avLst>
              <a:gd name="adj" fmla="val 22727"/>
            </a:avLst>
          </a:prstGeom>
          <a:solidFill>
            <a:srgbClr val="0F172A"/>
          </a:solidFill>
          <a:ln w="9525">
            <a:solidFill>
              <a:srgbClr val="94A3B8"/>
            </a:solidFill>
          </a:ln>
        </p:spPr>
        <p:txBody>
          <a:bodyPr wrap="square" lIns="0" tIns="0" rIns="0" bIns="0" rtlCol="0" anchor="ctr"/>
          <a:lstStyle/>
          <a:p>
            <a:pPr algn="ctr" indent="0" marL="0">
              <a:buNone/>
            </a:pPr>
            <a:r>
              <a:rPr lang="en-US" sz="800" b="1" dirty="0">
                <a:solidFill>
                  <a:srgbClr val="94A3B8"/>
                </a:solidFill>
                <a:latin typeface="Calibri" pitchFamily="34" charset="0"/>
                <a:ea typeface="Calibri" pitchFamily="34" charset="-122"/>
                <a:cs typeface="Calibri" pitchFamily="34" charset="-120"/>
              </a:rPr>
              <a:t>PLANNED</a:t>
            </a:r>
            <a:endParaRPr lang="en-US" sz="800" dirty="0"/>
          </a:p>
        </p:txBody>
      </p:sp>
      <p:sp>
        <p:nvSpPr>
          <p:cNvPr id="63" name="feat9"/>
          <p:cNvSpPr/>
          <p:nvPr/>
        </p:nvSpPr>
        <p:spPr>
          <a:xfrm>
            <a:off x="6949440" y="5120640"/>
            <a:ext cx="4754880" cy="338328"/>
          </a:xfrm>
          <a:prstGeom prst="roundRect">
            <a:avLst>
              <a:gd name="adj" fmla="val 18919"/>
            </a:avLst>
          </a:prstGeom>
          <a:solidFill>
            <a:srgbClr val="16213A"/>
          </a:solidFill>
          <a:ln w="9525">
            <a:solidFill>
              <a:srgbClr val="2B3A5C"/>
            </a:solidFill>
            <a:prstDash val="solid"/>
          </a:ln>
        </p:spPr>
      </p:sp>
      <p:sp>
        <p:nvSpPr>
          <p:cNvPr id="64" name="Text 57"/>
          <p:cNvSpPr txBox="1"/>
          <p:nvPr/>
        </p:nvSpPr>
        <p:spPr>
          <a:xfrm>
            <a:off x="7059168" y="5184648"/>
            <a:ext cx="3246120" cy="237744"/>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Early identification of Parkinson's-related movement change</a:t>
            </a:r>
            <a:endParaRPr lang="en-US" sz="1050" dirty="0"/>
          </a:p>
        </p:txBody>
      </p:sp>
      <p:sp>
        <p:nvSpPr>
          <p:cNvPr id="65" name="feat_chip9"/>
          <p:cNvSpPr txBox="1"/>
          <p:nvPr/>
        </p:nvSpPr>
        <p:spPr>
          <a:xfrm>
            <a:off x="10360152" y="5189220"/>
            <a:ext cx="1261872" cy="201168"/>
          </a:xfrm>
          <a:prstGeom prst="roundRect">
            <a:avLst>
              <a:gd name="adj" fmla="val 22727"/>
            </a:avLst>
          </a:prstGeom>
          <a:solidFill>
            <a:srgbClr val="0F172A"/>
          </a:solidFill>
          <a:ln w="9525">
            <a:solidFill>
              <a:srgbClr val="8B5CF6"/>
            </a:solidFill>
          </a:ln>
        </p:spPr>
        <p:txBody>
          <a:bodyPr wrap="square" lIns="0" tIns="0" rIns="0" bIns="0" rtlCol="0" anchor="ctr"/>
          <a:lstStyle/>
          <a:p>
            <a:pPr algn="ctr" indent="0" marL="0">
              <a:buNone/>
            </a:pPr>
            <a:r>
              <a:rPr lang="en-US" sz="800" b="1" dirty="0">
                <a:solidFill>
                  <a:srgbClr val="8B5CF6"/>
                </a:solidFill>
                <a:latin typeface="Calibri" pitchFamily="34" charset="0"/>
                <a:ea typeface="Calibri" pitchFamily="34" charset="-122"/>
                <a:cs typeface="Calibri" pitchFamily="34" charset="-120"/>
              </a:rPr>
              <a:t>RESEARCH</a:t>
            </a:r>
            <a:endParaRPr lang="en-US" sz="800" dirty="0"/>
          </a:p>
        </p:txBody>
      </p:sp>
      <p:sp>
        <p:nvSpPr>
          <p:cNvPr id="66" name="research"/>
          <p:cNvSpPr/>
          <p:nvPr/>
        </p:nvSpPr>
        <p:spPr>
          <a:xfrm>
            <a:off x="502920" y="5559552"/>
            <a:ext cx="11201400" cy="548640"/>
          </a:xfrm>
          <a:prstGeom prst="roundRect">
            <a:avLst>
              <a:gd name="adj" fmla="val 11667"/>
            </a:avLst>
          </a:prstGeom>
          <a:solidFill>
            <a:srgbClr val="201A3D"/>
          </a:solidFill>
          <a:ln w="9525">
            <a:solidFill>
              <a:srgbClr val="8B5CF6"/>
            </a:solidFill>
            <a:prstDash val="solid"/>
          </a:ln>
        </p:spPr>
      </p:sp>
      <p:sp>
        <p:nvSpPr>
          <p:cNvPr id="67" name="research_t"/>
          <p:cNvSpPr txBox="1"/>
          <p:nvPr/>
        </p:nvSpPr>
        <p:spPr>
          <a:xfrm>
            <a:off x="685800" y="5623560"/>
            <a:ext cx="10881360" cy="438912"/>
          </a:xfrm>
          <a:prstGeom prst="rect">
            <a:avLst/>
          </a:prstGeom>
          <a:noFill/>
          <a:ln/>
        </p:spPr>
        <p:txBody>
          <a:bodyPr wrap="square" lIns="0" tIns="0" rIns="0" bIns="0" rtlCol="0" anchor="ctr"/>
          <a:lstStyle/>
          <a:p>
            <a:pPr indent="0" marL="0">
              <a:buNone/>
            </a:pPr>
            <a:r>
              <a:rPr lang="en-US" sz="1050" b="1" dirty="0">
                <a:solidFill>
                  <a:srgbClr val="8B5CF6"/>
                </a:solidFill>
                <a:latin typeface="Calibri" pitchFamily="34" charset="0"/>
                <a:ea typeface="Calibri" pitchFamily="34" charset="-122"/>
                <a:cs typeface="Calibri" pitchFamily="34" charset="-120"/>
              </a:rPr>
              <a:t>Research path, not a claim: </a:t>
            </a:r>
            <a:pPr indent="0" marL="0">
              <a:buNone/>
            </a:pPr>
            <a:r>
              <a:rPr lang="en-US" sz="1050" dirty="0">
                <a:solidFill>
                  <a:srgbClr val="CBD5E1"/>
                </a:solidFill>
                <a:latin typeface="Calibri" pitchFamily="34" charset="0"/>
                <a:ea typeface="Calibri" pitchFamily="34" charset="-122"/>
                <a:cs typeface="Calibri" pitchFamily="34" charset="-120"/>
              </a:rPr>
              <a:t>Broader wellness wearable  →  Reliable longitudinal movement data  →  Research collaborations (ICMR evaluation in progress)  →  Reference assessments  →  Prospective validation  →  Sensitivity, specificity, false positives  →  Regulatory assessment before any medical claim</a:t>
            </a:r>
            <a:endParaRPr lang="en-US" sz="1050" dirty="0"/>
          </a:p>
        </p:txBody>
      </p:sp>
      <p:sp>
        <p:nvSpPr>
          <p:cNvPr id="68" name="sources"/>
          <p:cNvSpPr txBox="1"/>
          <p:nvPr/>
        </p:nvSpPr>
        <p:spPr>
          <a:xfrm>
            <a:off x="502920" y="6199632"/>
            <a:ext cx="8778240" cy="274320"/>
          </a:xfrm>
          <a:prstGeom prst="rect">
            <a:avLst/>
          </a:prstGeom>
          <a:noFill/>
          <a:ln/>
        </p:spPr>
        <p:txBody>
          <a:bodyPr wrap="square" lIns="0" tIns="0" rIns="0" bIns="0" rtlCol="0" anchor="t"/>
          <a:lstStyle/>
          <a:p>
            <a:pPr indent="0" marL="0">
              <a:buNone/>
            </a:pPr>
            <a:r>
              <a:rPr lang="en-US" sz="850" dirty="0">
                <a:solidFill>
                  <a:srgbClr val="94A3B8"/>
                </a:solidFill>
                <a:latin typeface="Calibri" pitchFamily="34" charset="0"/>
                <a:ea typeface="Calibri" pitchFamily="34" charset="-122"/>
                <a:cs typeface="Calibri" pitchFamily="34" charset="-120"/>
              </a:rPr>
              <a:t>ParkinSense does not diagnose, predict or clinically detect Parkinson's disease. Status from the ParkinSense repository (develop) and paper.</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450"/>
                                        <p:tgtEl>
                                          <p:spTgt spid="23"/>
                                        </p:tgtEl>
                                      </p:cBhvr>
                                    </p:animEffect>
                                  </p:childTnLst>
                                </p:cTn>
                              </p:par>
                            </p:childTnLst>
                          </p:cTn>
                        </p:par>
                        <p:par>
                          <p:cTn id="8" fill="hold">
                            <p:stCondLst>
                              <p:cond delay="450"/>
                            </p:stCondLst>
                            <p:childTnLst>
                              <p:par>
                                <p:cTn id="9" presetID="22" presetClass="entr" presetSubtype="8"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450"/>
                                        <p:tgtEl>
                                          <p:spTgt spid="24"/>
                                        </p:tgtEl>
                                      </p:cBhvr>
                                    </p:animEffect>
                                  </p:childTnLst>
                                </p:cTn>
                              </p:par>
                            </p:childTnLst>
                          </p:cTn>
                        </p:par>
                        <p:par>
                          <p:cTn id="12" fill="hold">
                            <p:stCondLst>
                              <p:cond delay="750"/>
                            </p:stCondLst>
                            <p:childTnLst>
                              <p:par>
                                <p:cTn id="13" presetID="22" presetClass="entr" presetSubtype="8"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450"/>
                                        <p:tgtEl>
                                          <p:spTgt spid="25"/>
                                        </p:tgtEl>
                                      </p:cBhvr>
                                    </p:animEffect>
                                  </p:childTnLst>
                                </p:cTn>
                              </p:par>
                            </p:childTnLst>
                          </p:cTn>
                        </p:par>
                        <p:par>
                          <p:cTn id="16" fill="hold">
                            <p:stCondLst>
                              <p:cond delay="1050"/>
                            </p:stCondLst>
                            <p:childTnLst>
                              <p:par>
                                <p:cTn id="17" presetID="22" presetClass="entr" presetSubtype="8" fill="hold"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left)">
                                      <p:cBhvr>
                                        <p:cTn id="19" dur="450"/>
                                        <p:tgtEl>
                                          <p:spTgt spid="26"/>
                                        </p:tgtEl>
                                      </p:cBhvr>
                                    </p:animEffect>
                                  </p:childTnLst>
                                </p:cTn>
                              </p:par>
                            </p:childTnLst>
                          </p:cTn>
                        </p:par>
                        <p:par>
                          <p:cTn id="20" fill="hold">
                            <p:stCondLst>
                              <p:cond delay="1350"/>
                            </p:stCondLst>
                            <p:childTnLst>
                              <p:par>
                                <p:cTn id="21" presetID="22" presetClass="entr" presetSubtype="8" fill="hold" nodeType="after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wipe(left)">
                                      <p:cBhvr>
                                        <p:cTn id="23" dur="450"/>
                                        <p:tgtEl>
                                          <p:spTgt spid="2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450"/>
                                        <p:tgtEl>
                                          <p:spTgt spid="28"/>
                                        </p:tgtEl>
                                      </p:cBhvr>
                                    </p:animEffect>
                                  </p:childTnLst>
                                </p:cTn>
                              </p:par>
                              <p:par>
                                <p:cTn id="29" presetID="10" presetClass="entr" presetSubtype="0"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5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50"/>
                                        <p:tgtEl>
                                          <p:spTgt spid="3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wipe(left)">
                                      <p:cBhvr>
                                        <p:cTn id="39" dur="450"/>
                                        <p:tgtEl>
                                          <p:spTgt spid="31"/>
                                        </p:tgtEl>
                                      </p:cBhvr>
                                    </p:animEffect>
                                  </p:childTnLst>
                                </p:cTn>
                              </p:par>
                              <p:par>
                                <p:cTn id="40" presetID="22" presetClass="entr" presetSubtype="8" fill="hold" nodeType="with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wipe(left)">
                                      <p:cBhvr>
                                        <p:cTn id="42" dur="450"/>
                                        <p:tgtEl>
                                          <p:spTgt spid="32"/>
                                        </p:tgtEl>
                                      </p:cBhvr>
                                    </p:animEffect>
                                  </p:childTnLst>
                                </p:cTn>
                              </p:par>
                              <p:par>
                                <p:cTn id="43" presetID="22" presetClass="entr" presetSubtype="8" fill="hold" nodeType="with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wipe(left)">
                                      <p:cBhvr>
                                        <p:cTn id="45" dur="450"/>
                                        <p:tgtEl>
                                          <p:spTgt spid="33"/>
                                        </p:tgtEl>
                                      </p:cBhvr>
                                    </p:animEffect>
                                  </p:childTnLst>
                                </p:cTn>
                              </p:par>
                              <p:par>
                                <p:cTn id="46" presetID="22" presetClass="entr" presetSubtype="8" fill="hold" nodeType="with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wipe(left)">
                                      <p:cBhvr>
                                        <p:cTn id="48" dur="450"/>
                                        <p:tgtEl>
                                          <p:spTgt spid="34"/>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450"/>
                                        <p:tgtEl>
                                          <p:spTgt spid="35"/>
                                        </p:tgtEl>
                                      </p:cBhvr>
                                    </p:animEffect>
                                  </p:childTnLst>
                                </p:cTn>
                              </p:par>
                            </p:childTnLst>
                          </p:cTn>
                        </p:par>
                        <p:par>
                          <p:cTn id="54" fill="hold">
                            <p:stCondLst>
                              <p:cond delay="450"/>
                            </p:stCondLst>
                            <p:childTnLst>
                              <p:par>
                                <p:cTn id="55" presetID="22" presetClass="entr" presetSubtype="8" fill="hold" nodeType="after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wipe(left)">
                                      <p:cBhvr>
                                        <p:cTn id="57" dur="450"/>
                                        <p:tgtEl>
                                          <p:spTgt spid="36"/>
                                        </p:tgtEl>
                                      </p:cBhvr>
                                    </p:animEffect>
                                  </p:childTnLst>
                                </p:cTn>
                              </p:par>
                              <p:par>
                                <p:cTn id="58" presetID="22" presetClass="entr" presetSubtype="8" fill="hold" nodeType="withEffect">
                                  <p:stCondLst>
                                    <p:cond delay="0"/>
                                  </p:stCondLst>
                                  <p:childTnLst>
                                    <p:set>
                                      <p:cBhvr>
                                        <p:cTn id="59" dur="1" fill="hold">
                                          <p:stCondLst>
                                            <p:cond delay="0"/>
                                          </p:stCondLst>
                                        </p:cTn>
                                        <p:tgtEl>
                                          <p:spTgt spid="37"/>
                                        </p:tgtEl>
                                        <p:attrNameLst>
                                          <p:attrName>style.visibility</p:attrName>
                                        </p:attrNameLst>
                                      </p:cBhvr>
                                      <p:to>
                                        <p:strVal val="visible"/>
                                      </p:to>
                                    </p:set>
                                    <p:animEffect transition="in" filter="wipe(left)">
                                      <p:cBhvr>
                                        <p:cTn id="60" dur="450"/>
                                        <p:tgtEl>
                                          <p:spTgt spid="37"/>
                                        </p:tgtEl>
                                      </p:cBhvr>
                                    </p:animEffect>
                                  </p:childTnLst>
                                </p:cTn>
                              </p:par>
                              <p:par>
                                <p:cTn id="61" presetID="22" presetClass="entr" presetSubtype="8" fill="hold" nodeType="with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wipe(left)">
                                      <p:cBhvr>
                                        <p:cTn id="63" dur="450"/>
                                        <p:tgtEl>
                                          <p:spTgt spid="38"/>
                                        </p:tgtEl>
                                      </p:cBhvr>
                                    </p:animEffect>
                                  </p:childTnLst>
                                </p:cTn>
                              </p:par>
                            </p:childTnLst>
                          </p:cTn>
                        </p:par>
                        <p:par>
                          <p:cTn id="64" fill="hold">
                            <p:stCondLst>
                              <p:cond delay="750"/>
                            </p:stCondLst>
                            <p:childTnLst>
                              <p:par>
                                <p:cTn id="65" presetID="22" presetClass="entr" presetSubtype="8" fill="hold" nodeType="afterEffect">
                                  <p:stCondLst>
                                    <p:cond delay="0"/>
                                  </p:stCondLst>
                                  <p:childTnLst>
                                    <p:set>
                                      <p:cBhvr>
                                        <p:cTn id="66" dur="1" fill="hold">
                                          <p:stCondLst>
                                            <p:cond delay="0"/>
                                          </p:stCondLst>
                                        </p:cTn>
                                        <p:tgtEl>
                                          <p:spTgt spid="39"/>
                                        </p:tgtEl>
                                        <p:attrNameLst>
                                          <p:attrName>style.visibility</p:attrName>
                                        </p:attrNameLst>
                                      </p:cBhvr>
                                      <p:to>
                                        <p:strVal val="visible"/>
                                      </p:to>
                                    </p:set>
                                    <p:animEffect transition="in" filter="wipe(left)">
                                      <p:cBhvr>
                                        <p:cTn id="67" dur="450"/>
                                        <p:tgtEl>
                                          <p:spTgt spid="39"/>
                                        </p:tgtEl>
                                      </p:cBhvr>
                                    </p:animEffect>
                                  </p:childTnLst>
                                </p:cTn>
                              </p:par>
                              <p:par>
                                <p:cTn id="68" presetID="22" presetClass="entr" presetSubtype="8" fill="hold" nodeType="withEffect">
                                  <p:stCondLst>
                                    <p:cond delay="0"/>
                                  </p:stCondLst>
                                  <p:childTnLst>
                                    <p:set>
                                      <p:cBhvr>
                                        <p:cTn id="69" dur="1" fill="hold">
                                          <p:stCondLst>
                                            <p:cond delay="0"/>
                                          </p:stCondLst>
                                        </p:cTn>
                                        <p:tgtEl>
                                          <p:spTgt spid="40"/>
                                        </p:tgtEl>
                                        <p:attrNameLst>
                                          <p:attrName>style.visibility</p:attrName>
                                        </p:attrNameLst>
                                      </p:cBhvr>
                                      <p:to>
                                        <p:strVal val="visible"/>
                                      </p:to>
                                    </p:set>
                                    <p:animEffect transition="in" filter="wipe(left)">
                                      <p:cBhvr>
                                        <p:cTn id="70" dur="450"/>
                                        <p:tgtEl>
                                          <p:spTgt spid="40"/>
                                        </p:tgtEl>
                                      </p:cBhvr>
                                    </p:animEffect>
                                  </p:childTnLst>
                                </p:cTn>
                              </p:par>
                              <p:par>
                                <p:cTn id="71" presetID="22" presetClass="entr" presetSubtype="8" fill="hold" nodeType="withEffect">
                                  <p:stCondLst>
                                    <p:cond delay="0"/>
                                  </p:stCondLst>
                                  <p:childTnLst>
                                    <p:set>
                                      <p:cBhvr>
                                        <p:cTn id="72" dur="1" fill="hold">
                                          <p:stCondLst>
                                            <p:cond delay="0"/>
                                          </p:stCondLst>
                                        </p:cTn>
                                        <p:tgtEl>
                                          <p:spTgt spid="41"/>
                                        </p:tgtEl>
                                        <p:attrNameLst>
                                          <p:attrName>style.visibility</p:attrName>
                                        </p:attrNameLst>
                                      </p:cBhvr>
                                      <p:to>
                                        <p:strVal val="visible"/>
                                      </p:to>
                                    </p:set>
                                    <p:animEffect transition="in" filter="wipe(left)">
                                      <p:cBhvr>
                                        <p:cTn id="73" dur="450"/>
                                        <p:tgtEl>
                                          <p:spTgt spid="41"/>
                                        </p:tgtEl>
                                      </p:cBhvr>
                                    </p:animEffect>
                                  </p:childTnLst>
                                </p:cTn>
                              </p:par>
                            </p:childTnLst>
                          </p:cTn>
                        </p:par>
                        <p:par>
                          <p:cTn id="74" fill="hold">
                            <p:stCondLst>
                              <p:cond delay="1050"/>
                            </p:stCondLst>
                            <p:childTnLst>
                              <p:par>
                                <p:cTn id="75" presetID="22" presetClass="entr" presetSubtype="8" fill="hold" nodeType="afterEffect">
                                  <p:stCondLst>
                                    <p:cond delay="0"/>
                                  </p:stCondLst>
                                  <p:childTnLst>
                                    <p:set>
                                      <p:cBhvr>
                                        <p:cTn id="76" dur="1" fill="hold">
                                          <p:stCondLst>
                                            <p:cond delay="0"/>
                                          </p:stCondLst>
                                        </p:cTn>
                                        <p:tgtEl>
                                          <p:spTgt spid="42"/>
                                        </p:tgtEl>
                                        <p:attrNameLst>
                                          <p:attrName>style.visibility</p:attrName>
                                        </p:attrNameLst>
                                      </p:cBhvr>
                                      <p:to>
                                        <p:strVal val="visible"/>
                                      </p:to>
                                    </p:set>
                                    <p:animEffect transition="in" filter="wipe(left)">
                                      <p:cBhvr>
                                        <p:cTn id="77" dur="450"/>
                                        <p:tgtEl>
                                          <p:spTgt spid="42"/>
                                        </p:tgtEl>
                                      </p:cBhvr>
                                    </p:animEffect>
                                  </p:childTnLst>
                                </p:cTn>
                              </p:par>
                              <p:par>
                                <p:cTn id="78" presetID="22" presetClass="entr" presetSubtype="8" fill="hold" nodeType="withEffect">
                                  <p:stCondLst>
                                    <p:cond delay="0"/>
                                  </p:stCondLst>
                                  <p:childTnLst>
                                    <p:set>
                                      <p:cBhvr>
                                        <p:cTn id="79" dur="1" fill="hold">
                                          <p:stCondLst>
                                            <p:cond delay="0"/>
                                          </p:stCondLst>
                                        </p:cTn>
                                        <p:tgtEl>
                                          <p:spTgt spid="43"/>
                                        </p:tgtEl>
                                        <p:attrNameLst>
                                          <p:attrName>style.visibility</p:attrName>
                                        </p:attrNameLst>
                                      </p:cBhvr>
                                      <p:to>
                                        <p:strVal val="visible"/>
                                      </p:to>
                                    </p:set>
                                    <p:animEffect transition="in" filter="wipe(left)">
                                      <p:cBhvr>
                                        <p:cTn id="80" dur="450"/>
                                        <p:tgtEl>
                                          <p:spTgt spid="43"/>
                                        </p:tgtEl>
                                      </p:cBhvr>
                                    </p:animEffect>
                                  </p:childTnLst>
                                </p:cTn>
                              </p:par>
                              <p:par>
                                <p:cTn id="81" presetID="22" presetClass="entr" presetSubtype="8" fill="hold" nodeType="with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wipe(left)">
                                      <p:cBhvr>
                                        <p:cTn id="83" dur="450"/>
                                        <p:tgtEl>
                                          <p:spTgt spid="44"/>
                                        </p:tgtEl>
                                      </p:cBhvr>
                                    </p:animEffect>
                                  </p:childTnLst>
                                </p:cTn>
                              </p:par>
                            </p:childTnLst>
                          </p:cTn>
                        </p:par>
                        <p:par>
                          <p:cTn id="84" fill="hold">
                            <p:stCondLst>
                              <p:cond delay="1350"/>
                            </p:stCondLst>
                            <p:childTnLst>
                              <p:par>
                                <p:cTn id="85" presetID="22" presetClass="entr" presetSubtype="8" fill="hold" nodeType="after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wipe(left)">
                                      <p:cBhvr>
                                        <p:cTn id="87" dur="450"/>
                                        <p:tgtEl>
                                          <p:spTgt spid="45"/>
                                        </p:tgtEl>
                                      </p:cBhvr>
                                    </p:animEffect>
                                  </p:childTnLst>
                                </p:cTn>
                              </p:par>
                              <p:par>
                                <p:cTn id="88" presetID="22" presetClass="entr" presetSubtype="8" fill="hold" nodeType="withEffect">
                                  <p:stCondLst>
                                    <p:cond delay="0"/>
                                  </p:stCondLst>
                                  <p:childTnLst>
                                    <p:set>
                                      <p:cBhvr>
                                        <p:cTn id="89" dur="1" fill="hold">
                                          <p:stCondLst>
                                            <p:cond delay="0"/>
                                          </p:stCondLst>
                                        </p:cTn>
                                        <p:tgtEl>
                                          <p:spTgt spid="46"/>
                                        </p:tgtEl>
                                        <p:attrNameLst>
                                          <p:attrName>style.visibility</p:attrName>
                                        </p:attrNameLst>
                                      </p:cBhvr>
                                      <p:to>
                                        <p:strVal val="visible"/>
                                      </p:to>
                                    </p:set>
                                    <p:animEffect transition="in" filter="wipe(left)">
                                      <p:cBhvr>
                                        <p:cTn id="90" dur="450"/>
                                        <p:tgtEl>
                                          <p:spTgt spid="46"/>
                                        </p:tgtEl>
                                      </p:cBhvr>
                                    </p:animEffect>
                                  </p:childTnLst>
                                </p:cTn>
                              </p:par>
                              <p:par>
                                <p:cTn id="91" presetID="22" presetClass="entr" presetSubtype="8" fill="hold" nodeType="withEffect">
                                  <p:stCondLst>
                                    <p:cond delay="0"/>
                                  </p:stCondLst>
                                  <p:childTnLst>
                                    <p:set>
                                      <p:cBhvr>
                                        <p:cTn id="92" dur="1" fill="hold">
                                          <p:stCondLst>
                                            <p:cond delay="0"/>
                                          </p:stCondLst>
                                        </p:cTn>
                                        <p:tgtEl>
                                          <p:spTgt spid="47"/>
                                        </p:tgtEl>
                                        <p:attrNameLst>
                                          <p:attrName>style.visibility</p:attrName>
                                        </p:attrNameLst>
                                      </p:cBhvr>
                                      <p:to>
                                        <p:strVal val="visible"/>
                                      </p:to>
                                    </p:set>
                                    <p:animEffect transition="in" filter="wipe(left)">
                                      <p:cBhvr>
                                        <p:cTn id="93" dur="450"/>
                                        <p:tgtEl>
                                          <p:spTgt spid="47"/>
                                        </p:tgtEl>
                                      </p:cBhvr>
                                    </p:animEffect>
                                  </p:childTnLst>
                                </p:cTn>
                              </p:par>
                            </p:childTnLst>
                          </p:cTn>
                        </p:par>
                        <p:par>
                          <p:cTn id="94" fill="hold">
                            <p:stCondLst>
                              <p:cond delay="1650"/>
                            </p:stCondLst>
                            <p:childTnLst>
                              <p:par>
                                <p:cTn id="95" presetID="22" presetClass="entr" presetSubtype="8" fill="hold" nodeType="afterEffect">
                                  <p:stCondLst>
                                    <p:cond delay="0"/>
                                  </p:stCondLst>
                                  <p:childTnLst>
                                    <p:set>
                                      <p:cBhvr>
                                        <p:cTn id="96" dur="1" fill="hold">
                                          <p:stCondLst>
                                            <p:cond delay="0"/>
                                          </p:stCondLst>
                                        </p:cTn>
                                        <p:tgtEl>
                                          <p:spTgt spid="48"/>
                                        </p:tgtEl>
                                        <p:attrNameLst>
                                          <p:attrName>style.visibility</p:attrName>
                                        </p:attrNameLst>
                                      </p:cBhvr>
                                      <p:to>
                                        <p:strVal val="visible"/>
                                      </p:to>
                                    </p:set>
                                    <p:animEffect transition="in" filter="wipe(left)">
                                      <p:cBhvr>
                                        <p:cTn id="97" dur="450"/>
                                        <p:tgtEl>
                                          <p:spTgt spid="48"/>
                                        </p:tgtEl>
                                      </p:cBhvr>
                                    </p:animEffect>
                                  </p:childTnLst>
                                </p:cTn>
                              </p:par>
                              <p:par>
                                <p:cTn id="98" presetID="22" presetClass="entr" presetSubtype="8" fill="hold" nodeType="withEffect">
                                  <p:stCondLst>
                                    <p:cond delay="0"/>
                                  </p:stCondLst>
                                  <p:childTnLst>
                                    <p:set>
                                      <p:cBhvr>
                                        <p:cTn id="99" dur="1" fill="hold">
                                          <p:stCondLst>
                                            <p:cond delay="0"/>
                                          </p:stCondLst>
                                        </p:cTn>
                                        <p:tgtEl>
                                          <p:spTgt spid="49"/>
                                        </p:tgtEl>
                                        <p:attrNameLst>
                                          <p:attrName>style.visibility</p:attrName>
                                        </p:attrNameLst>
                                      </p:cBhvr>
                                      <p:to>
                                        <p:strVal val="visible"/>
                                      </p:to>
                                    </p:set>
                                    <p:animEffect transition="in" filter="wipe(left)">
                                      <p:cBhvr>
                                        <p:cTn id="100" dur="450"/>
                                        <p:tgtEl>
                                          <p:spTgt spid="49"/>
                                        </p:tgtEl>
                                      </p:cBhvr>
                                    </p:animEffect>
                                  </p:childTnLst>
                                </p:cTn>
                              </p:par>
                              <p:par>
                                <p:cTn id="101" presetID="22" presetClass="entr" presetSubtype="8" fill="hold" nodeType="withEffect">
                                  <p:stCondLst>
                                    <p:cond delay="0"/>
                                  </p:stCondLst>
                                  <p:childTnLst>
                                    <p:set>
                                      <p:cBhvr>
                                        <p:cTn id="102" dur="1" fill="hold">
                                          <p:stCondLst>
                                            <p:cond delay="0"/>
                                          </p:stCondLst>
                                        </p:cTn>
                                        <p:tgtEl>
                                          <p:spTgt spid="50"/>
                                        </p:tgtEl>
                                        <p:attrNameLst>
                                          <p:attrName>style.visibility</p:attrName>
                                        </p:attrNameLst>
                                      </p:cBhvr>
                                      <p:to>
                                        <p:strVal val="visible"/>
                                      </p:to>
                                    </p:set>
                                    <p:animEffect transition="in" filter="wipe(left)">
                                      <p:cBhvr>
                                        <p:cTn id="103" dur="450"/>
                                        <p:tgtEl>
                                          <p:spTgt spid="50"/>
                                        </p:tgtEl>
                                      </p:cBhvr>
                                    </p:animEffect>
                                  </p:childTnLst>
                                </p:cTn>
                              </p:par>
                            </p:childTnLst>
                          </p:cTn>
                        </p:par>
                        <p:par>
                          <p:cTn id="104" fill="hold">
                            <p:stCondLst>
                              <p:cond delay="1950"/>
                            </p:stCondLst>
                            <p:childTnLst>
                              <p:par>
                                <p:cTn id="105" presetID="22" presetClass="entr" presetSubtype="8" fill="hold" nodeType="afterEffect">
                                  <p:stCondLst>
                                    <p:cond delay="0"/>
                                  </p:stCondLst>
                                  <p:childTnLst>
                                    <p:set>
                                      <p:cBhvr>
                                        <p:cTn id="106" dur="1" fill="hold">
                                          <p:stCondLst>
                                            <p:cond delay="0"/>
                                          </p:stCondLst>
                                        </p:cTn>
                                        <p:tgtEl>
                                          <p:spTgt spid="51"/>
                                        </p:tgtEl>
                                        <p:attrNameLst>
                                          <p:attrName>style.visibility</p:attrName>
                                        </p:attrNameLst>
                                      </p:cBhvr>
                                      <p:to>
                                        <p:strVal val="visible"/>
                                      </p:to>
                                    </p:set>
                                    <p:animEffect transition="in" filter="wipe(left)">
                                      <p:cBhvr>
                                        <p:cTn id="107" dur="450"/>
                                        <p:tgtEl>
                                          <p:spTgt spid="51"/>
                                        </p:tgtEl>
                                      </p:cBhvr>
                                    </p:animEffect>
                                  </p:childTnLst>
                                </p:cTn>
                              </p:par>
                              <p:par>
                                <p:cTn id="108" presetID="22" presetClass="entr" presetSubtype="8" fill="hold" nodeType="withEffect">
                                  <p:stCondLst>
                                    <p:cond delay="0"/>
                                  </p:stCondLst>
                                  <p:childTnLst>
                                    <p:set>
                                      <p:cBhvr>
                                        <p:cTn id="109" dur="1" fill="hold">
                                          <p:stCondLst>
                                            <p:cond delay="0"/>
                                          </p:stCondLst>
                                        </p:cTn>
                                        <p:tgtEl>
                                          <p:spTgt spid="52"/>
                                        </p:tgtEl>
                                        <p:attrNameLst>
                                          <p:attrName>style.visibility</p:attrName>
                                        </p:attrNameLst>
                                      </p:cBhvr>
                                      <p:to>
                                        <p:strVal val="visible"/>
                                      </p:to>
                                    </p:set>
                                    <p:animEffect transition="in" filter="wipe(left)">
                                      <p:cBhvr>
                                        <p:cTn id="110" dur="450"/>
                                        <p:tgtEl>
                                          <p:spTgt spid="52"/>
                                        </p:tgtEl>
                                      </p:cBhvr>
                                    </p:animEffect>
                                  </p:childTnLst>
                                </p:cTn>
                              </p:par>
                              <p:par>
                                <p:cTn id="111" presetID="22" presetClass="entr" presetSubtype="8" fill="hold" nodeType="withEffect">
                                  <p:stCondLst>
                                    <p:cond delay="0"/>
                                  </p:stCondLst>
                                  <p:childTnLst>
                                    <p:set>
                                      <p:cBhvr>
                                        <p:cTn id="112" dur="1" fill="hold">
                                          <p:stCondLst>
                                            <p:cond delay="0"/>
                                          </p:stCondLst>
                                        </p:cTn>
                                        <p:tgtEl>
                                          <p:spTgt spid="53"/>
                                        </p:tgtEl>
                                        <p:attrNameLst>
                                          <p:attrName>style.visibility</p:attrName>
                                        </p:attrNameLst>
                                      </p:cBhvr>
                                      <p:to>
                                        <p:strVal val="visible"/>
                                      </p:to>
                                    </p:set>
                                    <p:animEffect transition="in" filter="wipe(left)">
                                      <p:cBhvr>
                                        <p:cTn id="113" dur="450"/>
                                        <p:tgtEl>
                                          <p:spTgt spid="53"/>
                                        </p:tgtEl>
                                      </p:cBhvr>
                                    </p:animEffect>
                                  </p:childTnLst>
                                </p:cTn>
                              </p:par>
                            </p:childTnLst>
                          </p:cTn>
                        </p:par>
                        <p:par>
                          <p:cTn id="114" fill="hold">
                            <p:stCondLst>
                              <p:cond delay="2250"/>
                            </p:stCondLst>
                            <p:childTnLst>
                              <p:par>
                                <p:cTn id="115" presetID="22" presetClass="entr" presetSubtype="8" fill="hold" nodeType="afterEffect">
                                  <p:stCondLst>
                                    <p:cond delay="0"/>
                                  </p:stCondLst>
                                  <p:childTnLst>
                                    <p:set>
                                      <p:cBhvr>
                                        <p:cTn id="116" dur="1" fill="hold">
                                          <p:stCondLst>
                                            <p:cond delay="0"/>
                                          </p:stCondLst>
                                        </p:cTn>
                                        <p:tgtEl>
                                          <p:spTgt spid="54"/>
                                        </p:tgtEl>
                                        <p:attrNameLst>
                                          <p:attrName>style.visibility</p:attrName>
                                        </p:attrNameLst>
                                      </p:cBhvr>
                                      <p:to>
                                        <p:strVal val="visible"/>
                                      </p:to>
                                    </p:set>
                                    <p:animEffect transition="in" filter="wipe(left)">
                                      <p:cBhvr>
                                        <p:cTn id="117" dur="450"/>
                                        <p:tgtEl>
                                          <p:spTgt spid="54"/>
                                        </p:tgtEl>
                                      </p:cBhvr>
                                    </p:animEffect>
                                  </p:childTnLst>
                                </p:cTn>
                              </p:par>
                              <p:par>
                                <p:cTn id="118" presetID="22" presetClass="entr" presetSubtype="8" fill="hold" nodeType="withEffect">
                                  <p:stCondLst>
                                    <p:cond delay="0"/>
                                  </p:stCondLst>
                                  <p:childTnLst>
                                    <p:set>
                                      <p:cBhvr>
                                        <p:cTn id="119" dur="1" fill="hold">
                                          <p:stCondLst>
                                            <p:cond delay="0"/>
                                          </p:stCondLst>
                                        </p:cTn>
                                        <p:tgtEl>
                                          <p:spTgt spid="55"/>
                                        </p:tgtEl>
                                        <p:attrNameLst>
                                          <p:attrName>style.visibility</p:attrName>
                                        </p:attrNameLst>
                                      </p:cBhvr>
                                      <p:to>
                                        <p:strVal val="visible"/>
                                      </p:to>
                                    </p:set>
                                    <p:animEffect transition="in" filter="wipe(left)">
                                      <p:cBhvr>
                                        <p:cTn id="120" dur="450"/>
                                        <p:tgtEl>
                                          <p:spTgt spid="55"/>
                                        </p:tgtEl>
                                      </p:cBhvr>
                                    </p:animEffect>
                                  </p:childTnLst>
                                </p:cTn>
                              </p:par>
                              <p:par>
                                <p:cTn id="121" presetID="22" presetClass="entr" presetSubtype="8" fill="hold" nodeType="withEffect">
                                  <p:stCondLst>
                                    <p:cond delay="0"/>
                                  </p:stCondLst>
                                  <p:childTnLst>
                                    <p:set>
                                      <p:cBhvr>
                                        <p:cTn id="122" dur="1" fill="hold">
                                          <p:stCondLst>
                                            <p:cond delay="0"/>
                                          </p:stCondLst>
                                        </p:cTn>
                                        <p:tgtEl>
                                          <p:spTgt spid="56"/>
                                        </p:tgtEl>
                                        <p:attrNameLst>
                                          <p:attrName>style.visibility</p:attrName>
                                        </p:attrNameLst>
                                      </p:cBhvr>
                                      <p:to>
                                        <p:strVal val="visible"/>
                                      </p:to>
                                    </p:set>
                                    <p:animEffect transition="in" filter="wipe(left)">
                                      <p:cBhvr>
                                        <p:cTn id="123" dur="450"/>
                                        <p:tgtEl>
                                          <p:spTgt spid="56"/>
                                        </p:tgtEl>
                                      </p:cBhvr>
                                    </p:animEffect>
                                  </p:childTnLst>
                                </p:cTn>
                              </p:par>
                            </p:childTnLst>
                          </p:cTn>
                        </p:par>
                        <p:par>
                          <p:cTn id="124" fill="hold">
                            <p:stCondLst>
                              <p:cond delay="2550"/>
                            </p:stCondLst>
                            <p:childTnLst>
                              <p:par>
                                <p:cTn id="125" presetID="22" presetClass="entr" presetSubtype="8" fill="hold" nodeType="afterEffect">
                                  <p:stCondLst>
                                    <p:cond delay="0"/>
                                  </p:stCondLst>
                                  <p:childTnLst>
                                    <p:set>
                                      <p:cBhvr>
                                        <p:cTn id="126" dur="1" fill="hold">
                                          <p:stCondLst>
                                            <p:cond delay="0"/>
                                          </p:stCondLst>
                                        </p:cTn>
                                        <p:tgtEl>
                                          <p:spTgt spid="57"/>
                                        </p:tgtEl>
                                        <p:attrNameLst>
                                          <p:attrName>style.visibility</p:attrName>
                                        </p:attrNameLst>
                                      </p:cBhvr>
                                      <p:to>
                                        <p:strVal val="visible"/>
                                      </p:to>
                                    </p:set>
                                    <p:animEffect transition="in" filter="wipe(left)">
                                      <p:cBhvr>
                                        <p:cTn id="127" dur="450"/>
                                        <p:tgtEl>
                                          <p:spTgt spid="57"/>
                                        </p:tgtEl>
                                      </p:cBhvr>
                                    </p:animEffect>
                                  </p:childTnLst>
                                </p:cTn>
                              </p:par>
                              <p:par>
                                <p:cTn id="128" presetID="22" presetClass="entr" presetSubtype="8" fill="hold" nodeType="withEffect">
                                  <p:stCondLst>
                                    <p:cond delay="0"/>
                                  </p:stCondLst>
                                  <p:childTnLst>
                                    <p:set>
                                      <p:cBhvr>
                                        <p:cTn id="129" dur="1" fill="hold">
                                          <p:stCondLst>
                                            <p:cond delay="0"/>
                                          </p:stCondLst>
                                        </p:cTn>
                                        <p:tgtEl>
                                          <p:spTgt spid="58"/>
                                        </p:tgtEl>
                                        <p:attrNameLst>
                                          <p:attrName>style.visibility</p:attrName>
                                        </p:attrNameLst>
                                      </p:cBhvr>
                                      <p:to>
                                        <p:strVal val="visible"/>
                                      </p:to>
                                    </p:set>
                                    <p:animEffect transition="in" filter="wipe(left)">
                                      <p:cBhvr>
                                        <p:cTn id="130" dur="450"/>
                                        <p:tgtEl>
                                          <p:spTgt spid="58"/>
                                        </p:tgtEl>
                                      </p:cBhvr>
                                    </p:animEffect>
                                  </p:childTnLst>
                                </p:cTn>
                              </p:par>
                              <p:par>
                                <p:cTn id="131" presetID="22" presetClass="entr" presetSubtype="8" fill="hold" nodeType="withEffect">
                                  <p:stCondLst>
                                    <p:cond delay="0"/>
                                  </p:stCondLst>
                                  <p:childTnLst>
                                    <p:set>
                                      <p:cBhvr>
                                        <p:cTn id="132" dur="1" fill="hold">
                                          <p:stCondLst>
                                            <p:cond delay="0"/>
                                          </p:stCondLst>
                                        </p:cTn>
                                        <p:tgtEl>
                                          <p:spTgt spid="59"/>
                                        </p:tgtEl>
                                        <p:attrNameLst>
                                          <p:attrName>style.visibility</p:attrName>
                                        </p:attrNameLst>
                                      </p:cBhvr>
                                      <p:to>
                                        <p:strVal val="visible"/>
                                      </p:to>
                                    </p:set>
                                    <p:animEffect transition="in" filter="wipe(left)">
                                      <p:cBhvr>
                                        <p:cTn id="133" dur="450"/>
                                        <p:tgtEl>
                                          <p:spTgt spid="59"/>
                                        </p:tgtEl>
                                      </p:cBhvr>
                                    </p:animEffect>
                                  </p:childTnLst>
                                </p:cTn>
                              </p:par>
                            </p:childTnLst>
                          </p:cTn>
                        </p:par>
                        <p:par>
                          <p:cTn id="134" fill="hold">
                            <p:stCondLst>
                              <p:cond delay="2850"/>
                            </p:stCondLst>
                            <p:childTnLst>
                              <p:par>
                                <p:cTn id="135" presetID="22" presetClass="entr" presetSubtype="8" fill="hold" nodeType="afterEffect">
                                  <p:stCondLst>
                                    <p:cond delay="0"/>
                                  </p:stCondLst>
                                  <p:childTnLst>
                                    <p:set>
                                      <p:cBhvr>
                                        <p:cTn id="136" dur="1" fill="hold">
                                          <p:stCondLst>
                                            <p:cond delay="0"/>
                                          </p:stCondLst>
                                        </p:cTn>
                                        <p:tgtEl>
                                          <p:spTgt spid="60"/>
                                        </p:tgtEl>
                                        <p:attrNameLst>
                                          <p:attrName>style.visibility</p:attrName>
                                        </p:attrNameLst>
                                      </p:cBhvr>
                                      <p:to>
                                        <p:strVal val="visible"/>
                                      </p:to>
                                    </p:set>
                                    <p:animEffect transition="in" filter="wipe(left)">
                                      <p:cBhvr>
                                        <p:cTn id="137" dur="450"/>
                                        <p:tgtEl>
                                          <p:spTgt spid="60"/>
                                        </p:tgtEl>
                                      </p:cBhvr>
                                    </p:animEffect>
                                  </p:childTnLst>
                                </p:cTn>
                              </p:par>
                              <p:par>
                                <p:cTn id="138" presetID="22" presetClass="entr" presetSubtype="8" fill="hold" nodeType="withEffect">
                                  <p:stCondLst>
                                    <p:cond delay="0"/>
                                  </p:stCondLst>
                                  <p:childTnLst>
                                    <p:set>
                                      <p:cBhvr>
                                        <p:cTn id="139" dur="1" fill="hold">
                                          <p:stCondLst>
                                            <p:cond delay="0"/>
                                          </p:stCondLst>
                                        </p:cTn>
                                        <p:tgtEl>
                                          <p:spTgt spid="61"/>
                                        </p:tgtEl>
                                        <p:attrNameLst>
                                          <p:attrName>style.visibility</p:attrName>
                                        </p:attrNameLst>
                                      </p:cBhvr>
                                      <p:to>
                                        <p:strVal val="visible"/>
                                      </p:to>
                                    </p:set>
                                    <p:animEffect transition="in" filter="wipe(left)">
                                      <p:cBhvr>
                                        <p:cTn id="140" dur="450"/>
                                        <p:tgtEl>
                                          <p:spTgt spid="61"/>
                                        </p:tgtEl>
                                      </p:cBhvr>
                                    </p:animEffect>
                                  </p:childTnLst>
                                </p:cTn>
                              </p:par>
                              <p:par>
                                <p:cTn id="141" presetID="22" presetClass="entr" presetSubtype="8" fill="hold" nodeType="withEffect">
                                  <p:stCondLst>
                                    <p:cond delay="0"/>
                                  </p:stCondLst>
                                  <p:childTnLst>
                                    <p:set>
                                      <p:cBhvr>
                                        <p:cTn id="142" dur="1" fill="hold">
                                          <p:stCondLst>
                                            <p:cond delay="0"/>
                                          </p:stCondLst>
                                        </p:cTn>
                                        <p:tgtEl>
                                          <p:spTgt spid="62"/>
                                        </p:tgtEl>
                                        <p:attrNameLst>
                                          <p:attrName>style.visibility</p:attrName>
                                        </p:attrNameLst>
                                      </p:cBhvr>
                                      <p:to>
                                        <p:strVal val="visible"/>
                                      </p:to>
                                    </p:set>
                                    <p:animEffect transition="in" filter="wipe(left)">
                                      <p:cBhvr>
                                        <p:cTn id="143" dur="450"/>
                                        <p:tgtEl>
                                          <p:spTgt spid="62"/>
                                        </p:tgtEl>
                                      </p:cBhvr>
                                    </p:animEffect>
                                  </p:childTnLst>
                                </p:cTn>
                              </p:par>
                            </p:childTnLst>
                          </p:cTn>
                        </p:par>
                        <p:par>
                          <p:cTn id="144" fill="hold">
                            <p:stCondLst>
                              <p:cond delay="3150"/>
                            </p:stCondLst>
                            <p:childTnLst>
                              <p:par>
                                <p:cTn id="145" presetID="22" presetClass="entr" presetSubtype="8" fill="hold" nodeType="afterEffect">
                                  <p:stCondLst>
                                    <p:cond delay="0"/>
                                  </p:stCondLst>
                                  <p:childTnLst>
                                    <p:set>
                                      <p:cBhvr>
                                        <p:cTn id="146" dur="1" fill="hold">
                                          <p:stCondLst>
                                            <p:cond delay="0"/>
                                          </p:stCondLst>
                                        </p:cTn>
                                        <p:tgtEl>
                                          <p:spTgt spid="63"/>
                                        </p:tgtEl>
                                        <p:attrNameLst>
                                          <p:attrName>style.visibility</p:attrName>
                                        </p:attrNameLst>
                                      </p:cBhvr>
                                      <p:to>
                                        <p:strVal val="visible"/>
                                      </p:to>
                                    </p:set>
                                    <p:animEffect transition="in" filter="wipe(left)">
                                      <p:cBhvr>
                                        <p:cTn id="147" dur="450"/>
                                        <p:tgtEl>
                                          <p:spTgt spid="63"/>
                                        </p:tgtEl>
                                      </p:cBhvr>
                                    </p:animEffect>
                                  </p:childTnLst>
                                </p:cTn>
                              </p:par>
                              <p:par>
                                <p:cTn id="148" presetID="22" presetClass="entr" presetSubtype="8" fill="hold" nodeType="withEffect">
                                  <p:stCondLst>
                                    <p:cond delay="0"/>
                                  </p:stCondLst>
                                  <p:childTnLst>
                                    <p:set>
                                      <p:cBhvr>
                                        <p:cTn id="149" dur="1" fill="hold">
                                          <p:stCondLst>
                                            <p:cond delay="0"/>
                                          </p:stCondLst>
                                        </p:cTn>
                                        <p:tgtEl>
                                          <p:spTgt spid="64"/>
                                        </p:tgtEl>
                                        <p:attrNameLst>
                                          <p:attrName>style.visibility</p:attrName>
                                        </p:attrNameLst>
                                      </p:cBhvr>
                                      <p:to>
                                        <p:strVal val="visible"/>
                                      </p:to>
                                    </p:set>
                                    <p:animEffect transition="in" filter="wipe(left)">
                                      <p:cBhvr>
                                        <p:cTn id="150" dur="450"/>
                                        <p:tgtEl>
                                          <p:spTgt spid="64"/>
                                        </p:tgtEl>
                                      </p:cBhvr>
                                    </p:animEffect>
                                  </p:childTnLst>
                                </p:cTn>
                              </p:par>
                              <p:par>
                                <p:cTn id="151" presetID="22" presetClass="entr" presetSubtype="8" fill="hold" nodeType="withEffect">
                                  <p:stCondLst>
                                    <p:cond delay="0"/>
                                  </p:stCondLst>
                                  <p:childTnLst>
                                    <p:set>
                                      <p:cBhvr>
                                        <p:cTn id="152" dur="1" fill="hold">
                                          <p:stCondLst>
                                            <p:cond delay="0"/>
                                          </p:stCondLst>
                                        </p:cTn>
                                        <p:tgtEl>
                                          <p:spTgt spid="65"/>
                                        </p:tgtEl>
                                        <p:attrNameLst>
                                          <p:attrName>style.visibility</p:attrName>
                                        </p:attrNameLst>
                                      </p:cBhvr>
                                      <p:to>
                                        <p:strVal val="visible"/>
                                      </p:to>
                                    </p:set>
                                    <p:animEffect transition="in" filter="wipe(left)">
                                      <p:cBhvr>
                                        <p:cTn id="153" dur="450"/>
                                        <p:tgtEl>
                                          <p:spTgt spid="65"/>
                                        </p:tgtEl>
                                      </p:cBhvr>
                                    </p:animEffect>
                                  </p:childTnLst>
                                </p:cTn>
                              </p:par>
                            </p:childTnLst>
                          </p:cTn>
                        </p:par>
                      </p:childTnLst>
                    </p:cTn>
                  </p:par>
                  <p:par>
                    <p:cTn id="154" fill="hold">
                      <p:stCondLst>
                        <p:cond delay="indefinite"/>
                      </p:stCondLst>
                      <p:childTnLst>
                        <p:par>
                          <p:cTn id="155" fill="hold">
                            <p:stCondLst>
                              <p:cond delay="0"/>
                            </p:stCondLst>
                            <p:childTnLst>
                              <p:par>
                                <p:cTn id="156" presetID="10" presetClass="entr" presetSubtype="0" fill="hold" nodeType="clickEffect">
                                  <p:stCondLst>
                                    <p:cond delay="0"/>
                                  </p:stCondLst>
                                  <p:childTnLst>
                                    <p:set>
                                      <p:cBhvr>
                                        <p:cTn id="157" dur="1" fill="hold">
                                          <p:stCondLst>
                                            <p:cond delay="0"/>
                                          </p:stCondLst>
                                        </p:cTn>
                                        <p:tgtEl>
                                          <p:spTgt spid="66"/>
                                        </p:tgtEl>
                                        <p:attrNameLst>
                                          <p:attrName>style.visibility</p:attrName>
                                        </p:attrNameLst>
                                      </p:cBhvr>
                                      <p:to>
                                        <p:strVal val="visible"/>
                                      </p:to>
                                    </p:set>
                                    <p:animEffect transition="in" filter="fade">
                                      <p:cBhvr>
                                        <p:cTn id="158" dur="450"/>
                                        <p:tgtEl>
                                          <p:spTgt spid="66"/>
                                        </p:tgtEl>
                                      </p:cBhvr>
                                    </p:animEffect>
                                  </p:childTnLst>
                                </p:cTn>
                              </p:par>
                              <p:par>
                                <p:cTn id="159" presetID="10" presetClass="entr" presetSubtype="0" fill="hold" nodeType="withEffect">
                                  <p:stCondLst>
                                    <p:cond delay="0"/>
                                  </p:stCondLst>
                                  <p:childTnLst>
                                    <p:set>
                                      <p:cBhvr>
                                        <p:cTn id="160" dur="1" fill="hold">
                                          <p:stCondLst>
                                            <p:cond delay="0"/>
                                          </p:stCondLst>
                                        </p:cTn>
                                        <p:tgtEl>
                                          <p:spTgt spid="67"/>
                                        </p:tgtEl>
                                        <p:attrNameLst>
                                          <p:attrName>style.visibility</p:attrName>
                                        </p:attrNameLst>
                                      </p:cBhvr>
                                      <p:to>
                                        <p:strVal val="visible"/>
                                      </p:to>
                                    </p:set>
                                    <p:animEffect transition="in" filter="fade">
                                      <p:cBhvr>
                                        <p:cTn id="161" dur="45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28" grpId="0" animBg="1"/>
      <p:bldP spid="29" grpId="0" animBg="1"/>
      <p:bldP spid="31"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kicker"/>
          <p:cNvSpPr txBox="1"/>
          <p:nvPr/>
        </p:nvSpPr>
        <p:spPr>
          <a:xfrm>
            <a:off x="502920" y="274320"/>
            <a:ext cx="7315200" cy="256032"/>
          </a:xfrm>
          <a:prstGeom prst="rect">
            <a:avLst/>
          </a:prstGeom>
          <a:noFill/>
          <a:ln/>
        </p:spPr>
        <p:txBody>
          <a:bodyPr wrap="square" lIns="0" tIns="0" rIns="0" bIns="0" rtlCol="0" anchor="t"/>
          <a:lstStyle/>
          <a:p>
            <a:pPr indent="0" marL="0">
              <a:buNone/>
            </a:pPr>
            <a:r>
              <a:rPr lang="en-US" sz="1100" b="1" spc="300" kern="0" dirty="0">
                <a:solidFill>
                  <a:srgbClr val="06B6D4"/>
                </a:solidFill>
                <a:latin typeface="Calibri" pitchFamily="34" charset="0"/>
                <a:ea typeface="Calibri" pitchFamily="34" charset="-122"/>
                <a:cs typeface="Calibri" pitchFamily="34" charset="-120"/>
              </a:rPr>
              <a:t>04 · TREMOSENSE</a:t>
            </a:r>
            <a:endParaRPr lang="en-US" sz="1100" dirty="0"/>
          </a:p>
        </p:txBody>
      </p:sp>
      <p:sp>
        <p:nvSpPr>
          <p:cNvPr id="3" name="!!title"/>
          <p:cNvSpPr txBox="1"/>
          <p:nvPr/>
        </p:nvSpPr>
        <p:spPr>
          <a:xfrm>
            <a:off x="502920" y="530352"/>
            <a:ext cx="10241280" cy="64008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TremoSense: bench-proven, not yet tested on people</a:t>
            </a:r>
            <a:endParaRPr lang="en-US" sz="2800" dirty="0"/>
          </a:p>
        </p:txBody>
      </p:sp>
      <p:pic>
        <p:nvPicPr>
          <p:cNvPr id="4" name="!!mark" descr="../public/brand/averra-mark-white.png">    </p:cNvPr>
          <p:cNvPicPr>
            <a:picLocks noChangeAspect="1"/>
          </p:cNvPicPr>
          <p:nvPr/>
        </p:nvPicPr>
        <p:blipFill>
          <a:blip r:embed="rId1"/>
          <a:stretch>
            <a:fillRect/>
          </a:stretch>
        </p:blipFill>
        <p:spPr>
          <a:xfrm>
            <a:off x="11201400" y="292608"/>
            <a:ext cx="502920" cy="502920"/>
          </a:xfrm>
          <a:prstGeom prst="rect">
            <a:avLst/>
          </a:prstGeom>
        </p:spPr>
      </p:pic>
      <p:sp>
        <p:nvSpPr>
          <p:cNvPr id="5" name="!!dot1"/>
          <p:cNvSpPr/>
          <p:nvPr/>
        </p:nvSpPr>
        <p:spPr>
          <a:xfrm>
            <a:off x="9692640" y="6510528"/>
            <a:ext cx="54864" cy="54864"/>
          </a:xfrm>
          <a:prstGeom prst="ellipse">
            <a:avLst/>
          </a:prstGeom>
          <a:solidFill>
            <a:srgbClr val="2B3A5C"/>
          </a:solidFill>
          <a:ln w="12700">
            <a:solidFill>
              <a:srgbClr val="2B3A5C"/>
            </a:solidFill>
            <a:prstDash val="solid"/>
          </a:ln>
        </p:spPr>
      </p:sp>
      <p:sp>
        <p:nvSpPr>
          <p:cNvPr id="6" name="!!dot2"/>
          <p:cNvSpPr/>
          <p:nvPr/>
        </p:nvSpPr>
        <p:spPr>
          <a:xfrm>
            <a:off x="9838944" y="6510528"/>
            <a:ext cx="54864" cy="54864"/>
          </a:xfrm>
          <a:prstGeom prst="ellipse">
            <a:avLst/>
          </a:prstGeom>
          <a:solidFill>
            <a:srgbClr val="2B3A5C"/>
          </a:solidFill>
          <a:ln w="12700">
            <a:solidFill>
              <a:srgbClr val="2B3A5C"/>
            </a:solidFill>
            <a:prstDash val="solid"/>
          </a:ln>
        </p:spPr>
      </p:sp>
      <p:sp>
        <p:nvSpPr>
          <p:cNvPr id="7" name="!!dot3"/>
          <p:cNvSpPr/>
          <p:nvPr/>
        </p:nvSpPr>
        <p:spPr>
          <a:xfrm>
            <a:off x="9985248" y="6510528"/>
            <a:ext cx="54864" cy="54864"/>
          </a:xfrm>
          <a:prstGeom prst="ellipse">
            <a:avLst/>
          </a:prstGeom>
          <a:solidFill>
            <a:srgbClr val="2B3A5C"/>
          </a:solidFill>
          <a:ln w="12700">
            <a:solidFill>
              <a:srgbClr val="2B3A5C"/>
            </a:solidFill>
            <a:prstDash val="solid"/>
          </a:ln>
        </p:spPr>
      </p:sp>
      <p:sp>
        <p:nvSpPr>
          <p:cNvPr id="8" name="!!dot4"/>
          <p:cNvSpPr/>
          <p:nvPr/>
        </p:nvSpPr>
        <p:spPr>
          <a:xfrm>
            <a:off x="10131552" y="6510528"/>
            <a:ext cx="54864" cy="54864"/>
          </a:xfrm>
          <a:prstGeom prst="ellipse">
            <a:avLst/>
          </a:prstGeom>
          <a:solidFill>
            <a:srgbClr val="2B3A5C"/>
          </a:solidFill>
          <a:ln w="12700">
            <a:solidFill>
              <a:srgbClr val="2B3A5C"/>
            </a:solidFill>
            <a:prstDash val="solid"/>
          </a:ln>
        </p:spPr>
      </p:sp>
      <p:sp>
        <p:nvSpPr>
          <p:cNvPr id="9" name="!!dot5"/>
          <p:cNvSpPr/>
          <p:nvPr/>
        </p:nvSpPr>
        <p:spPr>
          <a:xfrm>
            <a:off x="10277856" y="6510528"/>
            <a:ext cx="100584" cy="100584"/>
          </a:xfrm>
          <a:prstGeom prst="ellipse">
            <a:avLst/>
          </a:prstGeom>
          <a:solidFill>
            <a:srgbClr val="06B6D4"/>
          </a:solidFill>
          <a:ln w="12700">
            <a:solidFill>
              <a:srgbClr val="06B6D4"/>
            </a:solidFill>
            <a:prstDash val="solid"/>
          </a:ln>
        </p:spPr>
      </p:sp>
      <p:sp>
        <p:nvSpPr>
          <p:cNvPr id="10" name="!!dot6"/>
          <p:cNvSpPr/>
          <p:nvPr/>
        </p:nvSpPr>
        <p:spPr>
          <a:xfrm>
            <a:off x="10424160" y="6510528"/>
            <a:ext cx="54864" cy="54864"/>
          </a:xfrm>
          <a:prstGeom prst="ellipse">
            <a:avLst/>
          </a:prstGeom>
          <a:solidFill>
            <a:srgbClr val="2B3A5C"/>
          </a:solidFill>
          <a:ln w="12700">
            <a:solidFill>
              <a:srgbClr val="2B3A5C"/>
            </a:solidFill>
            <a:prstDash val="solid"/>
          </a:ln>
        </p:spPr>
      </p:sp>
      <p:sp>
        <p:nvSpPr>
          <p:cNvPr id="11" name="!!dot7"/>
          <p:cNvSpPr/>
          <p:nvPr/>
        </p:nvSpPr>
        <p:spPr>
          <a:xfrm>
            <a:off x="10570464" y="6510528"/>
            <a:ext cx="54864" cy="54864"/>
          </a:xfrm>
          <a:prstGeom prst="ellipse">
            <a:avLst/>
          </a:prstGeom>
          <a:solidFill>
            <a:srgbClr val="2B3A5C"/>
          </a:solidFill>
          <a:ln w="12700">
            <a:solidFill>
              <a:srgbClr val="2B3A5C"/>
            </a:solidFill>
            <a:prstDash val="solid"/>
          </a:ln>
        </p:spPr>
      </p:sp>
      <p:sp>
        <p:nvSpPr>
          <p:cNvPr id="12" name="!!dot8"/>
          <p:cNvSpPr/>
          <p:nvPr/>
        </p:nvSpPr>
        <p:spPr>
          <a:xfrm>
            <a:off x="10716768" y="6510528"/>
            <a:ext cx="54864" cy="54864"/>
          </a:xfrm>
          <a:prstGeom prst="ellipse">
            <a:avLst/>
          </a:prstGeom>
          <a:solidFill>
            <a:srgbClr val="2B3A5C"/>
          </a:solidFill>
          <a:ln w="12700">
            <a:solidFill>
              <a:srgbClr val="2B3A5C"/>
            </a:solidFill>
            <a:prstDash val="solid"/>
          </a:ln>
        </p:spPr>
      </p:sp>
      <p:sp>
        <p:nvSpPr>
          <p:cNvPr id="13" name="!!dot9"/>
          <p:cNvSpPr/>
          <p:nvPr/>
        </p:nvSpPr>
        <p:spPr>
          <a:xfrm>
            <a:off x="10863072" y="6510528"/>
            <a:ext cx="54864" cy="54864"/>
          </a:xfrm>
          <a:prstGeom prst="ellipse">
            <a:avLst/>
          </a:prstGeom>
          <a:solidFill>
            <a:srgbClr val="2B3A5C"/>
          </a:solidFill>
          <a:ln w="12700">
            <a:solidFill>
              <a:srgbClr val="2B3A5C"/>
            </a:solidFill>
            <a:prstDash val="solid"/>
          </a:ln>
        </p:spPr>
      </p:sp>
      <p:sp>
        <p:nvSpPr>
          <p:cNvPr id="14" name="!!dot10"/>
          <p:cNvSpPr/>
          <p:nvPr/>
        </p:nvSpPr>
        <p:spPr>
          <a:xfrm>
            <a:off x="11009376" y="6510528"/>
            <a:ext cx="54864" cy="54864"/>
          </a:xfrm>
          <a:prstGeom prst="ellipse">
            <a:avLst/>
          </a:prstGeom>
          <a:solidFill>
            <a:srgbClr val="2B3A5C"/>
          </a:solidFill>
          <a:ln w="12700">
            <a:solidFill>
              <a:srgbClr val="2B3A5C"/>
            </a:solidFill>
            <a:prstDash val="solid"/>
          </a:ln>
        </p:spPr>
      </p:sp>
      <p:sp>
        <p:nvSpPr>
          <p:cNvPr id="15" name="!!dot11"/>
          <p:cNvSpPr/>
          <p:nvPr/>
        </p:nvSpPr>
        <p:spPr>
          <a:xfrm>
            <a:off x="11155680" y="6510528"/>
            <a:ext cx="54864" cy="54864"/>
          </a:xfrm>
          <a:prstGeom prst="ellipse">
            <a:avLst/>
          </a:prstGeom>
          <a:solidFill>
            <a:srgbClr val="2B3A5C"/>
          </a:solidFill>
          <a:ln w="12700">
            <a:solidFill>
              <a:srgbClr val="2B3A5C"/>
            </a:solidFill>
            <a:prstDash val="solid"/>
          </a:ln>
        </p:spPr>
      </p:sp>
      <p:sp>
        <p:nvSpPr>
          <p:cNvPr id="16" name="!!dot12"/>
          <p:cNvSpPr/>
          <p:nvPr/>
        </p:nvSpPr>
        <p:spPr>
          <a:xfrm>
            <a:off x="11301984" y="6510528"/>
            <a:ext cx="54864" cy="54864"/>
          </a:xfrm>
          <a:prstGeom prst="ellipse">
            <a:avLst/>
          </a:prstGeom>
          <a:solidFill>
            <a:srgbClr val="2B3A5C"/>
          </a:solidFill>
          <a:ln w="12700">
            <a:solidFill>
              <a:srgbClr val="2B3A5C"/>
            </a:solidFill>
            <a:prstDash val="solid"/>
          </a:ln>
        </p:spPr>
      </p:sp>
      <p:sp>
        <p:nvSpPr>
          <p:cNvPr id="17" name="!!dot13"/>
          <p:cNvSpPr/>
          <p:nvPr/>
        </p:nvSpPr>
        <p:spPr>
          <a:xfrm>
            <a:off x="11448288" y="6510528"/>
            <a:ext cx="54864" cy="54864"/>
          </a:xfrm>
          <a:prstGeom prst="ellipse">
            <a:avLst/>
          </a:prstGeom>
          <a:solidFill>
            <a:srgbClr val="2B3A5C"/>
          </a:solidFill>
          <a:ln w="12700">
            <a:solidFill>
              <a:srgbClr val="2B3A5C"/>
            </a:solidFill>
            <a:prstDash val="solid"/>
          </a:ln>
        </p:spPr>
      </p:sp>
      <p:sp>
        <p:nvSpPr>
          <p:cNvPr id="18" name="!!dot14"/>
          <p:cNvSpPr/>
          <p:nvPr/>
        </p:nvSpPr>
        <p:spPr>
          <a:xfrm>
            <a:off x="11594592" y="6510528"/>
            <a:ext cx="54864" cy="54864"/>
          </a:xfrm>
          <a:prstGeom prst="ellipse">
            <a:avLst/>
          </a:prstGeom>
          <a:solidFill>
            <a:srgbClr val="2B3A5C"/>
          </a:solidFill>
          <a:ln w="12700">
            <a:solidFill>
              <a:srgbClr val="2B3A5C"/>
            </a:solidFill>
            <a:prstDash val="solid"/>
          </a:ln>
        </p:spPr>
      </p:sp>
      <p:sp>
        <p:nvSpPr>
          <p:cNvPr id="19" name="!!brand"/>
          <p:cNvSpPr txBox="1"/>
          <p:nvPr/>
        </p:nvSpPr>
        <p:spPr>
          <a:xfrm>
            <a:off x="502920" y="6446520"/>
            <a:ext cx="1828800" cy="201168"/>
          </a:xfrm>
          <a:prstGeom prst="rect">
            <a:avLst/>
          </a:prstGeom>
          <a:noFill/>
          <a:ln/>
        </p:spPr>
        <p:txBody>
          <a:bodyPr wrap="square" lIns="0" tIns="0" rIns="0" bIns="0" rtlCol="0" anchor="t"/>
          <a:lstStyle/>
          <a:p>
            <a:pPr indent="0" marL="0">
              <a:buNone/>
            </a:pPr>
            <a:r>
              <a:rPr lang="en-US" sz="900" b="1" spc="500" kern="0" dirty="0">
                <a:solidFill>
                  <a:srgbClr val="94A3B8"/>
                </a:solidFill>
                <a:latin typeface="Calibri" pitchFamily="34" charset="0"/>
                <a:ea typeface="Calibri" pitchFamily="34" charset="-122"/>
                <a:cs typeface="Calibri" pitchFamily="34" charset="-120"/>
              </a:rPr>
              <a:t>AVERRA</a:t>
            </a:r>
            <a:endParaRPr lang="en-US" sz="900" dirty="0"/>
          </a:p>
        </p:txBody>
      </p:sp>
      <p:pic>
        <p:nvPicPr>
          <p:cNvPr id="21" name="!!ts_photo" descr="../public/images/tremosense-rig.jpg">    </p:cNvPr>
          <p:cNvPicPr>
            <a:picLocks noChangeAspect="1"/>
          </p:cNvPicPr>
          <p:nvPr/>
        </p:nvPicPr>
        <p:blipFill>
          <a:blip r:embed="rId2"/>
          <a:stretch>
            <a:fillRect/>
          </a:stretch>
        </p:blipFill>
        <p:spPr>
          <a:xfrm>
            <a:off x="502920" y="1371600"/>
            <a:ext cx="1280160" cy="1706453"/>
          </a:xfrm>
          <a:prstGeom prst="rect">
            <a:avLst/>
          </a:prstGeom>
        </p:spPr>
      </p:pic>
      <p:sp>
        <p:nvSpPr>
          <p:cNvPr id="22" name="!!ts_label"/>
          <p:cNvSpPr txBox="1"/>
          <p:nvPr/>
        </p:nvSpPr>
        <p:spPr>
          <a:xfrm>
            <a:off x="1920240" y="1417320"/>
            <a:ext cx="1920240" cy="64008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TremoSense</a:t>
            </a:r>
            <a:endParaRPr lang="en-US" sz="1400" dirty="0"/>
          </a:p>
          <a:p>
            <a:pPr indent="0" marL="0">
              <a:buNone/>
            </a:pPr>
            <a:r>
              <a:rPr lang="en-US" sz="1000" b="1" spc="200" kern="0" dirty="0">
                <a:solidFill>
                  <a:srgbClr val="8B5CF6"/>
                </a:solidFill>
                <a:latin typeface="Calibri" pitchFamily="34" charset="0"/>
                <a:ea typeface="Calibri" pitchFamily="34" charset="-122"/>
                <a:cs typeface="Calibri" pitchFamily="34" charset="-120"/>
              </a:rPr>
              <a:t>ASSIST</a:t>
            </a:r>
            <a:endParaRPr lang="en-US" sz="1400" dirty="0"/>
          </a:p>
        </p:txBody>
      </p:sp>
      <p:sp>
        <p:nvSpPr>
          <p:cNvPr id="23" name="ts_arch0"/>
          <p:cNvSpPr txBox="1"/>
          <p:nvPr/>
        </p:nvSpPr>
        <p:spPr>
          <a:xfrm>
            <a:off x="502920" y="3200400"/>
            <a:ext cx="3429000" cy="402336"/>
          </a:xfrm>
          <a:prstGeom prst="roundRect">
            <a:avLst>
              <a:gd name="adj" fmla="val 11364"/>
            </a:avLst>
          </a:prstGeom>
          <a:solidFill>
            <a:srgbClr val="16213A"/>
          </a:solidFill>
          <a:ln w="9525">
            <a:solidFill>
              <a:srgbClr val="2B3A5C"/>
            </a:solidFill>
          </a:ln>
        </p:spPr>
        <p:txBody>
          <a:bodyPr wrap="square" lIns="101600" tIns="0" rIns="7620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Hand IMU (LSM6DS3) on the handle</a:t>
            </a:r>
            <a:endParaRPr lang="en-US" sz="1050" dirty="0"/>
          </a:p>
        </p:txBody>
      </p:sp>
      <p:sp>
        <p:nvSpPr>
          <p:cNvPr id="24" name="ts_arch1"/>
          <p:cNvSpPr txBox="1"/>
          <p:nvPr/>
        </p:nvSpPr>
        <p:spPr>
          <a:xfrm>
            <a:off x="502920" y="3675888"/>
            <a:ext cx="3429000" cy="402336"/>
          </a:xfrm>
          <a:prstGeom prst="roundRect">
            <a:avLst>
              <a:gd name="adj" fmla="val 11364"/>
            </a:avLst>
          </a:prstGeom>
          <a:solidFill>
            <a:srgbClr val="2A2350"/>
          </a:solidFill>
          <a:ln w="9525">
            <a:solidFill>
              <a:srgbClr val="8B5CF6"/>
            </a:solidFill>
          </a:ln>
        </p:spPr>
        <p:txBody>
          <a:bodyPr wrap="square" lIns="101600" tIns="0" rIns="7620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EKF estimates roll and pitch</a:t>
            </a:r>
            <a:endParaRPr lang="en-US" sz="1050" dirty="0"/>
          </a:p>
        </p:txBody>
      </p:sp>
      <p:sp>
        <p:nvSpPr>
          <p:cNvPr id="25" name="ts_arch2"/>
          <p:cNvSpPr txBox="1"/>
          <p:nvPr/>
        </p:nvSpPr>
        <p:spPr>
          <a:xfrm>
            <a:off x="502920" y="4151376"/>
            <a:ext cx="3429000" cy="402336"/>
          </a:xfrm>
          <a:prstGeom prst="roundRect">
            <a:avLst>
              <a:gd name="adj" fmla="val 11364"/>
            </a:avLst>
          </a:prstGeom>
          <a:solidFill>
            <a:srgbClr val="2A2350"/>
          </a:solidFill>
          <a:ln w="9525">
            <a:solidFill>
              <a:srgbClr val="8B5CF6"/>
            </a:solidFill>
          </a:ln>
        </p:spPr>
        <p:txBody>
          <a:bodyPr wrap="square" lIns="101600" tIns="0" rIns="7620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LQR gain matrix maps states to two servo commands</a:t>
            </a:r>
            <a:endParaRPr lang="en-US" sz="1050" dirty="0"/>
          </a:p>
        </p:txBody>
      </p:sp>
      <p:sp>
        <p:nvSpPr>
          <p:cNvPr id="26" name="ts_arch3"/>
          <p:cNvSpPr txBox="1"/>
          <p:nvPr/>
        </p:nvSpPr>
        <p:spPr>
          <a:xfrm>
            <a:off x="502920" y="4626864"/>
            <a:ext cx="3429000" cy="402336"/>
          </a:xfrm>
          <a:prstGeom prst="roundRect">
            <a:avLst>
              <a:gd name="adj" fmla="val 11364"/>
            </a:avLst>
          </a:prstGeom>
          <a:solidFill>
            <a:srgbClr val="16213A"/>
          </a:solidFill>
          <a:ln w="9525">
            <a:solidFill>
              <a:srgbClr val="2B3A5C"/>
            </a:solidFill>
          </a:ln>
        </p:spPr>
        <p:txBody>
          <a:bodyPr wrap="square" lIns="101600" tIns="0" rIns="7620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Two servos counter-rotate the spoon head</a:t>
            </a:r>
            <a:endParaRPr lang="en-US" sz="1050" dirty="0"/>
          </a:p>
        </p:txBody>
      </p:sp>
      <p:sp>
        <p:nvSpPr>
          <p:cNvPr id="27" name="ts_arch4"/>
          <p:cNvSpPr txBox="1"/>
          <p:nvPr/>
        </p:nvSpPr>
        <p:spPr>
          <a:xfrm>
            <a:off x="502920" y="5102352"/>
            <a:ext cx="3429000" cy="402336"/>
          </a:xfrm>
          <a:prstGeom prst="roundRect">
            <a:avLst>
              <a:gd name="adj" fmla="val 11364"/>
            </a:avLst>
          </a:prstGeom>
          <a:solidFill>
            <a:srgbClr val="16213A"/>
          </a:solidFill>
          <a:ln w="9525">
            <a:solidFill>
              <a:srgbClr val="2B3A5C"/>
            </a:solidFill>
          </a:ln>
        </p:spPr>
        <p:txBody>
          <a:bodyPr wrap="square" lIns="101600" tIns="0" rIns="7620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Boost converter + capacitor hold the rail through servo current spikes</a:t>
            </a:r>
            <a:endParaRPr lang="en-US" sz="1050" dirty="0"/>
          </a:p>
        </p:txBody>
      </p:sp>
      <p:sp>
        <p:nvSpPr>
          <p:cNvPr id="28" name="res0"/>
          <p:cNvSpPr/>
          <p:nvPr/>
        </p:nvSpPr>
        <p:spPr>
          <a:xfrm>
            <a:off x="4114800" y="1371600"/>
            <a:ext cx="2651760" cy="1234440"/>
          </a:xfrm>
          <a:prstGeom prst="roundRect">
            <a:avLst>
              <a:gd name="adj" fmla="val 5185"/>
            </a:avLst>
          </a:prstGeom>
          <a:solidFill>
            <a:srgbClr val="1B2847"/>
          </a:solidFill>
          <a:ln w="9525">
            <a:solidFill>
              <a:srgbClr val="2B3A5C"/>
            </a:solidFill>
            <a:prstDash val="solid"/>
          </a:ln>
        </p:spPr>
      </p:sp>
      <p:sp>
        <p:nvSpPr>
          <p:cNvPr id="29" name="res_v0"/>
          <p:cNvSpPr txBox="1"/>
          <p:nvPr/>
        </p:nvSpPr>
        <p:spPr>
          <a:xfrm>
            <a:off x="4251960" y="1444752"/>
            <a:ext cx="2377440" cy="502920"/>
          </a:xfrm>
          <a:prstGeom prst="rect">
            <a:avLst/>
          </a:prstGeom>
          <a:noFill/>
          <a:ln/>
        </p:spPr>
        <p:txBody>
          <a:bodyPr wrap="square" lIns="0" tIns="0" rIns="0" bIns="0" rtlCol="0" anchor="t"/>
          <a:lstStyle/>
          <a:p>
            <a:pPr indent="0" marL="0">
              <a:buNone/>
            </a:pPr>
            <a:r>
              <a:rPr lang="en-US" sz="2600" b="1" dirty="0">
                <a:solidFill>
                  <a:srgbClr val="8B5CF6"/>
                </a:solidFill>
                <a:latin typeface="Calibri" pitchFamily="34" charset="0"/>
                <a:ea typeface="Calibri" pitchFamily="34" charset="-122"/>
                <a:cs typeface="Calibri" pitchFamily="34" charset="-120"/>
              </a:rPr>
              <a:t>77.3%</a:t>
            </a:r>
            <a:endParaRPr lang="en-US" sz="2600" dirty="0"/>
          </a:p>
        </p:txBody>
      </p:sp>
      <p:sp>
        <p:nvSpPr>
          <p:cNvPr id="30" name="Text 25"/>
          <p:cNvSpPr txBox="1"/>
          <p:nvPr/>
        </p:nvSpPr>
        <p:spPr>
          <a:xfrm>
            <a:off x="4251960" y="1965960"/>
            <a:ext cx="2423160" cy="594360"/>
          </a:xfrm>
          <a:prstGeom prst="rect">
            <a:avLst/>
          </a:prstGeom>
          <a:noFill/>
          <a:ln/>
        </p:spPr>
        <p:txBody>
          <a:bodyPr wrap="square" lIns="0" tIns="0" rIns="0" bIns="0" rtlCol="0" anchor="t"/>
          <a:lstStyle/>
          <a:p>
            <a:pPr indent="0" marL="0">
              <a:buNone/>
            </a:pPr>
            <a:r>
              <a:rPr lang="en-US" sz="950" dirty="0">
                <a:solidFill>
                  <a:srgbClr val="CBD5E1"/>
                </a:solidFill>
                <a:latin typeface="Calibri" pitchFamily="34" charset="0"/>
                <a:ea typeface="Calibri" pitchFamily="34" charset="-122"/>
                <a:cs typeface="Calibri" pitchFamily="34" charset="-120"/>
              </a:rPr>
              <a:t>mean tremor rejection on a motorised simulator, 4/6/8 Hz, ±5° (paper, bench)</a:t>
            </a:r>
            <a:endParaRPr lang="en-US" sz="950" dirty="0"/>
          </a:p>
        </p:txBody>
      </p:sp>
      <p:sp>
        <p:nvSpPr>
          <p:cNvPr id="31" name="res1"/>
          <p:cNvSpPr/>
          <p:nvPr/>
        </p:nvSpPr>
        <p:spPr>
          <a:xfrm>
            <a:off x="4114800" y="2743200"/>
            <a:ext cx="2651760" cy="1234440"/>
          </a:xfrm>
          <a:prstGeom prst="roundRect">
            <a:avLst>
              <a:gd name="adj" fmla="val 5185"/>
            </a:avLst>
          </a:prstGeom>
          <a:solidFill>
            <a:srgbClr val="1B2847"/>
          </a:solidFill>
          <a:ln w="9525">
            <a:solidFill>
              <a:srgbClr val="2B3A5C"/>
            </a:solidFill>
            <a:prstDash val="solid"/>
          </a:ln>
        </p:spPr>
      </p:sp>
      <p:sp>
        <p:nvSpPr>
          <p:cNvPr id="32" name="res_v1"/>
          <p:cNvSpPr txBox="1"/>
          <p:nvPr/>
        </p:nvSpPr>
        <p:spPr>
          <a:xfrm>
            <a:off x="4251960" y="2816352"/>
            <a:ext cx="2377440" cy="502920"/>
          </a:xfrm>
          <a:prstGeom prst="rect">
            <a:avLst/>
          </a:prstGeom>
          <a:noFill/>
          <a:ln/>
        </p:spPr>
        <p:txBody>
          <a:bodyPr wrap="square" lIns="0" tIns="0" rIns="0" bIns="0" rtlCol="0" anchor="t"/>
          <a:lstStyle/>
          <a:p>
            <a:pPr indent="0" marL="0">
              <a:buNone/>
            </a:pPr>
            <a:r>
              <a:rPr lang="en-US" sz="2600" b="1" dirty="0">
                <a:solidFill>
                  <a:srgbClr val="8B5CF6"/>
                </a:solidFill>
                <a:latin typeface="Calibri" pitchFamily="34" charset="0"/>
                <a:ea typeface="Calibri" pitchFamily="34" charset="-122"/>
                <a:cs typeface="Calibri" pitchFamily="34" charset="-120"/>
              </a:rPr>
              <a:t>&gt;90% / &gt;80%</a:t>
            </a:r>
            <a:endParaRPr lang="en-US" sz="2600" dirty="0"/>
          </a:p>
        </p:txBody>
      </p:sp>
      <p:sp>
        <p:nvSpPr>
          <p:cNvPr id="33" name="Text 28"/>
          <p:cNvSpPr txBox="1"/>
          <p:nvPr/>
        </p:nvSpPr>
        <p:spPr>
          <a:xfrm>
            <a:off x="4251960" y="3337560"/>
            <a:ext cx="2423160" cy="594360"/>
          </a:xfrm>
          <a:prstGeom prst="rect">
            <a:avLst/>
          </a:prstGeom>
          <a:noFill/>
          <a:ln/>
        </p:spPr>
        <p:txBody>
          <a:bodyPr wrap="square" lIns="0" tIns="0" rIns="0" bIns="0" rtlCol="0" anchor="t"/>
          <a:lstStyle/>
          <a:p>
            <a:pPr indent="0" marL="0">
              <a:buNone/>
            </a:pPr>
            <a:r>
              <a:rPr lang="en-US" sz="950" dirty="0">
                <a:solidFill>
                  <a:srgbClr val="CBD5E1"/>
                </a:solidFill>
                <a:latin typeface="Calibri" pitchFamily="34" charset="0"/>
                <a:ea typeface="Calibri" pitchFamily="34" charset="-122"/>
                <a:cs typeface="Calibri" pitchFamily="34" charset="-120"/>
              </a:rPr>
              <a:t>roll / pitch suppression across 3–7 Hz in Simulink (repo)</a:t>
            </a:r>
            <a:endParaRPr lang="en-US" sz="950" dirty="0"/>
          </a:p>
        </p:txBody>
      </p:sp>
      <p:sp>
        <p:nvSpPr>
          <p:cNvPr id="34" name="res2"/>
          <p:cNvSpPr/>
          <p:nvPr/>
        </p:nvSpPr>
        <p:spPr>
          <a:xfrm>
            <a:off x="4114800" y="4114800"/>
            <a:ext cx="2651760" cy="1234440"/>
          </a:xfrm>
          <a:prstGeom prst="roundRect">
            <a:avLst>
              <a:gd name="adj" fmla="val 5185"/>
            </a:avLst>
          </a:prstGeom>
          <a:solidFill>
            <a:srgbClr val="1B2847"/>
          </a:solidFill>
          <a:ln w="9525">
            <a:solidFill>
              <a:srgbClr val="2B3A5C"/>
            </a:solidFill>
            <a:prstDash val="solid"/>
          </a:ln>
        </p:spPr>
      </p:sp>
      <p:sp>
        <p:nvSpPr>
          <p:cNvPr id="35" name="res_v2"/>
          <p:cNvSpPr txBox="1"/>
          <p:nvPr/>
        </p:nvSpPr>
        <p:spPr>
          <a:xfrm>
            <a:off x="4251960" y="4187952"/>
            <a:ext cx="2377440" cy="502920"/>
          </a:xfrm>
          <a:prstGeom prst="rect">
            <a:avLst/>
          </a:prstGeom>
          <a:noFill/>
          <a:ln/>
        </p:spPr>
        <p:txBody>
          <a:bodyPr wrap="square" lIns="0" tIns="0" rIns="0" bIns="0" rtlCol="0" anchor="t"/>
          <a:lstStyle/>
          <a:p>
            <a:pPr indent="0" marL="0">
              <a:buNone/>
            </a:pPr>
            <a:r>
              <a:rPr lang="en-US" sz="2600" b="1" dirty="0">
                <a:solidFill>
                  <a:srgbClr val="F59E0B"/>
                </a:solidFill>
                <a:latin typeface="Calibri" pitchFamily="34" charset="0"/>
                <a:ea typeface="Calibri" pitchFamily="34" charset="-122"/>
                <a:cs typeface="Calibri" pitchFamily="34" charset="-120"/>
              </a:rPr>
              <a:t>0</a:t>
            </a:r>
            <a:endParaRPr lang="en-US" sz="2600" dirty="0"/>
          </a:p>
        </p:txBody>
      </p:sp>
      <p:sp>
        <p:nvSpPr>
          <p:cNvPr id="36" name="Text 31"/>
          <p:cNvSpPr txBox="1"/>
          <p:nvPr/>
        </p:nvSpPr>
        <p:spPr>
          <a:xfrm>
            <a:off x="4251960" y="4709160"/>
            <a:ext cx="2423160" cy="594360"/>
          </a:xfrm>
          <a:prstGeom prst="rect">
            <a:avLst/>
          </a:prstGeom>
          <a:noFill/>
          <a:ln/>
        </p:spPr>
        <p:txBody>
          <a:bodyPr wrap="square" lIns="0" tIns="0" rIns="0" bIns="0" rtlCol="0" anchor="t"/>
          <a:lstStyle/>
          <a:p>
            <a:pPr indent="0" marL="0">
              <a:buNone/>
            </a:pPr>
            <a:r>
              <a:rPr lang="en-US" sz="950" dirty="0">
                <a:solidFill>
                  <a:srgbClr val="CBD5E1"/>
                </a:solidFill>
                <a:latin typeface="Calibri" pitchFamily="34" charset="0"/>
                <a:ea typeface="Calibri" pitchFamily="34" charset="-122"/>
                <a:cs typeface="Calibri" pitchFamily="34" charset="-120"/>
              </a:rPr>
              <a:t>people with tremor tested so far</a:t>
            </a:r>
            <a:endParaRPr lang="en-US" sz="950" dirty="0"/>
          </a:p>
        </p:txBody>
      </p:sp>
      <p:sp>
        <p:nvSpPr>
          <p:cNvPr id="37" name="Text 32"/>
          <p:cNvSpPr txBox="1"/>
          <p:nvPr/>
        </p:nvSpPr>
        <p:spPr>
          <a:xfrm>
            <a:off x="6949440" y="1371600"/>
            <a:ext cx="4754880" cy="228600"/>
          </a:xfrm>
          <a:prstGeom prst="rect">
            <a:avLst/>
          </a:prstGeom>
          <a:noFill/>
          <a:ln/>
        </p:spPr>
        <p:txBody>
          <a:bodyPr wrap="square" lIns="0" tIns="0" rIns="0" bIns="0" rtlCol="0" anchor="t"/>
          <a:lstStyle/>
          <a:p>
            <a:pPr indent="0" marL="0">
              <a:buNone/>
            </a:pPr>
            <a:r>
              <a:rPr lang="en-US" sz="950" b="1" spc="200" kern="0" dirty="0">
                <a:solidFill>
                  <a:srgbClr val="F59E0B"/>
                </a:solidFill>
                <a:latin typeface="Calibri" pitchFamily="34" charset="0"/>
                <a:ea typeface="Calibri" pitchFamily="34" charset="-122"/>
                <a:cs typeface="Calibri" pitchFamily="34" charset="-120"/>
              </a:rPr>
              <a:t>AUDIT · REPO vs PAPER</a:t>
            </a:r>
            <a:endParaRPr lang="en-US" sz="950" dirty="0"/>
          </a:p>
        </p:txBody>
      </p:sp>
      <p:graphicFrame>
        <p:nvGraphicFramePr>
          <p:cNvPr id="6" name="audit_table"/>
          <p:cNvGraphicFramePr>
            <a:graphicFrameLocks noGrp="1"/>
          </p:cNvGraphicFramePr>
          <p:nvPr>
            <p:extLst>
              <p:ext uri="{D42A27DB-BD31-4B8C-83A1-F6EECF244321}">
                <p14:modId xmlns:p14="http://schemas.microsoft.com/office/powerpoint/2010/main" val="1579011935"/>
              </p:ext>
            </p:extLst>
          </p:nvPr>
        </p:nvGraphicFramePr>
        <p:xfrm>
          <a:off x="6949440" y="1664208"/>
          <a:ext cx="4754880" cy="914400"/>
        </p:xfrm>
        <a:graphic>
          <a:graphicData uri="http://schemas.openxmlformats.org/drawingml/2006/table">
            <a:tbl>
              <a:tblPr/>
              <a:tblGrid>
                <a:gridCol w="1143000"/>
                <a:gridCol w="1828800"/>
                <a:gridCol w="1783080"/>
              </a:tblGrid>
              <a:tr h="457200">
                <a:tc>
                  <a:txBody>
                    <a:bodyPr/>
                    <a:lstStyle/>
                    <a:p>
                      <a:pPr indent="0" marL="0">
                        <a:buNone/>
                      </a:pP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Public repository</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Paper</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r h="457200">
                <a:tc>
                  <a:txBody>
                    <a:bodyPr/>
                    <a:lstStyle/>
                    <a:p>
                      <a:pPr indent="0" marL="0">
                        <a:buNone/>
                      </a:pPr>
                      <a:r>
                        <a:rPr lang="en-US" sz="900" b="1" dirty="0">
                          <a:solidFill>
                            <a:srgbClr val="94A3B8"/>
                          </a:solidFill>
                          <a:latin typeface="Calibri" pitchFamily="34" charset="0"/>
                          <a:ea typeface="Calibri" pitchFamily="34" charset="-122"/>
                          <a:cs typeface="Calibri" pitchFamily="34" charset="-120"/>
                        </a:rPr>
                        <a:t>Firmware</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Zephyr RTOS, multi-threaded (repo)</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Arduino framework (paper Table II)</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r h="457200">
                <a:tc>
                  <a:txBody>
                    <a:bodyPr/>
                    <a:lstStyle/>
                    <a:p>
                      <a:pPr indent="0" marL="0">
                        <a:buNone/>
                      </a:pPr>
                      <a:r>
                        <a:rPr lang="en-US" sz="900" b="1" dirty="0">
                          <a:solidFill>
                            <a:srgbClr val="94A3B8"/>
                          </a:solidFill>
                          <a:latin typeface="Calibri" pitchFamily="34" charset="0"/>
                          <a:ea typeface="Calibri" pitchFamily="34" charset="-122"/>
                          <a:cs typeface="Calibri" pitchFamily="34" charset="-120"/>
                        </a:rPr>
                        <a:t>Estimator</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2-state EKF (roll, pitch) + fixed calibration offsets</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4-state EKF with gyro-bias tracking</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r h="457200">
                <a:tc>
                  <a:txBody>
                    <a:bodyPr/>
                    <a:lstStyle/>
                    <a:p>
                      <a:pPr indent="0" marL="0">
                        <a:buNone/>
                      </a:pPr>
                      <a:r>
                        <a:rPr lang="en-US" sz="900" b="1" dirty="0">
                          <a:solidFill>
                            <a:srgbClr val="94A3B8"/>
                          </a:solidFill>
                          <a:latin typeface="Calibri" pitchFamily="34" charset="0"/>
                          <a:ea typeface="Calibri" pitchFamily="34" charset="-122"/>
                          <a:cs typeface="Calibri" pitchFamily="34" charset="-120"/>
                        </a:rPr>
                        <a:t>Spectral gate 4–12 Hz vs &lt;2 Hz</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Not found in firmware</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Described as a pipeline stage</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r h="457200">
                <a:tc>
                  <a:txBody>
                    <a:bodyPr/>
                    <a:lstStyle/>
                    <a:p>
                      <a:pPr indent="0" marL="0">
                        <a:buNone/>
                      </a:pPr>
                      <a:r>
                        <a:rPr lang="en-US" sz="900" b="1" dirty="0">
                          <a:solidFill>
                            <a:srgbClr val="94A3B8"/>
                          </a:solidFill>
                          <a:latin typeface="Calibri" pitchFamily="34" charset="0"/>
                          <a:ea typeface="Calibri" pitchFamily="34" charset="-122"/>
                          <a:cs typeface="Calibri" pitchFamily="34" charset="-120"/>
                        </a:rPr>
                        <a:t>Sampling</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IMU data-ready at 208 Hz</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100 Hz, 10 ms loop</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r h="457200">
                <a:tc>
                  <a:txBody>
                    <a:bodyPr/>
                    <a:lstStyle/>
                    <a:p>
                      <a:pPr indent="0" marL="0">
                        <a:buNone/>
                      </a:pPr>
                      <a:r>
                        <a:rPr lang="en-US" sz="900" b="1" dirty="0">
                          <a:solidFill>
                            <a:srgbClr val="94A3B8"/>
                          </a:solidFill>
                          <a:latin typeface="Calibri" pitchFamily="34" charset="0"/>
                          <a:ea typeface="Calibri" pitchFamily="34" charset="-122"/>
                          <a:cs typeface="Calibri" pitchFamily="34" charset="-120"/>
                        </a:rPr>
                        <a:t>Servos / power</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MG995 + FS90MG, no battery (README)</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2 × MG92B, XL6009, 1250 mAh LiPo</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r h="457200">
                <a:tc>
                  <a:txBody>
                    <a:bodyPr/>
                    <a:lstStyle/>
                    <a:p>
                      <a:pPr indent="0" marL="0">
                        <a:buNone/>
                      </a:pPr>
                      <a:r>
                        <a:rPr lang="en-US" sz="900" b="1" dirty="0">
                          <a:solidFill>
                            <a:srgbClr val="94A3B8"/>
                          </a:solidFill>
                          <a:latin typeface="Calibri" pitchFamily="34" charset="0"/>
                          <a:ea typeface="Calibri" pitchFamily="34" charset="-122"/>
                          <a:cs typeface="Calibri" pitchFamily="34" charset="-120"/>
                        </a:rPr>
                        <a:t>Tuning constants</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Q, R, K_lqr set to 0 in public constants.h</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Q = 10⁻⁴, R = 1.0, solved K_lqr</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r h="457200">
                <a:tc>
                  <a:txBody>
                    <a:bodyPr/>
                    <a:lstStyle/>
                    <a:p>
                      <a:pPr indent="0" marL="0">
                        <a:buNone/>
                      </a:pPr>
                      <a:r>
                        <a:rPr lang="en-US" sz="900" b="1" dirty="0">
                          <a:solidFill>
                            <a:srgbClr val="94A3B8"/>
                          </a:solidFill>
                          <a:latin typeface="Calibri" pitchFamily="34" charset="0"/>
                          <a:ea typeface="Calibri" pitchFamily="34" charset="-122"/>
                          <a:cs typeface="Calibri" pitchFamily="34" charset="-120"/>
                        </a:rPr>
                        <a:t>Hardware results</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None in repo; README lists benchmarking as future scope</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77.3% mean rejection, 4–8 Hz (Table IV)</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bl>
          </a:graphicData>
        </a:graphic>
      </p:graphicFrame>
      <p:sp>
        <p:nvSpPr>
          <p:cNvPr id="39" name="ts_next"/>
          <p:cNvSpPr/>
          <p:nvPr/>
        </p:nvSpPr>
        <p:spPr>
          <a:xfrm>
            <a:off x="502920" y="5623560"/>
            <a:ext cx="6263640" cy="475488"/>
          </a:xfrm>
          <a:prstGeom prst="roundRect">
            <a:avLst>
              <a:gd name="adj" fmla="val 13462"/>
            </a:avLst>
          </a:prstGeom>
          <a:solidFill>
            <a:srgbClr val="2A1620"/>
          </a:solidFill>
          <a:ln w="9525">
            <a:solidFill>
              <a:srgbClr val="F87171"/>
            </a:solidFill>
            <a:prstDash val="solid"/>
          </a:ln>
        </p:spPr>
      </p:sp>
      <p:sp>
        <p:nvSpPr>
          <p:cNvPr id="40" name="ts_next_t"/>
          <p:cNvSpPr txBox="1"/>
          <p:nvPr/>
        </p:nvSpPr>
        <p:spPr>
          <a:xfrm>
            <a:off x="658368" y="5687568"/>
            <a:ext cx="6035040" cy="36576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Next: reproduce Table IV on the current build (M3), then the user study (M6).</a:t>
            </a:r>
            <a:endParaRPr lang="en-US" sz="1150" dirty="0"/>
          </a:p>
        </p:txBody>
      </p:sp>
      <p:sp>
        <p:nvSpPr>
          <p:cNvPr id="41" name="sources"/>
          <p:cNvSpPr txBox="1"/>
          <p:nvPr/>
        </p:nvSpPr>
        <p:spPr>
          <a:xfrm>
            <a:off x="502920" y="6199632"/>
            <a:ext cx="8778240" cy="274320"/>
          </a:xfrm>
          <a:prstGeom prst="rect">
            <a:avLst/>
          </a:prstGeom>
          <a:noFill/>
          <a:ln/>
        </p:spPr>
        <p:txBody>
          <a:bodyPr wrap="square" lIns="0" tIns="0" rIns="0" bIns="0" rtlCol="0" anchor="t"/>
          <a:lstStyle/>
          <a:p>
            <a:pPr indent="0" marL="0">
              <a:buNone/>
            </a:pPr>
            <a:r>
              <a:rPr lang="en-US" sz="850" dirty="0">
                <a:solidFill>
                  <a:srgbClr val="94A3B8"/>
                </a:solidFill>
                <a:latin typeface="Calibri" pitchFamily="34" charset="0"/>
                <a:ea typeface="Calibri" pitchFamily="34" charset="-122"/>
                <a:cs typeface="Calibri" pitchFamily="34" charset="-120"/>
              </a:rPr>
              <a:t>Results: TremoSense paper Table IV (bench) and repository README (Simulink). Audit: tremosense-app/src (ekf.c, imu.c), include/constants.h.</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450"/>
                                        <p:tgtEl>
                                          <p:spTgt spid="23"/>
                                        </p:tgtEl>
                                      </p:cBhvr>
                                    </p:animEffect>
                                  </p:childTnLst>
                                </p:cTn>
                              </p:par>
                            </p:childTnLst>
                          </p:cTn>
                        </p:par>
                        <p:par>
                          <p:cTn id="8" fill="hold">
                            <p:stCondLst>
                              <p:cond delay="450"/>
                            </p:stCondLst>
                            <p:childTnLst>
                              <p:par>
                                <p:cTn id="9" presetID="22" presetClass="entr" presetSubtype="8"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450"/>
                                        <p:tgtEl>
                                          <p:spTgt spid="24"/>
                                        </p:tgtEl>
                                      </p:cBhvr>
                                    </p:animEffect>
                                  </p:childTnLst>
                                </p:cTn>
                              </p:par>
                            </p:childTnLst>
                          </p:cTn>
                        </p:par>
                        <p:par>
                          <p:cTn id="12" fill="hold">
                            <p:stCondLst>
                              <p:cond delay="750"/>
                            </p:stCondLst>
                            <p:childTnLst>
                              <p:par>
                                <p:cTn id="13" presetID="22" presetClass="entr" presetSubtype="8"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450"/>
                                        <p:tgtEl>
                                          <p:spTgt spid="25"/>
                                        </p:tgtEl>
                                      </p:cBhvr>
                                    </p:animEffect>
                                  </p:childTnLst>
                                </p:cTn>
                              </p:par>
                            </p:childTnLst>
                          </p:cTn>
                        </p:par>
                        <p:par>
                          <p:cTn id="16" fill="hold">
                            <p:stCondLst>
                              <p:cond delay="1050"/>
                            </p:stCondLst>
                            <p:childTnLst>
                              <p:par>
                                <p:cTn id="17" presetID="22" presetClass="entr" presetSubtype="8" fill="hold"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left)">
                                      <p:cBhvr>
                                        <p:cTn id="19" dur="450"/>
                                        <p:tgtEl>
                                          <p:spTgt spid="26"/>
                                        </p:tgtEl>
                                      </p:cBhvr>
                                    </p:animEffect>
                                  </p:childTnLst>
                                </p:cTn>
                              </p:par>
                            </p:childTnLst>
                          </p:cTn>
                        </p:par>
                        <p:par>
                          <p:cTn id="20" fill="hold">
                            <p:stCondLst>
                              <p:cond delay="1350"/>
                            </p:stCondLst>
                            <p:childTnLst>
                              <p:par>
                                <p:cTn id="21" presetID="22" presetClass="entr" presetSubtype="8" fill="hold" nodeType="after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wipe(left)">
                                      <p:cBhvr>
                                        <p:cTn id="23" dur="450"/>
                                        <p:tgtEl>
                                          <p:spTgt spid="2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450"/>
                                        <p:tgtEl>
                                          <p:spTgt spid="28"/>
                                        </p:tgtEl>
                                      </p:cBhvr>
                                    </p:animEffect>
                                  </p:childTnLst>
                                </p:cTn>
                              </p:par>
                              <p:par>
                                <p:cTn id="29" presetID="10" presetClass="entr" presetSubtype="0"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5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50"/>
                                        <p:tgtEl>
                                          <p:spTgt spid="30"/>
                                        </p:tgtEl>
                                      </p:cBhvr>
                                    </p:animEffect>
                                  </p:childTnLst>
                                </p:cTn>
                              </p:par>
                            </p:childTnLst>
                          </p:cTn>
                        </p:par>
                        <p:par>
                          <p:cTn id="35" fill="hold">
                            <p:stCondLst>
                              <p:cond delay="450"/>
                            </p:stCondLst>
                            <p:childTnLst>
                              <p:par>
                                <p:cTn id="36" presetID="10" presetClass="entr" presetSubtype="0" fill="hold" nodeType="after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fade">
                                      <p:cBhvr>
                                        <p:cTn id="38" dur="450"/>
                                        <p:tgtEl>
                                          <p:spTgt spid="31"/>
                                        </p:tgtEl>
                                      </p:cBhvr>
                                    </p:animEffect>
                                  </p:childTnLst>
                                </p:cTn>
                              </p:par>
                              <p:par>
                                <p:cTn id="39" presetID="10" presetClass="entr" presetSubtype="0" fill="hold" nodeType="with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fade">
                                      <p:cBhvr>
                                        <p:cTn id="41" dur="450"/>
                                        <p:tgtEl>
                                          <p:spTgt spid="32"/>
                                        </p:tgtEl>
                                      </p:cBhvr>
                                    </p:animEffect>
                                  </p:childTnLst>
                                </p:cTn>
                              </p:par>
                              <p:par>
                                <p:cTn id="42" presetID="10" presetClass="entr" presetSubtype="0" fill="hold" nodeType="with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450"/>
                                        <p:tgtEl>
                                          <p:spTgt spid="33"/>
                                        </p:tgtEl>
                                      </p:cBhvr>
                                    </p:animEffect>
                                  </p:childTnLst>
                                </p:cTn>
                              </p:par>
                            </p:childTnLst>
                          </p:cTn>
                        </p:par>
                        <p:par>
                          <p:cTn id="45" fill="hold">
                            <p:stCondLst>
                              <p:cond delay="750"/>
                            </p:stCondLst>
                            <p:childTnLst>
                              <p:par>
                                <p:cTn id="46" presetID="10" presetClass="entr" presetSubtype="0" fill="hold" nodeType="after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450"/>
                                        <p:tgtEl>
                                          <p:spTgt spid="34"/>
                                        </p:tgtEl>
                                      </p:cBhvr>
                                    </p:animEffect>
                                  </p:childTnLst>
                                </p:cTn>
                              </p:par>
                              <p:par>
                                <p:cTn id="49" presetID="10" presetClass="entr" presetSubtype="0" fill="hold"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450"/>
                                        <p:tgtEl>
                                          <p:spTgt spid="35"/>
                                        </p:tgtEl>
                                      </p:cBhvr>
                                    </p:animEffect>
                                  </p:childTnLst>
                                </p:cTn>
                              </p:par>
                              <p:par>
                                <p:cTn id="52" presetID="10" presetClass="entr" presetSubtype="0" fill="hold" nodeType="withEffect">
                                  <p:stCondLst>
                                    <p:cond delay="0"/>
                                  </p:stCondLst>
                                  <p:childTnLst>
                                    <p:set>
                                      <p:cBhvr>
                                        <p:cTn id="53" dur="1" fill="hold">
                                          <p:stCondLst>
                                            <p:cond delay="0"/>
                                          </p:stCondLst>
                                        </p:cTn>
                                        <p:tgtEl>
                                          <p:spTgt spid="36"/>
                                        </p:tgtEl>
                                        <p:attrNameLst>
                                          <p:attrName>style.visibility</p:attrName>
                                        </p:attrNameLst>
                                      </p:cBhvr>
                                      <p:to>
                                        <p:strVal val="visible"/>
                                      </p:to>
                                    </p:set>
                                    <p:animEffect transition="in" filter="fade">
                                      <p:cBhvr>
                                        <p:cTn id="54" dur="450"/>
                                        <p:tgtEl>
                                          <p:spTgt spid="36"/>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7"/>
                                        </p:tgtEl>
                                        <p:attrNameLst>
                                          <p:attrName>style.visibility</p:attrName>
                                        </p:attrNameLst>
                                      </p:cBhvr>
                                      <p:to>
                                        <p:strVal val="visible"/>
                                      </p:to>
                                    </p:set>
                                    <p:animEffect transition="in" filter="fade">
                                      <p:cBhvr>
                                        <p:cTn id="59" dur="450"/>
                                        <p:tgtEl>
                                          <p:spTgt spid="37"/>
                                        </p:tgtEl>
                                      </p:cBhvr>
                                    </p:animEffect>
                                  </p:childTnLst>
                                </p:cTn>
                              </p:par>
                              <p:par>
                                <p:cTn id="60" presetID="10" presetClass="entr" presetSubtype="0" fill="hold" nodeType="with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fade">
                                      <p:cBhvr>
                                        <p:cTn id="62" dur="450"/>
                                        <p:tgtEl>
                                          <p:spTgt spid="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9"/>
                                        </p:tgtEl>
                                        <p:attrNameLst>
                                          <p:attrName>style.visibility</p:attrName>
                                        </p:attrNameLst>
                                      </p:cBhvr>
                                      <p:to>
                                        <p:strVal val="visible"/>
                                      </p:to>
                                    </p:set>
                                    <p:animEffect transition="in" filter="fade">
                                      <p:cBhvr>
                                        <p:cTn id="67" dur="450"/>
                                        <p:tgtEl>
                                          <p:spTgt spid="39"/>
                                        </p:tgtEl>
                                      </p:cBhvr>
                                    </p:animEffect>
                                  </p:childTnLst>
                                </p:cTn>
                              </p:par>
                              <p:par>
                                <p:cTn id="68" presetID="10" presetClass="entr" presetSubtype="0" fill="hold" nodeType="withEffect">
                                  <p:stCondLst>
                                    <p:cond delay="0"/>
                                  </p:stCondLst>
                                  <p:childTnLst>
                                    <p:set>
                                      <p:cBhvr>
                                        <p:cTn id="69" dur="1" fill="hold">
                                          <p:stCondLst>
                                            <p:cond delay="0"/>
                                          </p:stCondLst>
                                        </p:cTn>
                                        <p:tgtEl>
                                          <p:spTgt spid="40"/>
                                        </p:tgtEl>
                                        <p:attrNameLst>
                                          <p:attrName>style.visibility</p:attrName>
                                        </p:attrNameLst>
                                      </p:cBhvr>
                                      <p:to>
                                        <p:strVal val="visible"/>
                                      </p:to>
                                    </p:set>
                                    <p:animEffect transition="in" filter="fade">
                                      <p:cBhvr>
                                        <p:cTn id="70" dur="4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9" grpId="0" animBg="1"/>
      <p:bldP spid="4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kicker"/>
          <p:cNvSpPr txBox="1"/>
          <p:nvPr/>
        </p:nvSpPr>
        <p:spPr>
          <a:xfrm>
            <a:off x="502920" y="274320"/>
            <a:ext cx="7315200" cy="256032"/>
          </a:xfrm>
          <a:prstGeom prst="rect">
            <a:avLst/>
          </a:prstGeom>
          <a:noFill/>
          <a:ln/>
        </p:spPr>
        <p:txBody>
          <a:bodyPr wrap="square" lIns="0" tIns="0" rIns="0" bIns="0" rtlCol="0" anchor="t"/>
          <a:lstStyle/>
          <a:p>
            <a:pPr indent="0" marL="0">
              <a:buNone/>
            </a:pPr>
            <a:r>
              <a:rPr lang="en-US" sz="1100" b="1" spc="300" kern="0" dirty="0">
                <a:solidFill>
                  <a:srgbClr val="06B6D4"/>
                </a:solidFill>
                <a:latin typeface="Calibri" pitchFamily="34" charset="0"/>
                <a:ea typeface="Calibri" pitchFamily="34" charset="-122"/>
                <a:cs typeface="Calibri" pitchFamily="34" charset="-120"/>
              </a:rPr>
              <a:t>05 · COMPETITION</a:t>
            </a:r>
            <a:endParaRPr lang="en-US" sz="1100" dirty="0"/>
          </a:p>
        </p:txBody>
      </p:sp>
      <p:sp>
        <p:nvSpPr>
          <p:cNvPr id="3" name="!!title"/>
          <p:cNvSpPr txBox="1"/>
          <p:nvPr/>
        </p:nvSpPr>
        <p:spPr>
          <a:xfrm>
            <a:off x="502920" y="530352"/>
            <a:ext cx="10241280" cy="64008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Where we can compete — and what we still have to prove</a:t>
            </a:r>
            <a:endParaRPr lang="en-US" sz="2800" dirty="0"/>
          </a:p>
        </p:txBody>
      </p:sp>
      <p:pic>
        <p:nvPicPr>
          <p:cNvPr id="4" name="!!mark" descr="../public/brand/averra-mark-white.png">    </p:cNvPr>
          <p:cNvPicPr>
            <a:picLocks noChangeAspect="1"/>
          </p:cNvPicPr>
          <p:nvPr/>
        </p:nvPicPr>
        <p:blipFill>
          <a:blip r:embed="rId1"/>
          <a:stretch>
            <a:fillRect/>
          </a:stretch>
        </p:blipFill>
        <p:spPr>
          <a:xfrm>
            <a:off x="11201400" y="292608"/>
            <a:ext cx="502920" cy="502920"/>
          </a:xfrm>
          <a:prstGeom prst="rect">
            <a:avLst/>
          </a:prstGeom>
        </p:spPr>
      </p:pic>
      <p:sp>
        <p:nvSpPr>
          <p:cNvPr id="5" name="!!dot1"/>
          <p:cNvSpPr/>
          <p:nvPr/>
        </p:nvSpPr>
        <p:spPr>
          <a:xfrm>
            <a:off x="9692640" y="6510528"/>
            <a:ext cx="54864" cy="54864"/>
          </a:xfrm>
          <a:prstGeom prst="ellipse">
            <a:avLst/>
          </a:prstGeom>
          <a:solidFill>
            <a:srgbClr val="2B3A5C"/>
          </a:solidFill>
          <a:ln w="12700">
            <a:solidFill>
              <a:srgbClr val="2B3A5C"/>
            </a:solidFill>
            <a:prstDash val="solid"/>
          </a:ln>
        </p:spPr>
      </p:sp>
      <p:sp>
        <p:nvSpPr>
          <p:cNvPr id="6" name="!!dot2"/>
          <p:cNvSpPr/>
          <p:nvPr/>
        </p:nvSpPr>
        <p:spPr>
          <a:xfrm>
            <a:off x="9838944" y="6510528"/>
            <a:ext cx="54864" cy="54864"/>
          </a:xfrm>
          <a:prstGeom prst="ellipse">
            <a:avLst/>
          </a:prstGeom>
          <a:solidFill>
            <a:srgbClr val="2B3A5C"/>
          </a:solidFill>
          <a:ln w="12700">
            <a:solidFill>
              <a:srgbClr val="2B3A5C"/>
            </a:solidFill>
            <a:prstDash val="solid"/>
          </a:ln>
        </p:spPr>
      </p:sp>
      <p:sp>
        <p:nvSpPr>
          <p:cNvPr id="7" name="!!dot3"/>
          <p:cNvSpPr/>
          <p:nvPr/>
        </p:nvSpPr>
        <p:spPr>
          <a:xfrm>
            <a:off x="9985248" y="6510528"/>
            <a:ext cx="54864" cy="54864"/>
          </a:xfrm>
          <a:prstGeom prst="ellipse">
            <a:avLst/>
          </a:prstGeom>
          <a:solidFill>
            <a:srgbClr val="2B3A5C"/>
          </a:solidFill>
          <a:ln w="12700">
            <a:solidFill>
              <a:srgbClr val="2B3A5C"/>
            </a:solidFill>
            <a:prstDash val="solid"/>
          </a:ln>
        </p:spPr>
      </p:sp>
      <p:sp>
        <p:nvSpPr>
          <p:cNvPr id="8" name="!!dot4"/>
          <p:cNvSpPr/>
          <p:nvPr/>
        </p:nvSpPr>
        <p:spPr>
          <a:xfrm>
            <a:off x="10131552" y="6510528"/>
            <a:ext cx="54864" cy="54864"/>
          </a:xfrm>
          <a:prstGeom prst="ellipse">
            <a:avLst/>
          </a:prstGeom>
          <a:solidFill>
            <a:srgbClr val="2B3A5C"/>
          </a:solidFill>
          <a:ln w="12700">
            <a:solidFill>
              <a:srgbClr val="2B3A5C"/>
            </a:solidFill>
            <a:prstDash val="solid"/>
          </a:ln>
        </p:spPr>
      </p:sp>
      <p:sp>
        <p:nvSpPr>
          <p:cNvPr id="9" name="!!dot5"/>
          <p:cNvSpPr/>
          <p:nvPr/>
        </p:nvSpPr>
        <p:spPr>
          <a:xfrm>
            <a:off x="10277856" y="6510528"/>
            <a:ext cx="54864" cy="54864"/>
          </a:xfrm>
          <a:prstGeom prst="ellipse">
            <a:avLst/>
          </a:prstGeom>
          <a:solidFill>
            <a:srgbClr val="2B3A5C"/>
          </a:solidFill>
          <a:ln w="12700">
            <a:solidFill>
              <a:srgbClr val="2B3A5C"/>
            </a:solidFill>
            <a:prstDash val="solid"/>
          </a:ln>
        </p:spPr>
      </p:sp>
      <p:sp>
        <p:nvSpPr>
          <p:cNvPr id="10" name="!!dot6"/>
          <p:cNvSpPr/>
          <p:nvPr/>
        </p:nvSpPr>
        <p:spPr>
          <a:xfrm>
            <a:off x="10424160" y="6510528"/>
            <a:ext cx="100584" cy="100584"/>
          </a:xfrm>
          <a:prstGeom prst="ellipse">
            <a:avLst/>
          </a:prstGeom>
          <a:solidFill>
            <a:srgbClr val="06B6D4"/>
          </a:solidFill>
          <a:ln w="12700">
            <a:solidFill>
              <a:srgbClr val="06B6D4"/>
            </a:solidFill>
            <a:prstDash val="solid"/>
          </a:ln>
        </p:spPr>
      </p:sp>
      <p:sp>
        <p:nvSpPr>
          <p:cNvPr id="11" name="!!dot7"/>
          <p:cNvSpPr/>
          <p:nvPr/>
        </p:nvSpPr>
        <p:spPr>
          <a:xfrm>
            <a:off x="10570464" y="6510528"/>
            <a:ext cx="54864" cy="54864"/>
          </a:xfrm>
          <a:prstGeom prst="ellipse">
            <a:avLst/>
          </a:prstGeom>
          <a:solidFill>
            <a:srgbClr val="2B3A5C"/>
          </a:solidFill>
          <a:ln w="12700">
            <a:solidFill>
              <a:srgbClr val="2B3A5C"/>
            </a:solidFill>
            <a:prstDash val="solid"/>
          </a:ln>
        </p:spPr>
      </p:sp>
      <p:sp>
        <p:nvSpPr>
          <p:cNvPr id="12" name="!!dot8"/>
          <p:cNvSpPr/>
          <p:nvPr/>
        </p:nvSpPr>
        <p:spPr>
          <a:xfrm>
            <a:off x="10716768" y="6510528"/>
            <a:ext cx="54864" cy="54864"/>
          </a:xfrm>
          <a:prstGeom prst="ellipse">
            <a:avLst/>
          </a:prstGeom>
          <a:solidFill>
            <a:srgbClr val="2B3A5C"/>
          </a:solidFill>
          <a:ln w="12700">
            <a:solidFill>
              <a:srgbClr val="2B3A5C"/>
            </a:solidFill>
            <a:prstDash val="solid"/>
          </a:ln>
        </p:spPr>
      </p:sp>
      <p:sp>
        <p:nvSpPr>
          <p:cNvPr id="13" name="!!dot9"/>
          <p:cNvSpPr/>
          <p:nvPr/>
        </p:nvSpPr>
        <p:spPr>
          <a:xfrm>
            <a:off x="10863072" y="6510528"/>
            <a:ext cx="54864" cy="54864"/>
          </a:xfrm>
          <a:prstGeom prst="ellipse">
            <a:avLst/>
          </a:prstGeom>
          <a:solidFill>
            <a:srgbClr val="2B3A5C"/>
          </a:solidFill>
          <a:ln w="12700">
            <a:solidFill>
              <a:srgbClr val="2B3A5C"/>
            </a:solidFill>
            <a:prstDash val="solid"/>
          </a:ln>
        </p:spPr>
      </p:sp>
      <p:sp>
        <p:nvSpPr>
          <p:cNvPr id="14" name="!!dot10"/>
          <p:cNvSpPr/>
          <p:nvPr/>
        </p:nvSpPr>
        <p:spPr>
          <a:xfrm>
            <a:off x="11009376" y="6510528"/>
            <a:ext cx="54864" cy="54864"/>
          </a:xfrm>
          <a:prstGeom prst="ellipse">
            <a:avLst/>
          </a:prstGeom>
          <a:solidFill>
            <a:srgbClr val="2B3A5C"/>
          </a:solidFill>
          <a:ln w="12700">
            <a:solidFill>
              <a:srgbClr val="2B3A5C"/>
            </a:solidFill>
            <a:prstDash val="solid"/>
          </a:ln>
        </p:spPr>
      </p:sp>
      <p:sp>
        <p:nvSpPr>
          <p:cNvPr id="15" name="!!dot11"/>
          <p:cNvSpPr/>
          <p:nvPr/>
        </p:nvSpPr>
        <p:spPr>
          <a:xfrm>
            <a:off x="11155680" y="6510528"/>
            <a:ext cx="54864" cy="54864"/>
          </a:xfrm>
          <a:prstGeom prst="ellipse">
            <a:avLst/>
          </a:prstGeom>
          <a:solidFill>
            <a:srgbClr val="2B3A5C"/>
          </a:solidFill>
          <a:ln w="12700">
            <a:solidFill>
              <a:srgbClr val="2B3A5C"/>
            </a:solidFill>
            <a:prstDash val="solid"/>
          </a:ln>
        </p:spPr>
      </p:sp>
      <p:sp>
        <p:nvSpPr>
          <p:cNvPr id="16" name="!!dot12"/>
          <p:cNvSpPr/>
          <p:nvPr/>
        </p:nvSpPr>
        <p:spPr>
          <a:xfrm>
            <a:off x="11301984" y="6510528"/>
            <a:ext cx="54864" cy="54864"/>
          </a:xfrm>
          <a:prstGeom prst="ellipse">
            <a:avLst/>
          </a:prstGeom>
          <a:solidFill>
            <a:srgbClr val="2B3A5C"/>
          </a:solidFill>
          <a:ln w="12700">
            <a:solidFill>
              <a:srgbClr val="2B3A5C"/>
            </a:solidFill>
            <a:prstDash val="solid"/>
          </a:ln>
        </p:spPr>
      </p:sp>
      <p:sp>
        <p:nvSpPr>
          <p:cNvPr id="17" name="!!dot13"/>
          <p:cNvSpPr/>
          <p:nvPr/>
        </p:nvSpPr>
        <p:spPr>
          <a:xfrm>
            <a:off x="11448288" y="6510528"/>
            <a:ext cx="54864" cy="54864"/>
          </a:xfrm>
          <a:prstGeom prst="ellipse">
            <a:avLst/>
          </a:prstGeom>
          <a:solidFill>
            <a:srgbClr val="2B3A5C"/>
          </a:solidFill>
          <a:ln w="12700">
            <a:solidFill>
              <a:srgbClr val="2B3A5C"/>
            </a:solidFill>
            <a:prstDash val="solid"/>
          </a:ln>
        </p:spPr>
      </p:sp>
      <p:sp>
        <p:nvSpPr>
          <p:cNvPr id="18" name="!!dot14"/>
          <p:cNvSpPr/>
          <p:nvPr/>
        </p:nvSpPr>
        <p:spPr>
          <a:xfrm>
            <a:off x="11594592" y="6510528"/>
            <a:ext cx="54864" cy="54864"/>
          </a:xfrm>
          <a:prstGeom prst="ellipse">
            <a:avLst/>
          </a:prstGeom>
          <a:solidFill>
            <a:srgbClr val="2B3A5C"/>
          </a:solidFill>
          <a:ln w="12700">
            <a:solidFill>
              <a:srgbClr val="2B3A5C"/>
            </a:solidFill>
            <a:prstDash val="solid"/>
          </a:ln>
        </p:spPr>
      </p:sp>
      <p:sp>
        <p:nvSpPr>
          <p:cNvPr id="19" name="!!brand"/>
          <p:cNvSpPr txBox="1"/>
          <p:nvPr/>
        </p:nvSpPr>
        <p:spPr>
          <a:xfrm>
            <a:off x="502920" y="6446520"/>
            <a:ext cx="1828800" cy="201168"/>
          </a:xfrm>
          <a:prstGeom prst="rect">
            <a:avLst/>
          </a:prstGeom>
          <a:noFill/>
          <a:ln/>
        </p:spPr>
        <p:txBody>
          <a:bodyPr wrap="square" lIns="0" tIns="0" rIns="0" bIns="0" rtlCol="0" anchor="t"/>
          <a:lstStyle/>
          <a:p>
            <a:pPr indent="0" marL="0">
              <a:buNone/>
            </a:pPr>
            <a:r>
              <a:rPr lang="en-US" sz="900" b="1" spc="500" kern="0" dirty="0">
                <a:solidFill>
                  <a:srgbClr val="94A3B8"/>
                </a:solidFill>
                <a:latin typeface="Calibri" pitchFamily="34" charset="0"/>
                <a:ea typeface="Calibri" pitchFamily="34" charset="-122"/>
                <a:cs typeface="Calibri" pitchFamily="34" charset="-120"/>
              </a:rPr>
              <a:t>AVERRA</a:t>
            </a:r>
            <a:endParaRPr lang="en-US" sz="900" dirty="0"/>
          </a:p>
        </p:txBody>
      </p:sp>
      <p:pic>
        <p:nvPicPr>
          <p:cNvPr id="21" name="!!ps_photo" descr="../public/images/parkinsense-wrist.jpg">    </p:cNvPr>
          <p:cNvPicPr>
            <a:picLocks noChangeAspect="1"/>
          </p:cNvPicPr>
          <p:nvPr/>
        </p:nvPicPr>
        <p:blipFill>
          <a:blip r:embed="rId2"/>
          <a:stretch>
            <a:fillRect/>
          </a:stretch>
        </p:blipFill>
        <p:spPr>
          <a:xfrm>
            <a:off x="502920" y="1325880"/>
            <a:ext cx="274320" cy="299832"/>
          </a:xfrm>
          <a:prstGeom prst="rect">
            <a:avLst/>
          </a:prstGeom>
        </p:spPr>
      </p:pic>
      <p:pic>
        <p:nvPicPr>
          <p:cNvPr id="22" name="!!ts_photo" descr="../public/images/tremosense-rig.jpg">    </p:cNvPr>
          <p:cNvPicPr>
            <a:picLocks noChangeAspect="1"/>
          </p:cNvPicPr>
          <p:nvPr/>
        </p:nvPicPr>
        <p:blipFill>
          <a:blip r:embed="rId3"/>
          <a:stretch>
            <a:fillRect/>
          </a:stretch>
        </p:blipFill>
        <p:spPr>
          <a:xfrm>
            <a:off x="6217920" y="1325880"/>
            <a:ext cx="228600" cy="304724"/>
          </a:xfrm>
          <a:prstGeom prst="rect">
            <a:avLst/>
          </a:prstGeom>
        </p:spPr>
      </p:pic>
      <p:sp>
        <p:nvSpPr>
          <p:cNvPr id="23" name="Text 17"/>
          <p:cNvSpPr txBox="1"/>
          <p:nvPr/>
        </p:nvSpPr>
        <p:spPr>
          <a:xfrm>
            <a:off x="868680" y="1344168"/>
            <a:ext cx="4572000" cy="274320"/>
          </a:xfrm>
          <a:prstGeom prst="rect">
            <a:avLst/>
          </a:prstGeom>
          <a:noFill/>
          <a:ln/>
        </p:spPr>
        <p:txBody>
          <a:bodyPr wrap="square" lIns="0" tIns="0" rIns="0" bIns="0" rtlCol="0" anchor="t"/>
          <a:lstStyle/>
          <a:p>
            <a:pPr indent="0" marL="0">
              <a:buNone/>
            </a:pPr>
            <a:r>
              <a:rPr lang="en-US" sz="1300" b="1" dirty="0">
                <a:solidFill>
                  <a:srgbClr val="06B6D4"/>
                </a:solidFill>
                <a:latin typeface="Calibri" pitchFamily="34" charset="0"/>
                <a:ea typeface="Calibri" pitchFamily="34" charset="-122"/>
                <a:cs typeface="Calibri" pitchFamily="34" charset="-120"/>
              </a:rPr>
              <a:t>ParkinSense vs wellness wearables</a:t>
            </a:r>
            <a:endParaRPr lang="en-US" sz="1300" dirty="0"/>
          </a:p>
        </p:txBody>
      </p:sp>
      <p:sp>
        <p:nvSpPr>
          <p:cNvPr id="24" name="Text 18"/>
          <p:cNvSpPr txBox="1"/>
          <p:nvPr/>
        </p:nvSpPr>
        <p:spPr>
          <a:xfrm>
            <a:off x="6537960" y="1344168"/>
            <a:ext cx="4572000" cy="274320"/>
          </a:xfrm>
          <a:prstGeom prst="rect">
            <a:avLst/>
          </a:prstGeom>
          <a:noFill/>
          <a:ln/>
        </p:spPr>
        <p:txBody>
          <a:bodyPr wrap="square" lIns="0" tIns="0" rIns="0" bIns="0" rtlCol="0" anchor="t"/>
          <a:lstStyle/>
          <a:p>
            <a:pPr indent="0" marL="0">
              <a:buNone/>
            </a:pPr>
            <a:r>
              <a:rPr lang="en-US" sz="1300" b="1" dirty="0">
                <a:solidFill>
                  <a:srgbClr val="8B5CF6"/>
                </a:solidFill>
                <a:latin typeface="Calibri" pitchFamily="34" charset="0"/>
                <a:ea typeface="Calibri" pitchFamily="34" charset="-122"/>
                <a:cs typeface="Calibri" pitchFamily="34" charset="-120"/>
              </a:rPr>
              <a:t>TremoSense vs tremor aids</a:t>
            </a:r>
            <a:endParaRPr lang="en-US" sz="1300" dirty="0"/>
          </a:p>
        </p:txBody>
      </p:sp>
      <p:graphicFrame>
        <p:nvGraphicFramePr>
          <p:cNvPr id="7" name="comp_ps"/>
          <p:cNvGraphicFramePr>
            <a:graphicFrameLocks noGrp="1"/>
          </p:cNvGraphicFramePr>
          <p:nvPr>
            <p:extLst>
              <p:ext uri="{D42A27DB-BD31-4B8C-83A1-F6EECF244321}">
                <p14:modId xmlns:p14="http://schemas.microsoft.com/office/powerpoint/2010/main" val="1579011935"/>
              </p:ext>
            </p:extLst>
          </p:nvPr>
        </p:nvGraphicFramePr>
        <p:xfrm>
          <a:off x="502920" y="1691640"/>
          <a:ext cx="5486400" cy="914400"/>
        </p:xfrm>
        <a:graphic>
          <a:graphicData uri="http://schemas.openxmlformats.org/drawingml/2006/table">
            <a:tbl>
              <a:tblPr/>
              <a:tblGrid>
                <a:gridCol w="868680"/>
                <a:gridCol w="1066800"/>
                <a:gridCol w="1066800"/>
                <a:gridCol w="1066800"/>
                <a:gridCol w="1417320"/>
              </a:tblGrid>
              <a:tr h="457200">
                <a:tc>
                  <a:txBody>
                    <a:bodyPr/>
                    <a:lstStyle/>
                    <a:p>
                      <a:pPr indent="0" marL="0">
                        <a:buNone/>
                      </a:pP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1B2847"/>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WHOOP One</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1B2847"/>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Amazfit Bip 6</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1B2847"/>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Fitbit Charge 6</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1B2847"/>
                    </a:solidFill>
                  </a:tcPr>
                </a:tc>
                <a:tc>
                  <a:txBody>
                    <a:bodyPr/>
                    <a:lstStyle/>
                    <a:p>
                      <a:pPr indent="0" marL="0">
                        <a:buNone/>
                      </a:pPr>
                      <a:r>
                        <a:rPr lang="en-US" sz="900" b="1" dirty="0">
                          <a:solidFill>
                            <a:srgbClr val="06B6D4"/>
                          </a:solidFill>
                          <a:latin typeface="Calibri" pitchFamily="34" charset="0"/>
                          <a:ea typeface="Calibri" pitchFamily="34" charset="-122"/>
                          <a:cs typeface="Calibri" pitchFamily="34" charset="-120"/>
                        </a:rPr>
                        <a:t>ParkinSense</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E3A4A"/>
                    </a:solidFill>
                  </a:tcPr>
                </a:tc>
              </a:tr>
              <a:tr h="457200">
                <a:tc>
                  <a:txBody>
                    <a:bodyPr/>
                    <a:lstStyle/>
                    <a:p>
                      <a:pPr indent="0" marL="0">
                        <a:buNone/>
                      </a:pPr>
                      <a:r>
                        <a:rPr lang="en-US" sz="900" b="1" dirty="0">
                          <a:solidFill>
                            <a:srgbClr val="94A3B8"/>
                          </a:solidFill>
                          <a:latin typeface="Calibri" pitchFamily="34" charset="0"/>
                          <a:ea typeface="Calibri" pitchFamily="34" charset="-122"/>
                          <a:cs typeface="Calibri" pitchFamily="34" charset="-120"/>
                        </a:rPr>
                        <a:t>Price (India)</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₹17,990/yr membership</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₹8,999</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₹12,999</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₹7,999 + ₹199/mo (hypothesis)</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B2A36"/>
                    </a:solidFill>
                  </a:tcPr>
                </a:tc>
              </a:tr>
              <a:tr h="457200">
                <a:tc>
                  <a:txBody>
                    <a:bodyPr/>
                    <a:lstStyle/>
                    <a:p>
                      <a:pPr indent="0" marL="0">
                        <a:buNone/>
                      </a:pPr>
                      <a:r>
                        <a:rPr lang="en-US" sz="900" b="1" dirty="0">
                          <a:solidFill>
                            <a:srgbClr val="94A3B8"/>
                          </a:solidFill>
                          <a:latin typeface="Calibri" pitchFamily="34" charset="0"/>
                          <a:ea typeface="Calibri" pitchFamily="34" charset="-122"/>
                          <a:cs typeface="Calibri" pitchFamily="34" charset="-120"/>
                        </a:rPr>
                        <a:t>Wellness</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Recovery, sleep, strain, VO₂ max</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HR, sleep, GPS</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HR, SpO₂, sleep, GPS</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Steps, HR, HRV, SpO₂ (research-grade); sleep planned</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B2A36"/>
                    </a:solidFill>
                  </a:tcPr>
                </a:tc>
              </a:tr>
              <a:tr h="457200">
                <a:tc>
                  <a:txBody>
                    <a:bodyPr/>
                    <a:lstStyle/>
                    <a:p>
                      <a:pPr indent="0" marL="0">
                        <a:buNone/>
                      </a:pPr>
                      <a:r>
                        <a:rPr lang="en-US" sz="900" b="1" dirty="0">
                          <a:solidFill>
                            <a:srgbClr val="94A3B8"/>
                          </a:solidFill>
                          <a:latin typeface="Calibri" pitchFamily="34" charset="0"/>
                          <a:ea typeface="Calibri" pitchFamily="34" charset="-122"/>
                          <a:cs typeface="Calibri" pitchFamily="34" charset="-120"/>
                        </a:rPr>
                        <a:t>Movement insight</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Not documented</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Not documented</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Not documented</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Tremor score, burden, motion context (bench-tested)</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B2A36"/>
                    </a:solidFill>
                  </a:tcPr>
                </a:tc>
              </a:tr>
              <a:tr h="457200">
                <a:tc>
                  <a:txBody>
                    <a:bodyPr/>
                    <a:lstStyle/>
                    <a:p>
                      <a:pPr indent="0" marL="0">
                        <a:buNone/>
                      </a:pPr>
                      <a:r>
                        <a:rPr lang="en-US" sz="900" b="1" dirty="0">
                          <a:solidFill>
                            <a:srgbClr val="94A3B8"/>
                          </a:solidFill>
                          <a:latin typeface="Calibri" pitchFamily="34" charset="0"/>
                          <a:ea typeface="Calibri" pitchFamily="34" charset="-122"/>
                          <a:cs typeface="Calibri" pitchFamily="34" charset="-120"/>
                        </a:rPr>
                        <a:t>Battery</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14+ days</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Up to 14 days</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≈7 days</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≈100 h (estimate)</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B2A36"/>
                    </a:solidFill>
                  </a:tcPr>
                </a:tc>
              </a:tr>
              <a:tr h="457200">
                <a:tc>
                  <a:txBody>
                    <a:bodyPr/>
                    <a:lstStyle/>
                    <a:p>
                      <a:pPr indent="0" marL="0">
                        <a:buNone/>
                      </a:pPr>
                      <a:r>
                        <a:rPr lang="en-US" sz="900" b="1" dirty="0">
                          <a:solidFill>
                            <a:srgbClr val="94A3B8"/>
                          </a:solidFill>
                          <a:latin typeface="Calibri" pitchFamily="34" charset="0"/>
                          <a:ea typeface="Calibri" pitchFamily="34" charset="-122"/>
                          <a:cs typeface="Calibri" pitchFamily="34" charset="-120"/>
                        </a:rPr>
                        <a:t>Evidence</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Commercial product</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Commercial product</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Commercial product</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Bench tests only</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B2A36"/>
                    </a:solidFill>
                  </a:tcPr>
                </a:tc>
              </a:tr>
            </a:tbl>
          </a:graphicData>
        </a:graphic>
      </p:graphicFrame>
      <p:graphicFrame>
        <p:nvGraphicFramePr>
          <p:cNvPr id="13" name="comp_ts"/>
          <p:cNvGraphicFramePr>
            <a:graphicFrameLocks noGrp="1"/>
          </p:cNvGraphicFramePr>
          <p:nvPr>
            <p:extLst>
              <p:ext uri="{D42A27DB-BD31-4B8C-83A1-F6EECF244321}">
                <p14:modId xmlns:p14="http://schemas.microsoft.com/office/powerpoint/2010/main" val="1579011935"/>
              </p:ext>
            </p:extLst>
          </p:nvPr>
        </p:nvGraphicFramePr>
        <p:xfrm>
          <a:off x="6217920" y="1691640"/>
          <a:ext cx="5486400" cy="914400"/>
        </p:xfrm>
        <a:graphic>
          <a:graphicData uri="http://schemas.openxmlformats.org/drawingml/2006/table">
            <a:tbl>
              <a:tblPr/>
              <a:tblGrid>
                <a:gridCol w="868680"/>
                <a:gridCol w="1066800"/>
                <a:gridCol w="1066800"/>
                <a:gridCol w="1066800"/>
                <a:gridCol w="1417320"/>
              </a:tblGrid>
              <a:tr h="457200">
                <a:tc>
                  <a:txBody>
                    <a:bodyPr/>
                    <a:lstStyle/>
                    <a:p>
                      <a:pPr indent="0" marL="0">
                        <a:buNone/>
                      </a:pP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1B2847"/>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GyroGlove</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1B2847"/>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Liftware</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1B2847"/>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Weighted spoon</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1B2847"/>
                    </a:solidFill>
                  </a:tcPr>
                </a:tc>
                <a:tc>
                  <a:txBody>
                    <a:bodyPr/>
                    <a:lstStyle/>
                    <a:p>
                      <a:pPr indent="0" marL="0">
                        <a:buNone/>
                      </a:pPr>
                      <a:r>
                        <a:rPr lang="en-US" sz="900" b="1" dirty="0">
                          <a:solidFill>
                            <a:srgbClr val="8B5CF6"/>
                          </a:solidFill>
                          <a:latin typeface="Calibri" pitchFamily="34" charset="0"/>
                          <a:ea typeface="Calibri" pitchFamily="34" charset="-122"/>
                          <a:cs typeface="Calibri" pitchFamily="34" charset="-120"/>
                        </a:rPr>
                        <a:t>TremoSense</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2A2350"/>
                    </a:solidFill>
                  </a:tcPr>
                </a:tc>
              </a:tr>
              <a:tr h="457200">
                <a:tc>
                  <a:txBody>
                    <a:bodyPr/>
                    <a:lstStyle/>
                    <a:p>
                      <a:pPr indent="0" marL="0">
                        <a:buNone/>
                      </a:pPr>
                      <a:r>
                        <a:rPr lang="en-US" sz="900" b="1" dirty="0">
                          <a:solidFill>
                            <a:srgbClr val="94A3B8"/>
                          </a:solidFill>
                          <a:latin typeface="Calibri" pitchFamily="34" charset="0"/>
                          <a:ea typeface="Calibri" pitchFamily="34" charset="-122"/>
                          <a:cs typeface="Calibri" pitchFamily="34" charset="-120"/>
                        </a:rPr>
                        <a:t>Price</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US$5,899 per glove (≈₹5.6 L)</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US$195 (2015 price, dated)</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≈₹5,358 (US retail)</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₹9,999 launch hypothesis</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1E1A3A"/>
                    </a:solidFill>
                  </a:tcPr>
                </a:tc>
              </a:tr>
              <a:tr h="457200">
                <a:tc>
                  <a:txBody>
                    <a:bodyPr/>
                    <a:lstStyle/>
                    <a:p>
                      <a:pPr indent="0" marL="0">
                        <a:buNone/>
                      </a:pPr>
                      <a:r>
                        <a:rPr lang="en-US" sz="900" b="1" dirty="0">
                          <a:solidFill>
                            <a:srgbClr val="94A3B8"/>
                          </a:solidFill>
                          <a:latin typeface="Calibri" pitchFamily="34" charset="0"/>
                          <a:ea typeface="Calibri" pitchFamily="34" charset="-122"/>
                          <a:cs typeface="Calibri" pitchFamily="34" charset="-120"/>
                        </a:rPr>
                        <a:t>What it does</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Gyroscopic stabiliser for the whole hand</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Motorised handle cancels tremor at the utensil</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Added mass damps motion</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Two-axis servo gimbal cancels tremor at the spoon</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1E1A3A"/>
                    </a:solidFill>
                  </a:tcPr>
                </a:tc>
              </a:tr>
              <a:tr h="457200">
                <a:tc>
                  <a:txBody>
                    <a:bodyPr/>
                    <a:lstStyle/>
                    <a:p>
                      <a:pPr indent="0" marL="0">
                        <a:buNone/>
                      </a:pPr>
                      <a:r>
                        <a:rPr lang="en-US" sz="900" b="1" dirty="0">
                          <a:solidFill>
                            <a:srgbClr val="94A3B8"/>
                          </a:solidFill>
                          <a:latin typeface="Calibri" pitchFamily="34" charset="0"/>
                          <a:ea typeface="Calibri" pitchFamily="34" charset="-122"/>
                          <a:cs typeface="Calibri" pitchFamily="34" charset="-120"/>
                        </a:rPr>
                        <a:t>Mechanism</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Gyroscope (passive-active)</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Sensors + motors</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Passive</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IMU → EKF → LQR → 2 servos</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1E1A3A"/>
                    </a:solidFill>
                  </a:tcPr>
                </a:tc>
              </a:tr>
              <a:tr h="457200">
                <a:tc>
                  <a:txBody>
                    <a:bodyPr/>
                    <a:lstStyle/>
                    <a:p>
                      <a:pPr indent="0" marL="0">
                        <a:buNone/>
                      </a:pPr>
                      <a:r>
                        <a:rPr lang="en-US" sz="900" b="1" dirty="0">
                          <a:solidFill>
                            <a:srgbClr val="94A3B8"/>
                          </a:solidFill>
                          <a:latin typeface="Calibri" pitchFamily="34" charset="0"/>
                          <a:ea typeface="Calibri" pitchFamily="34" charset="-122"/>
                          <a:cs typeface="Calibri" pitchFamily="34" charset="-120"/>
                        </a:rPr>
                        <a:t>Evidence</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No study cited on listing</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Maker cites study: 70% less shaking</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dirty="0">
                          <a:solidFill>
                            <a:srgbClr val="CBD5E1"/>
                          </a:solidFill>
                          <a:latin typeface="Calibri" pitchFamily="34" charset="0"/>
                          <a:ea typeface="Calibri" pitchFamily="34" charset="-122"/>
                          <a:cs typeface="Calibri" pitchFamily="34" charset="-120"/>
                        </a:rPr>
                        <a:t>Varies</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77.3% on a bench simulator; no users yet</a:t>
                      </a:r>
                      <a:endParaRPr lang="en-US" sz="9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1E1A3A"/>
                    </a:solidFill>
                  </a:tcPr>
                </a:tc>
              </a:tr>
            </a:tbl>
          </a:graphicData>
        </a:graphic>
      </p:graphicFrame>
      <p:sp>
        <p:nvSpPr>
          <p:cNvPr id="27" name="pos0"/>
          <p:cNvSpPr/>
          <p:nvPr/>
        </p:nvSpPr>
        <p:spPr>
          <a:xfrm>
            <a:off x="502920" y="4526280"/>
            <a:ext cx="5486400" cy="1572768"/>
          </a:xfrm>
          <a:prstGeom prst="roundRect">
            <a:avLst>
              <a:gd name="adj" fmla="val 4070"/>
            </a:avLst>
          </a:prstGeom>
          <a:solidFill>
            <a:srgbClr val="16213A"/>
          </a:solidFill>
          <a:ln w="9525">
            <a:solidFill>
              <a:srgbClr val="2B3A5C"/>
            </a:solidFill>
            <a:prstDash val="solid"/>
          </a:ln>
        </p:spPr>
      </p:sp>
      <p:sp>
        <p:nvSpPr>
          <p:cNvPr id="28" name="pos_t0"/>
          <p:cNvSpPr txBox="1"/>
          <p:nvPr/>
        </p:nvSpPr>
        <p:spPr>
          <a:xfrm>
            <a:off x="640080" y="4599432"/>
            <a:ext cx="5212080" cy="1463040"/>
          </a:xfrm>
          <a:prstGeom prst="rect">
            <a:avLst/>
          </a:prstGeom>
          <a:noFill/>
          <a:ln/>
        </p:spPr>
        <p:txBody>
          <a:bodyPr wrap="square" lIns="0" tIns="0" rIns="0" bIns="0" rtlCol="0" anchor="t"/>
          <a:lstStyle/>
          <a:p>
            <a:pPr indent="0" marL="0">
              <a:spcAft>
                <a:spcPts val="200"/>
              </a:spcAft>
              <a:buNone/>
            </a:pPr>
            <a:r>
              <a:rPr lang="en-US" sz="1000" b="1" dirty="0">
                <a:solidFill>
                  <a:srgbClr val="06B6D4"/>
                </a:solidFill>
                <a:latin typeface="Calibri" pitchFamily="34" charset="0"/>
                <a:ea typeface="Calibri" pitchFamily="34" charset="-122"/>
                <a:cs typeface="Calibri" pitchFamily="34" charset="-120"/>
              </a:rPr>
              <a:t>They do well: </a:t>
            </a:r>
            <a:pPr indent="0" marL="0">
              <a:spcAft>
                <a:spcPts val="200"/>
              </a:spcAft>
              <a:buNone/>
            </a:pPr>
            <a:r>
              <a:rPr lang="en-US" sz="1000" dirty="0">
                <a:solidFill>
                  <a:srgbClr val="CBD5E1"/>
                </a:solidFill>
                <a:latin typeface="Calibri" pitchFamily="34" charset="0"/>
                <a:ea typeface="Calibri" pitchFamily="34" charset="-122"/>
                <a:cs typeface="Calibri" pitchFamily="34" charset="-120"/>
              </a:rPr>
              <a:t>Polished hardware, multi-day battery, sleep and recovery, large app ecosystems.</a:t>
            </a:r>
            <a:endParaRPr lang="en-US" sz="1000" dirty="0"/>
          </a:p>
          <a:p>
            <a:pPr indent="0" marL="0">
              <a:spcAft>
                <a:spcPts val="200"/>
              </a:spcAft>
              <a:buNone/>
            </a:pPr>
            <a:r>
              <a:rPr lang="en-US" sz="1000" b="1" dirty="0">
                <a:solidFill>
                  <a:srgbClr val="06B6D4"/>
                </a:solidFill>
                <a:latin typeface="Calibri" pitchFamily="34" charset="0"/>
                <a:ea typeface="Calibri" pitchFamily="34" charset="-122"/>
                <a:cs typeface="Calibri" pitchFamily="34" charset="-120"/>
              </a:rPr>
              <a:t>We are building: </a:t>
            </a:r>
            <a:pPr indent="0" marL="0">
              <a:spcAft>
                <a:spcPts val="200"/>
              </a:spcAft>
              <a:buNone/>
            </a:pPr>
            <a:r>
              <a:rPr lang="en-US" sz="1000" dirty="0">
                <a:solidFill>
                  <a:srgbClr val="CBD5E1"/>
                </a:solidFill>
                <a:latin typeface="Calibri" pitchFamily="34" charset="0"/>
                <a:ea typeface="Calibri" pitchFamily="34" charset="-122"/>
                <a:cs typeface="Calibri" pitchFamily="34" charset="-120"/>
              </a:rPr>
              <a:t>Movement-specific insight (tremor burden, motion context) on a wellness wearable.</a:t>
            </a:r>
            <a:endParaRPr lang="en-US" sz="1000" dirty="0"/>
          </a:p>
          <a:p>
            <a:pPr indent="0" marL="0">
              <a:spcAft>
                <a:spcPts val="200"/>
              </a:spcAft>
              <a:buNone/>
            </a:pPr>
            <a:r>
              <a:rPr lang="en-US" sz="1000" b="1" dirty="0">
                <a:solidFill>
                  <a:srgbClr val="06B6D4"/>
                </a:solidFill>
                <a:latin typeface="Calibri" pitchFamily="34" charset="0"/>
                <a:ea typeface="Calibri" pitchFamily="34" charset="-122"/>
                <a:cs typeface="Calibri" pitchFamily="34" charset="-120"/>
              </a:rPr>
              <a:t>Accessible value: </a:t>
            </a:r>
            <a:pPr indent="0" marL="0">
              <a:spcAft>
                <a:spcPts val="200"/>
              </a:spcAft>
              <a:buNone/>
            </a:pPr>
            <a:r>
              <a:rPr lang="en-US" sz="1000" dirty="0">
                <a:solidFill>
                  <a:srgbClr val="CBD5E1"/>
                </a:solidFill>
                <a:latin typeface="Calibri" pitchFamily="34" charset="0"/>
                <a:ea typeface="Calibri" pitchFamily="34" charset="-122"/>
                <a:cs typeface="Calibri" pitchFamily="34" charset="-120"/>
              </a:rPr>
              <a:t>A price hypothesis of ₹7,999 — below WHOOP, Fitbit Charge 6 and the Amazfit Bip 6 (₹8,999), with no mandatory subscription.</a:t>
            </a:r>
            <a:endParaRPr lang="en-US" sz="1000" dirty="0"/>
          </a:p>
          <a:p>
            <a:pPr indent="0" marL="0">
              <a:spcAft>
                <a:spcPts val="200"/>
              </a:spcAft>
              <a:buNone/>
            </a:pPr>
            <a:r>
              <a:rPr lang="en-US" sz="1000" b="1" dirty="0">
                <a:solidFill>
                  <a:srgbClr val="06B6D4"/>
                </a:solidFill>
                <a:latin typeface="Calibri" pitchFamily="34" charset="0"/>
                <a:ea typeface="Calibri" pitchFamily="34" charset="-122"/>
                <a:cs typeface="Calibri" pitchFamily="34" charset="-120"/>
              </a:rPr>
              <a:t>Still to prove: </a:t>
            </a:r>
            <a:pPr indent="0" marL="0">
              <a:spcAft>
                <a:spcPts val="200"/>
              </a:spcAft>
              <a:buNone/>
            </a:pPr>
            <a:r>
              <a:rPr lang="en-US" sz="1000" dirty="0">
                <a:solidFill>
                  <a:srgbClr val="CBD5E1"/>
                </a:solidFill>
                <a:latin typeface="Calibri" pitchFamily="34" charset="0"/>
                <a:ea typeface="Calibri" pitchFamily="34" charset="-122"/>
                <a:cs typeface="Calibri" pitchFamily="34" charset="-120"/>
              </a:rPr>
              <a:t>Accuracy against reference devices (ICMR evaluation results pending), battery life, sleep features, and that people value movement insight.</a:t>
            </a:r>
            <a:endParaRPr lang="en-US" sz="1000" dirty="0"/>
          </a:p>
        </p:txBody>
      </p:sp>
      <p:sp>
        <p:nvSpPr>
          <p:cNvPr id="29" name="pos1"/>
          <p:cNvSpPr/>
          <p:nvPr/>
        </p:nvSpPr>
        <p:spPr>
          <a:xfrm>
            <a:off x="6217920" y="4526280"/>
            <a:ext cx="5486400" cy="1572768"/>
          </a:xfrm>
          <a:prstGeom prst="roundRect">
            <a:avLst>
              <a:gd name="adj" fmla="val 4070"/>
            </a:avLst>
          </a:prstGeom>
          <a:solidFill>
            <a:srgbClr val="16213A"/>
          </a:solidFill>
          <a:ln w="9525">
            <a:solidFill>
              <a:srgbClr val="2B3A5C"/>
            </a:solidFill>
            <a:prstDash val="solid"/>
          </a:ln>
        </p:spPr>
      </p:sp>
      <p:sp>
        <p:nvSpPr>
          <p:cNvPr id="30" name="pos_t1"/>
          <p:cNvSpPr txBox="1"/>
          <p:nvPr/>
        </p:nvSpPr>
        <p:spPr>
          <a:xfrm>
            <a:off x="6355080" y="4599432"/>
            <a:ext cx="5212080" cy="1463040"/>
          </a:xfrm>
          <a:prstGeom prst="rect">
            <a:avLst/>
          </a:prstGeom>
          <a:noFill/>
          <a:ln/>
        </p:spPr>
        <p:txBody>
          <a:bodyPr wrap="square" lIns="0" tIns="0" rIns="0" bIns="0" rtlCol="0" anchor="t"/>
          <a:lstStyle/>
          <a:p>
            <a:pPr indent="0" marL="0">
              <a:spcAft>
                <a:spcPts val="200"/>
              </a:spcAft>
              <a:buNone/>
            </a:pPr>
            <a:r>
              <a:rPr lang="en-US" sz="1000" b="1" dirty="0">
                <a:solidFill>
                  <a:srgbClr val="8B5CF6"/>
                </a:solidFill>
                <a:latin typeface="Calibri" pitchFamily="34" charset="0"/>
                <a:ea typeface="Calibri" pitchFamily="34" charset="-122"/>
                <a:cs typeface="Calibri" pitchFamily="34" charset="-120"/>
              </a:rPr>
              <a:t>The problem: </a:t>
            </a:r>
            <a:pPr indent="0" marL="0">
              <a:spcAft>
                <a:spcPts val="200"/>
              </a:spcAft>
              <a:buNone/>
            </a:pPr>
            <a:r>
              <a:rPr lang="en-US" sz="1000" dirty="0">
                <a:solidFill>
                  <a:srgbClr val="CBD5E1"/>
                </a:solidFill>
                <a:latin typeface="Calibri" pitchFamily="34" charset="0"/>
                <a:ea typeface="Calibri" pitchFamily="34" charset="-122"/>
                <a:cs typeface="Calibri" pitchFamily="34" charset="-120"/>
              </a:rPr>
              <a:t>Active tremor aids are imported and priced for other markets: one GyroGlove ≈ ₹5.6 L.</a:t>
            </a:r>
            <a:endParaRPr lang="en-US" sz="1000" dirty="0"/>
          </a:p>
          <a:p>
            <a:pPr indent="0" marL="0">
              <a:spcAft>
                <a:spcPts val="200"/>
              </a:spcAft>
              <a:buNone/>
            </a:pPr>
            <a:r>
              <a:rPr lang="en-US" sz="1000" b="1" dirty="0">
                <a:solidFill>
                  <a:srgbClr val="8B5CF6"/>
                </a:solidFill>
                <a:latin typeface="Calibri" pitchFamily="34" charset="0"/>
                <a:ea typeface="Calibri" pitchFamily="34" charset="-122"/>
                <a:cs typeface="Calibri" pitchFamily="34" charset="-120"/>
              </a:rPr>
              <a:t>Our opportunity: </a:t>
            </a:r>
            <a:pPr indent="0" marL="0">
              <a:spcAft>
                <a:spcPts val="200"/>
              </a:spcAft>
              <a:buNone/>
            </a:pPr>
            <a:r>
              <a:rPr lang="en-US" sz="1000" dirty="0">
                <a:solidFill>
                  <a:srgbClr val="CBD5E1"/>
                </a:solidFill>
                <a:latin typeface="Calibri" pitchFamily="34" charset="0"/>
                <a:ea typeface="Calibri" pitchFamily="34" charset="-122"/>
                <a:cs typeface="Calibri" pitchFamily="34" charset="-120"/>
              </a:rPr>
              <a:t>An Indian-built active spoon at a ₹9,999 hypothesis, serviced locally through clinics.</a:t>
            </a:r>
            <a:endParaRPr lang="en-US" sz="1000" dirty="0"/>
          </a:p>
          <a:p>
            <a:pPr indent="0" marL="0">
              <a:spcAft>
                <a:spcPts val="200"/>
              </a:spcAft>
              <a:buNone/>
            </a:pPr>
            <a:r>
              <a:rPr lang="en-US" sz="1000" b="1" dirty="0">
                <a:solidFill>
                  <a:srgbClr val="8B5CF6"/>
                </a:solidFill>
                <a:latin typeface="Calibri" pitchFamily="34" charset="0"/>
                <a:ea typeface="Calibri" pitchFamily="34" charset="-122"/>
                <a:cs typeface="Calibri" pitchFamily="34" charset="-120"/>
              </a:rPr>
              <a:t>What it does today: </a:t>
            </a:r>
            <a:pPr indent="0" marL="0">
              <a:spcAft>
                <a:spcPts val="200"/>
              </a:spcAft>
              <a:buNone/>
            </a:pPr>
            <a:r>
              <a:rPr lang="en-US" sz="1000" dirty="0">
                <a:solidFill>
                  <a:srgbClr val="CBD5E1"/>
                </a:solidFill>
                <a:latin typeface="Calibri" pitchFamily="34" charset="0"/>
                <a:ea typeface="Calibri" pitchFamily="34" charset="-122"/>
                <a:cs typeface="Calibri" pitchFamily="34" charset="-120"/>
              </a:rPr>
              <a:t>Cancels simulated 4–8 Hz tremor on a bench rig; a spoon, not a whole-hand device.</a:t>
            </a:r>
            <a:endParaRPr lang="en-US" sz="1000" dirty="0"/>
          </a:p>
          <a:p>
            <a:pPr indent="0" marL="0">
              <a:spcAft>
                <a:spcPts val="200"/>
              </a:spcAft>
              <a:buNone/>
            </a:pPr>
            <a:r>
              <a:rPr lang="en-US" sz="1000" b="1" dirty="0">
                <a:solidFill>
                  <a:srgbClr val="8B5CF6"/>
                </a:solidFill>
                <a:latin typeface="Calibri" pitchFamily="34" charset="0"/>
                <a:ea typeface="Calibri" pitchFamily="34" charset="-122"/>
                <a:cs typeface="Calibri" pitchFamily="34" charset="-120"/>
              </a:rPr>
              <a:t>Still to prove: </a:t>
            </a:r>
            <a:pPr indent="0" marL="0">
              <a:spcAft>
                <a:spcPts val="200"/>
              </a:spcAft>
              <a:buNone/>
            </a:pPr>
            <a:r>
              <a:rPr lang="en-US" sz="1000" dirty="0">
                <a:solidFill>
                  <a:srgbClr val="CBD5E1"/>
                </a:solidFill>
                <a:latin typeface="Calibri" pitchFamily="34" charset="0"/>
                <a:ea typeface="Calibri" pitchFamily="34" charset="-122"/>
                <a:cs typeface="Calibri" pitchFamily="34" charset="-120"/>
              </a:rPr>
              <a:t>User benefit in real eating, durability, comfort, and parity with Liftware-class products.</a:t>
            </a:r>
            <a:endParaRPr lang="en-US" sz="1000" dirty="0"/>
          </a:p>
        </p:txBody>
      </p:sp>
      <p:sp>
        <p:nvSpPr>
          <p:cNvPr id="31" name="sources"/>
          <p:cNvSpPr txBox="1"/>
          <p:nvPr/>
        </p:nvSpPr>
        <p:spPr>
          <a:xfrm>
            <a:off x="502920" y="6199632"/>
            <a:ext cx="8778240" cy="274320"/>
          </a:xfrm>
          <a:prstGeom prst="rect">
            <a:avLst/>
          </a:prstGeom>
          <a:noFill/>
          <a:ln/>
        </p:spPr>
        <p:txBody>
          <a:bodyPr wrap="square" lIns="0" tIns="0" rIns="0" bIns="0" rtlCol="0" anchor="t"/>
          <a:lstStyle/>
          <a:p>
            <a:pPr indent="0" marL="0">
              <a:buNone/>
            </a:pPr>
            <a:r>
              <a:rPr lang="en-US" sz="850" dirty="0">
                <a:solidFill>
                  <a:srgbClr val="94A3B8"/>
                </a:solidFill>
                <a:latin typeface="Calibri" pitchFamily="34" charset="0"/>
                <a:ea typeface="Calibri" pitchFamily="34" charset="-122"/>
                <a:cs typeface="Calibri" pitchFamily="34" charset="-120"/>
              </a:rPr>
              <a:t>Prices checked 12 Oct 2026 (whoop.in, 91mobiles, smartprix, Parkinson's UK, MJFF 2015, WellBefore). Benchmarks only — links in the guide.</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5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5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50"/>
                                        <p:tgtEl>
                                          <p:spTgt spid="27"/>
                                        </p:tgtEl>
                                      </p:cBhvr>
                                    </p:animEffect>
                                  </p:childTnLst>
                                </p:cTn>
                              </p:par>
                              <p:par>
                                <p:cTn id="18" presetID="10" presetClass="entr" presetSubtype="0" fill="hold"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50"/>
                                        <p:tgtEl>
                                          <p:spTgt spid="2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450"/>
                                        <p:tgtEl>
                                          <p:spTgt spid="29"/>
                                        </p:tgtEl>
                                      </p:cBhvr>
                                    </p:animEffect>
                                  </p:childTnLst>
                                </p:cTn>
                              </p:par>
                              <p:par>
                                <p:cTn id="26" presetID="10" presetClass="entr" presetSubtype="0" fill="hold"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7" grpId="0" animBg="1"/>
      <p:bldP spid="28" grpId="0" animBg="1"/>
      <p:bldP spid="29" grpId="0" animBg="1"/>
      <p:bldP spid="3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kicker"/>
          <p:cNvSpPr txBox="1"/>
          <p:nvPr/>
        </p:nvSpPr>
        <p:spPr>
          <a:xfrm>
            <a:off x="502920" y="274320"/>
            <a:ext cx="7315200" cy="256032"/>
          </a:xfrm>
          <a:prstGeom prst="rect">
            <a:avLst/>
          </a:prstGeom>
          <a:noFill/>
          <a:ln/>
        </p:spPr>
        <p:txBody>
          <a:bodyPr wrap="square" lIns="0" tIns="0" rIns="0" bIns="0" rtlCol="0" anchor="t"/>
          <a:lstStyle/>
          <a:p>
            <a:pPr indent="0" marL="0">
              <a:buNone/>
            </a:pPr>
            <a:r>
              <a:rPr lang="en-US" sz="1100" b="1" spc="300" kern="0" dirty="0">
                <a:solidFill>
                  <a:srgbClr val="06B6D4"/>
                </a:solidFill>
                <a:latin typeface="Calibri" pitchFamily="34" charset="0"/>
                <a:ea typeface="Calibri" pitchFamily="34" charset="-122"/>
                <a:cs typeface="Calibri" pitchFamily="34" charset="-120"/>
              </a:rPr>
              <a:t>06 · MVP &amp; VALIDATION</a:t>
            </a:r>
            <a:endParaRPr lang="en-US" sz="1100" dirty="0"/>
          </a:p>
        </p:txBody>
      </p:sp>
      <p:sp>
        <p:nvSpPr>
          <p:cNvPr id="3" name="!!title"/>
          <p:cNvSpPr txBox="1"/>
          <p:nvPr/>
        </p:nvSpPr>
        <p:spPr>
          <a:xfrm>
            <a:off x="502920" y="530352"/>
            <a:ext cx="10241280" cy="64008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Bench-proven, clinical evaluation under way</a:t>
            </a:r>
            <a:endParaRPr lang="en-US" sz="2800" dirty="0"/>
          </a:p>
        </p:txBody>
      </p:sp>
      <p:pic>
        <p:nvPicPr>
          <p:cNvPr id="4" name="!!mark" descr="../public/brand/averra-mark-white.png">    </p:cNvPr>
          <p:cNvPicPr>
            <a:picLocks noChangeAspect="1"/>
          </p:cNvPicPr>
          <p:nvPr/>
        </p:nvPicPr>
        <p:blipFill>
          <a:blip r:embed="rId1"/>
          <a:stretch>
            <a:fillRect/>
          </a:stretch>
        </p:blipFill>
        <p:spPr>
          <a:xfrm>
            <a:off x="11201400" y="292608"/>
            <a:ext cx="502920" cy="502920"/>
          </a:xfrm>
          <a:prstGeom prst="rect">
            <a:avLst/>
          </a:prstGeom>
        </p:spPr>
      </p:pic>
      <p:sp>
        <p:nvSpPr>
          <p:cNvPr id="5" name="!!dot1"/>
          <p:cNvSpPr/>
          <p:nvPr/>
        </p:nvSpPr>
        <p:spPr>
          <a:xfrm>
            <a:off x="9692640" y="6510528"/>
            <a:ext cx="54864" cy="54864"/>
          </a:xfrm>
          <a:prstGeom prst="ellipse">
            <a:avLst/>
          </a:prstGeom>
          <a:solidFill>
            <a:srgbClr val="2B3A5C"/>
          </a:solidFill>
          <a:ln w="12700">
            <a:solidFill>
              <a:srgbClr val="2B3A5C"/>
            </a:solidFill>
            <a:prstDash val="solid"/>
          </a:ln>
        </p:spPr>
      </p:sp>
      <p:sp>
        <p:nvSpPr>
          <p:cNvPr id="6" name="!!dot2"/>
          <p:cNvSpPr/>
          <p:nvPr/>
        </p:nvSpPr>
        <p:spPr>
          <a:xfrm>
            <a:off x="9838944" y="6510528"/>
            <a:ext cx="54864" cy="54864"/>
          </a:xfrm>
          <a:prstGeom prst="ellipse">
            <a:avLst/>
          </a:prstGeom>
          <a:solidFill>
            <a:srgbClr val="2B3A5C"/>
          </a:solidFill>
          <a:ln w="12700">
            <a:solidFill>
              <a:srgbClr val="2B3A5C"/>
            </a:solidFill>
            <a:prstDash val="solid"/>
          </a:ln>
        </p:spPr>
      </p:sp>
      <p:sp>
        <p:nvSpPr>
          <p:cNvPr id="7" name="!!dot3"/>
          <p:cNvSpPr/>
          <p:nvPr/>
        </p:nvSpPr>
        <p:spPr>
          <a:xfrm>
            <a:off x="9985248" y="6510528"/>
            <a:ext cx="54864" cy="54864"/>
          </a:xfrm>
          <a:prstGeom prst="ellipse">
            <a:avLst/>
          </a:prstGeom>
          <a:solidFill>
            <a:srgbClr val="2B3A5C"/>
          </a:solidFill>
          <a:ln w="12700">
            <a:solidFill>
              <a:srgbClr val="2B3A5C"/>
            </a:solidFill>
            <a:prstDash val="solid"/>
          </a:ln>
        </p:spPr>
      </p:sp>
      <p:sp>
        <p:nvSpPr>
          <p:cNvPr id="8" name="!!dot4"/>
          <p:cNvSpPr/>
          <p:nvPr/>
        </p:nvSpPr>
        <p:spPr>
          <a:xfrm>
            <a:off x="10131552" y="6510528"/>
            <a:ext cx="54864" cy="54864"/>
          </a:xfrm>
          <a:prstGeom prst="ellipse">
            <a:avLst/>
          </a:prstGeom>
          <a:solidFill>
            <a:srgbClr val="2B3A5C"/>
          </a:solidFill>
          <a:ln w="12700">
            <a:solidFill>
              <a:srgbClr val="2B3A5C"/>
            </a:solidFill>
            <a:prstDash val="solid"/>
          </a:ln>
        </p:spPr>
      </p:sp>
      <p:sp>
        <p:nvSpPr>
          <p:cNvPr id="9" name="!!dot5"/>
          <p:cNvSpPr/>
          <p:nvPr/>
        </p:nvSpPr>
        <p:spPr>
          <a:xfrm>
            <a:off x="10277856" y="6510528"/>
            <a:ext cx="54864" cy="54864"/>
          </a:xfrm>
          <a:prstGeom prst="ellipse">
            <a:avLst/>
          </a:prstGeom>
          <a:solidFill>
            <a:srgbClr val="2B3A5C"/>
          </a:solidFill>
          <a:ln w="12700">
            <a:solidFill>
              <a:srgbClr val="2B3A5C"/>
            </a:solidFill>
            <a:prstDash val="solid"/>
          </a:ln>
        </p:spPr>
      </p:sp>
      <p:sp>
        <p:nvSpPr>
          <p:cNvPr id="10" name="!!dot6"/>
          <p:cNvSpPr/>
          <p:nvPr/>
        </p:nvSpPr>
        <p:spPr>
          <a:xfrm>
            <a:off x="10424160" y="6510528"/>
            <a:ext cx="54864" cy="54864"/>
          </a:xfrm>
          <a:prstGeom prst="ellipse">
            <a:avLst/>
          </a:prstGeom>
          <a:solidFill>
            <a:srgbClr val="2B3A5C"/>
          </a:solidFill>
          <a:ln w="12700">
            <a:solidFill>
              <a:srgbClr val="2B3A5C"/>
            </a:solidFill>
            <a:prstDash val="solid"/>
          </a:ln>
        </p:spPr>
      </p:sp>
      <p:sp>
        <p:nvSpPr>
          <p:cNvPr id="11" name="!!dot7"/>
          <p:cNvSpPr/>
          <p:nvPr/>
        </p:nvSpPr>
        <p:spPr>
          <a:xfrm>
            <a:off x="10570464" y="6510528"/>
            <a:ext cx="100584" cy="100584"/>
          </a:xfrm>
          <a:prstGeom prst="ellipse">
            <a:avLst/>
          </a:prstGeom>
          <a:solidFill>
            <a:srgbClr val="06B6D4"/>
          </a:solidFill>
          <a:ln w="12700">
            <a:solidFill>
              <a:srgbClr val="06B6D4"/>
            </a:solidFill>
            <a:prstDash val="solid"/>
          </a:ln>
        </p:spPr>
      </p:sp>
      <p:sp>
        <p:nvSpPr>
          <p:cNvPr id="12" name="!!dot8"/>
          <p:cNvSpPr/>
          <p:nvPr/>
        </p:nvSpPr>
        <p:spPr>
          <a:xfrm>
            <a:off x="10716768" y="6510528"/>
            <a:ext cx="54864" cy="54864"/>
          </a:xfrm>
          <a:prstGeom prst="ellipse">
            <a:avLst/>
          </a:prstGeom>
          <a:solidFill>
            <a:srgbClr val="2B3A5C"/>
          </a:solidFill>
          <a:ln w="12700">
            <a:solidFill>
              <a:srgbClr val="2B3A5C"/>
            </a:solidFill>
            <a:prstDash val="solid"/>
          </a:ln>
        </p:spPr>
      </p:sp>
      <p:sp>
        <p:nvSpPr>
          <p:cNvPr id="13" name="!!dot9"/>
          <p:cNvSpPr/>
          <p:nvPr/>
        </p:nvSpPr>
        <p:spPr>
          <a:xfrm>
            <a:off x="10863072" y="6510528"/>
            <a:ext cx="54864" cy="54864"/>
          </a:xfrm>
          <a:prstGeom prst="ellipse">
            <a:avLst/>
          </a:prstGeom>
          <a:solidFill>
            <a:srgbClr val="2B3A5C"/>
          </a:solidFill>
          <a:ln w="12700">
            <a:solidFill>
              <a:srgbClr val="2B3A5C"/>
            </a:solidFill>
            <a:prstDash val="solid"/>
          </a:ln>
        </p:spPr>
      </p:sp>
      <p:sp>
        <p:nvSpPr>
          <p:cNvPr id="14" name="!!dot10"/>
          <p:cNvSpPr/>
          <p:nvPr/>
        </p:nvSpPr>
        <p:spPr>
          <a:xfrm>
            <a:off x="11009376" y="6510528"/>
            <a:ext cx="54864" cy="54864"/>
          </a:xfrm>
          <a:prstGeom prst="ellipse">
            <a:avLst/>
          </a:prstGeom>
          <a:solidFill>
            <a:srgbClr val="2B3A5C"/>
          </a:solidFill>
          <a:ln w="12700">
            <a:solidFill>
              <a:srgbClr val="2B3A5C"/>
            </a:solidFill>
            <a:prstDash val="solid"/>
          </a:ln>
        </p:spPr>
      </p:sp>
      <p:sp>
        <p:nvSpPr>
          <p:cNvPr id="15" name="!!dot11"/>
          <p:cNvSpPr/>
          <p:nvPr/>
        </p:nvSpPr>
        <p:spPr>
          <a:xfrm>
            <a:off x="11155680" y="6510528"/>
            <a:ext cx="54864" cy="54864"/>
          </a:xfrm>
          <a:prstGeom prst="ellipse">
            <a:avLst/>
          </a:prstGeom>
          <a:solidFill>
            <a:srgbClr val="2B3A5C"/>
          </a:solidFill>
          <a:ln w="12700">
            <a:solidFill>
              <a:srgbClr val="2B3A5C"/>
            </a:solidFill>
            <a:prstDash val="solid"/>
          </a:ln>
        </p:spPr>
      </p:sp>
      <p:sp>
        <p:nvSpPr>
          <p:cNvPr id="16" name="!!dot12"/>
          <p:cNvSpPr/>
          <p:nvPr/>
        </p:nvSpPr>
        <p:spPr>
          <a:xfrm>
            <a:off x="11301984" y="6510528"/>
            <a:ext cx="54864" cy="54864"/>
          </a:xfrm>
          <a:prstGeom prst="ellipse">
            <a:avLst/>
          </a:prstGeom>
          <a:solidFill>
            <a:srgbClr val="2B3A5C"/>
          </a:solidFill>
          <a:ln w="12700">
            <a:solidFill>
              <a:srgbClr val="2B3A5C"/>
            </a:solidFill>
            <a:prstDash val="solid"/>
          </a:ln>
        </p:spPr>
      </p:sp>
      <p:sp>
        <p:nvSpPr>
          <p:cNvPr id="17" name="!!dot13"/>
          <p:cNvSpPr/>
          <p:nvPr/>
        </p:nvSpPr>
        <p:spPr>
          <a:xfrm>
            <a:off x="11448288" y="6510528"/>
            <a:ext cx="54864" cy="54864"/>
          </a:xfrm>
          <a:prstGeom prst="ellipse">
            <a:avLst/>
          </a:prstGeom>
          <a:solidFill>
            <a:srgbClr val="2B3A5C"/>
          </a:solidFill>
          <a:ln w="12700">
            <a:solidFill>
              <a:srgbClr val="2B3A5C"/>
            </a:solidFill>
            <a:prstDash val="solid"/>
          </a:ln>
        </p:spPr>
      </p:sp>
      <p:sp>
        <p:nvSpPr>
          <p:cNvPr id="18" name="!!dot14"/>
          <p:cNvSpPr/>
          <p:nvPr/>
        </p:nvSpPr>
        <p:spPr>
          <a:xfrm>
            <a:off x="11594592" y="6510528"/>
            <a:ext cx="54864" cy="54864"/>
          </a:xfrm>
          <a:prstGeom prst="ellipse">
            <a:avLst/>
          </a:prstGeom>
          <a:solidFill>
            <a:srgbClr val="2B3A5C"/>
          </a:solidFill>
          <a:ln w="12700">
            <a:solidFill>
              <a:srgbClr val="2B3A5C"/>
            </a:solidFill>
            <a:prstDash val="solid"/>
          </a:ln>
        </p:spPr>
      </p:sp>
      <p:sp>
        <p:nvSpPr>
          <p:cNvPr id="19" name="!!brand"/>
          <p:cNvSpPr txBox="1"/>
          <p:nvPr/>
        </p:nvSpPr>
        <p:spPr>
          <a:xfrm>
            <a:off x="502920" y="6446520"/>
            <a:ext cx="1828800" cy="201168"/>
          </a:xfrm>
          <a:prstGeom prst="rect">
            <a:avLst/>
          </a:prstGeom>
          <a:noFill/>
          <a:ln/>
        </p:spPr>
        <p:txBody>
          <a:bodyPr wrap="square" lIns="0" tIns="0" rIns="0" bIns="0" rtlCol="0" anchor="t"/>
          <a:lstStyle/>
          <a:p>
            <a:pPr indent="0" marL="0">
              <a:buNone/>
            </a:pPr>
            <a:r>
              <a:rPr lang="en-US" sz="900" b="1" spc="500" kern="0" dirty="0">
                <a:solidFill>
                  <a:srgbClr val="94A3B8"/>
                </a:solidFill>
                <a:latin typeface="Calibri" pitchFamily="34" charset="0"/>
                <a:ea typeface="Calibri" pitchFamily="34" charset="-122"/>
                <a:cs typeface="Calibri" pitchFamily="34" charset="-120"/>
              </a:rPr>
              <a:t>AVERRA</a:t>
            </a:r>
            <a:endParaRPr lang="en-US" sz="900" dirty="0"/>
          </a:p>
        </p:txBody>
      </p:sp>
      <p:sp>
        <p:nvSpPr>
          <p:cNvPr id="21" name="Text 17"/>
          <p:cNvSpPr txBox="1"/>
          <p:nvPr/>
        </p:nvSpPr>
        <p:spPr>
          <a:xfrm>
            <a:off x="1691640" y="1371600"/>
            <a:ext cx="2377440" cy="228600"/>
          </a:xfrm>
          <a:prstGeom prst="rect">
            <a:avLst/>
          </a:prstGeom>
          <a:noFill/>
          <a:ln/>
        </p:spPr>
        <p:txBody>
          <a:bodyPr wrap="square" lIns="0" tIns="0" rIns="0" bIns="0" rtlCol="0" anchor="t"/>
          <a:lstStyle/>
          <a:p>
            <a:pPr indent="0" marL="0">
              <a:buNone/>
            </a:pPr>
            <a:r>
              <a:rPr lang="en-US" sz="950" b="1" spc="100" kern="0" dirty="0">
                <a:solidFill>
                  <a:srgbClr val="94A3B8"/>
                </a:solidFill>
                <a:latin typeface="Calibri" pitchFamily="34" charset="0"/>
                <a:ea typeface="Calibri" pitchFamily="34" charset="-122"/>
                <a:cs typeface="Calibri" pitchFamily="34" charset="-120"/>
              </a:rPr>
              <a:t>EXPERIMENT RUN</a:t>
            </a:r>
            <a:endParaRPr lang="en-US" sz="950" dirty="0"/>
          </a:p>
        </p:txBody>
      </p:sp>
      <p:sp>
        <p:nvSpPr>
          <p:cNvPr id="22" name="Text 18"/>
          <p:cNvSpPr txBox="1"/>
          <p:nvPr/>
        </p:nvSpPr>
        <p:spPr>
          <a:xfrm>
            <a:off x="4206240" y="1371600"/>
            <a:ext cx="2377440" cy="228600"/>
          </a:xfrm>
          <a:prstGeom prst="rect">
            <a:avLst/>
          </a:prstGeom>
          <a:noFill/>
          <a:ln/>
        </p:spPr>
        <p:txBody>
          <a:bodyPr wrap="square" lIns="0" tIns="0" rIns="0" bIns="0" rtlCol="0" anchor="t"/>
          <a:lstStyle/>
          <a:p>
            <a:pPr indent="0" marL="0">
              <a:buNone/>
            </a:pPr>
            <a:r>
              <a:rPr lang="en-US" sz="950" b="1" spc="100" kern="0" dirty="0">
                <a:solidFill>
                  <a:srgbClr val="94A3B8"/>
                </a:solidFill>
                <a:latin typeface="Calibri" pitchFamily="34" charset="0"/>
                <a:ea typeface="Calibri" pitchFamily="34" charset="-122"/>
                <a:cs typeface="Calibri" pitchFamily="34" charset="-120"/>
              </a:rPr>
              <a:t>RESULT SO FAR</a:t>
            </a:r>
            <a:endParaRPr lang="en-US" sz="950" dirty="0"/>
          </a:p>
        </p:txBody>
      </p:sp>
      <p:sp>
        <p:nvSpPr>
          <p:cNvPr id="23" name="Text 19"/>
          <p:cNvSpPr txBox="1"/>
          <p:nvPr/>
        </p:nvSpPr>
        <p:spPr>
          <a:xfrm>
            <a:off x="6720840" y="1371600"/>
            <a:ext cx="2377440" cy="228600"/>
          </a:xfrm>
          <a:prstGeom prst="rect">
            <a:avLst/>
          </a:prstGeom>
          <a:noFill/>
          <a:ln/>
        </p:spPr>
        <p:txBody>
          <a:bodyPr wrap="square" lIns="0" tIns="0" rIns="0" bIns="0" rtlCol="0" anchor="t"/>
          <a:lstStyle/>
          <a:p>
            <a:pPr indent="0" marL="0">
              <a:buNone/>
            </a:pPr>
            <a:r>
              <a:rPr lang="en-US" sz="950" b="1" spc="100" kern="0" dirty="0">
                <a:solidFill>
                  <a:srgbClr val="94A3B8"/>
                </a:solidFill>
                <a:latin typeface="Calibri" pitchFamily="34" charset="0"/>
                <a:ea typeface="Calibri" pitchFamily="34" charset="-122"/>
                <a:cs typeface="Calibri" pitchFamily="34" charset="-120"/>
              </a:rPr>
              <a:t>PRE-REGISTERED NEXT METRIC</a:t>
            </a:r>
            <a:endParaRPr lang="en-US" sz="950" dirty="0"/>
          </a:p>
        </p:txBody>
      </p:sp>
      <p:sp>
        <p:nvSpPr>
          <p:cNvPr id="24" name="Text 20"/>
          <p:cNvSpPr txBox="1"/>
          <p:nvPr/>
        </p:nvSpPr>
        <p:spPr>
          <a:xfrm>
            <a:off x="9235440" y="1371600"/>
            <a:ext cx="2377440" cy="228600"/>
          </a:xfrm>
          <a:prstGeom prst="rect">
            <a:avLst/>
          </a:prstGeom>
          <a:noFill/>
          <a:ln/>
        </p:spPr>
        <p:txBody>
          <a:bodyPr wrap="square" lIns="0" tIns="0" rIns="0" bIns="0" rtlCol="0" anchor="t"/>
          <a:lstStyle/>
          <a:p>
            <a:pPr indent="0" marL="0">
              <a:buNone/>
            </a:pPr>
            <a:r>
              <a:rPr lang="en-US" sz="950" b="1" spc="100" kern="0" dirty="0">
                <a:solidFill>
                  <a:srgbClr val="94A3B8"/>
                </a:solidFill>
                <a:latin typeface="Calibri" pitchFamily="34" charset="0"/>
                <a:ea typeface="Calibri" pitchFamily="34" charset="-122"/>
                <a:cs typeface="Calibri" pitchFamily="34" charset="-120"/>
              </a:rPr>
              <a:t>DECISION</a:t>
            </a:r>
            <a:endParaRPr lang="en-US" sz="950" dirty="0"/>
          </a:p>
        </p:txBody>
      </p:sp>
      <p:pic>
        <p:nvPicPr>
          <p:cNvPr id="25" name="!!ts_photo" descr="../public/images/tremosense-rig.jpg">    </p:cNvPr>
          <p:cNvPicPr>
            <a:picLocks noChangeAspect="1"/>
          </p:cNvPicPr>
          <p:nvPr/>
        </p:nvPicPr>
        <p:blipFill>
          <a:blip r:embed="rId2"/>
          <a:stretch>
            <a:fillRect/>
          </a:stretch>
        </p:blipFill>
        <p:spPr>
          <a:xfrm>
            <a:off x="502920" y="1783080"/>
            <a:ext cx="914400" cy="1218895"/>
          </a:xfrm>
          <a:prstGeom prst="rect">
            <a:avLst/>
          </a:prstGeom>
        </p:spPr>
      </p:pic>
      <p:sp>
        <p:nvSpPr>
          <p:cNvPr id="26" name="mvp_ts0"/>
          <p:cNvSpPr/>
          <p:nvPr/>
        </p:nvSpPr>
        <p:spPr>
          <a:xfrm>
            <a:off x="1691640" y="1691640"/>
            <a:ext cx="2377440" cy="1783080"/>
          </a:xfrm>
          <a:prstGeom prst="roundRect">
            <a:avLst>
              <a:gd name="adj" fmla="val 3590"/>
            </a:avLst>
          </a:prstGeom>
          <a:solidFill>
            <a:srgbClr val="16213A"/>
          </a:solidFill>
          <a:ln w="9525">
            <a:solidFill>
              <a:srgbClr val="2B3A5C"/>
            </a:solidFill>
            <a:prstDash val="solid"/>
          </a:ln>
        </p:spPr>
      </p:sp>
      <p:sp>
        <p:nvSpPr>
          <p:cNvPr id="27" name="Text 22"/>
          <p:cNvSpPr txBox="1"/>
          <p:nvPr/>
        </p:nvSpPr>
        <p:spPr>
          <a:xfrm>
            <a:off x="1810512" y="1828800"/>
            <a:ext cx="2148840" cy="1554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Motorised tremor simulator, 4/6/8 Hz, ±5° (paper)</a:t>
            </a:r>
            <a:endParaRPr lang="en-US" sz="1200" dirty="0"/>
          </a:p>
        </p:txBody>
      </p:sp>
      <p:sp>
        <p:nvSpPr>
          <p:cNvPr id="28" name="mvp_ts1"/>
          <p:cNvSpPr/>
          <p:nvPr/>
        </p:nvSpPr>
        <p:spPr>
          <a:xfrm>
            <a:off x="4206240" y="1691640"/>
            <a:ext cx="2377440" cy="1783080"/>
          </a:xfrm>
          <a:prstGeom prst="roundRect">
            <a:avLst>
              <a:gd name="adj" fmla="val 3590"/>
            </a:avLst>
          </a:prstGeom>
          <a:solidFill>
            <a:srgbClr val="16213A"/>
          </a:solidFill>
          <a:ln w="9525">
            <a:solidFill>
              <a:srgbClr val="2B3A5C"/>
            </a:solidFill>
            <a:prstDash val="solid"/>
          </a:ln>
        </p:spPr>
      </p:sp>
      <p:sp>
        <p:nvSpPr>
          <p:cNvPr id="29" name="Text 24"/>
          <p:cNvSpPr txBox="1"/>
          <p:nvPr/>
        </p:nvSpPr>
        <p:spPr>
          <a:xfrm>
            <a:off x="4325112" y="1828800"/>
            <a:ext cx="2148840" cy="1554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77.3% mean rejection — not reproduced in the public repo yet</a:t>
            </a:r>
            <a:endParaRPr lang="en-US" sz="1200" dirty="0"/>
          </a:p>
        </p:txBody>
      </p:sp>
      <p:sp>
        <p:nvSpPr>
          <p:cNvPr id="30" name="mvp_ts2"/>
          <p:cNvSpPr/>
          <p:nvPr/>
        </p:nvSpPr>
        <p:spPr>
          <a:xfrm>
            <a:off x="6720840" y="1691640"/>
            <a:ext cx="2377440" cy="1783080"/>
          </a:xfrm>
          <a:prstGeom prst="roundRect">
            <a:avLst>
              <a:gd name="adj" fmla="val 3590"/>
            </a:avLst>
          </a:prstGeom>
          <a:solidFill>
            <a:srgbClr val="16213A"/>
          </a:solidFill>
          <a:ln w="9525">
            <a:solidFill>
              <a:srgbClr val="F59E0B"/>
            </a:solidFill>
            <a:prstDash val="solid"/>
          </a:ln>
        </p:spPr>
      </p:sp>
      <p:sp>
        <p:nvSpPr>
          <p:cNvPr id="31" name="Text 26"/>
          <p:cNvSpPr txBox="1"/>
          <p:nvPr/>
        </p:nvSpPr>
        <p:spPr>
          <a:xfrm>
            <a:off x="6839712" y="1828800"/>
            <a:ext cx="2148840" cy="1554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Self-feeding task, n ≥ 10: median tremor reduction ≥50% and ≥60% would pay (M6)</a:t>
            </a:r>
            <a:endParaRPr lang="en-US" sz="1200" dirty="0"/>
          </a:p>
        </p:txBody>
      </p:sp>
      <p:sp>
        <p:nvSpPr>
          <p:cNvPr id="32" name="mvp_ts3"/>
          <p:cNvSpPr/>
          <p:nvPr/>
        </p:nvSpPr>
        <p:spPr>
          <a:xfrm>
            <a:off x="9235440" y="1691640"/>
            <a:ext cx="2377440" cy="1783080"/>
          </a:xfrm>
          <a:prstGeom prst="roundRect">
            <a:avLst>
              <a:gd name="adj" fmla="val 3590"/>
            </a:avLst>
          </a:prstGeom>
          <a:solidFill>
            <a:srgbClr val="102A22"/>
          </a:solidFill>
          <a:ln w="9525">
            <a:solidFill>
              <a:srgbClr val="34D399"/>
            </a:solidFill>
            <a:prstDash val="solid"/>
          </a:ln>
        </p:spPr>
      </p:sp>
      <p:sp>
        <p:nvSpPr>
          <p:cNvPr id="33" name="Text 28"/>
          <p:cNvSpPr txBox="1"/>
          <p:nvPr/>
        </p:nvSpPr>
        <p:spPr>
          <a:xfrm>
            <a:off x="9354312" y="1828800"/>
            <a:ext cx="2148840" cy="1554480"/>
          </a:xfrm>
          <a:prstGeom prst="rect">
            <a:avLst/>
          </a:prstGeom>
          <a:noFill/>
          <a:ln/>
        </p:spPr>
        <p:txBody>
          <a:bodyPr wrap="square" lIns="0" tIns="0" rIns="0" bIns="0" rtlCol="0" anchor="t"/>
          <a:lstStyle/>
          <a:p>
            <a:pPr indent="0" marL="0">
              <a:buNone/>
            </a:pPr>
            <a:r>
              <a:rPr lang="en-US" sz="1200" b="1" dirty="0">
                <a:solidFill>
                  <a:srgbClr val="34D399"/>
                </a:solidFill>
                <a:latin typeface="Calibri" pitchFamily="34" charset="0"/>
                <a:ea typeface="Calibri" pitchFamily="34" charset="-122"/>
                <a:cs typeface="Calibri" pitchFamily="34" charset="-120"/>
              </a:rPr>
              <a:t>PERSEVERE — validate on people before any claim</a:t>
            </a:r>
            <a:endParaRPr lang="en-US" sz="1200" dirty="0"/>
          </a:p>
        </p:txBody>
      </p:sp>
      <p:pic>
        <p:nvPicPr>
          <p:cNvPr id="34" name="!!ps_photo" descr="../public/images/parkinsense-wrist.jpg">    </p:cNvPr>
          <p:cNvPicPr>
            <a:picLocks noChangeAspect="1"/>
          </p:cNvPicPr>
          <p:nvPr/>
        </p:nvPicPr>
        <p:blipFill>
          <a:blip r:embed="rId3"/>
          <a:stretch>
            <a:fillRect/>
          </a:stretch>
        </p:blipFill>
        <p:spPr>
          <a:xfrm>
            <a:off x="502920" y="3749040"/>
            <a:ext cx="1051560" cy="1149355"/>
          </a:xfrm>
          <a:prstGeom prst="rect">
            <a:avLst/>
          </a:prstGeom>
        </p:spPr>
      </p:pic>
      <p:sp>
        <p:nvSpPr>
          <p:cNvPr id="35" name="mvp_ps0"/>
          <p:cNvSpPr/>
          <p:nvPr/>
        </p:nvSpPr>
        <p:spPr>
          <a:xfrm>
            <a:off x="1691640" y="3657600"/>
            <a:ext cx="2377440" cy="1783080"/>
          </a:xfrm>
          <a:prstGeom prst="roundRect">
            <a:avLst>
              <a:gd name="adj" fmla="val 3590"/>
            </a:avLst>
          </a:prstGeom>
          <a:solidFill>
            <a:srgbClr val="16213A"/>
          </a:solidFill>
          <a:ln w="9525">
            <a:solidFill>
              <a:srgbClr val="2B3A5C"/>
            </a:solidFill>
            <a:prstDash val="solid"/>
          </a:ln>
        </p:spPr>
      </p:sp>
      <p:sp>
        <p:nvSpPr>
          <p:cNvPr id="36" name="Text 30"/>
          <p:cNvSpPr txBox="1"/>
          <p:nvPr/>
        </p:nvSpPr>
        <p:spPr>
          <a:xfrm>
            <a:off x="1810512" y="3794760"/>
            <a:ext cx="2148840" cy="1554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Bench: rest, 5 Hz fixture, walking, arm motion; BLE soak; PPK II power. Clinical evaluation with ICMR in progress</a:t>
            </a:r>
            <a:endParaRPr lang="en-US" sz="1200" dirty="0"/>
          </a:p>
        </p:txBody>
      </p:sp>
      <p:sp>
        <p:nvSpPr>
          <p:cNvPr id="37" name="mvp_ps1"/>
          <p:cNvSpPr/>
          <p:nvPr/>
        </p:nvSpPr>
        <p:spPr>
          <a:xfrm>
            <a:off x="4206240" y="3657600"/>
            <a:ext cx="2377440" cy="1783080"/>
          </a:xfrm>
          <a:prstGeom prst="roundRect">
            <a:avLst>
              <a:gd name="adj" fmla="val 3590"/>
            </a:avLst>
          </a:prstGeom>
          <a:solidFill>
            <a:srgbClr val="16213A"/>
          </a:solidFill>
          <a:ln w="9525">
            <a:solidFill>
              <a:srgbClr val="2B3A5C"/>
            </a:solidFill>
            <a:prstDash val="solid"/>
          </a:ln>
        </p:spPr>
      </p:sp>
      <p:sp>
        <p:nvSpPr>
          <p:cNvPr id="38" name="Text 32"/>
          <p:cNvSpPr txBox="1"/>
          <p:nvPr/>
        </p:nvSpPr>
        <p:spPr>
          <a:xfrm>
            <a:off x="4325112" y="3794760"/>
            <a:ext cx="2148840" cy="1554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8/8 bench conditions correct; ≈7 mA. ICMR results pending (founder-reported)</a:t>
            </a:r>
            <a:endParaRPr lang="en-US" sz="1200" dirty="0"/>
          </a:p>
        </p:txBody>
      </p:sp>
      <p:sp>
        <p:nvSpPr>
          <p:cNvPr id="39" name="mvp_ps2"/>
          <p:cNvSpPr/>
          <p:nvPr/>
        </p:nvSpPr>
        <p:spPr>
          <a:xfrm>
            <a:off x="6720840" y="3657600"/>
            <a:ext cx="2377440" cy="1783080"/>
          </a:xfrm>
          <a:prstGeom prst="roundRect">
            <a:avLst>
              <a:gd name="adj" fmla="val 3590"/>
            </a:avLst>
          </a:prstGeom>
          <a:solidFill>
            <a:srgbClr val="16213A"/>
          </a:solidFill>
          <a:ln w="9525">
            <a:solidFill>
              <a:srgbClr val="F59E0B"/>
            </a:solidFill>
            <a:prstDash val="solid"/>
          </a:ln>
        </p:spPr>
      </p:sp>
      <p:sp>
        <p:nvSpPr>
          <p:cNvPr id="40" name="Text 34"/>
          <p:cNvSpPr txBox="1"/>
          <p:nvPr/>
        </p:nvSpPr>
        <p:spPr>
          <a:xfrm>
            <a:off x="6839712" y="3794760"/>
            <a:ext cx="2148840" cy="1554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Dominant-frequency error ≤5% vs reference; 0 false steps in tremor (M10); add ICMR results when published</a:t>
            </a:r>
            <a:endParaRPr lang="en-US" sz="1200" dirty="0"/>
          </a:p>
        </p:txBody>
      </p:sp>
      <p:sp>
        <p:nvSpPr>
          <p:cNvPr id="41" name="mvp_ps3"/>
          <p:cNvSpPr/>
          <p:nvPr/>
        </p:nvSpPr>
        <p:spPr>
          <a:xfrm>
            <a:off x="9235440" y="3657600"/>
            <a:ext cx="2377440" cy="1783080"/>
          </a:xfrm>
          <a:prstGeom prst="roundRect">
            <a:avLst>
              <a:gd name="adj" fmla="val 3590"/>
            </a:avLst>
          </a:prstGeom>
          <a:solidFill>
            <a:srgbClr val="102A22"/>
          </a:solidFill>
          <a:ln w="9525">
            <a:solidFill>
              <a:srgbClr val="34D399"/>
            </a:solidFill>
            <a:prstDash val="solid"/>
          </a:ln>
        </p:spPr>
      </p:sp>
      <p:sp>
        <p:nvSpPr>
          <p:cNvPr id="42" name="Text 36"/>
          <p:cNvSpPr txBox="1"/>
          <p:nvPr/>
        </p:nvSpPr>
        <p:spPr>
          <a:xfrm>
            <a:off x="9354312" y="3794760"/>
            <a:ext cx="2148840" cy="1554480"/>
          </a:xfrm>
          <a:prstGeom prst="rect">
            <a:avLst/>
          </a:prstGeom>
          <a:noFill/>
          <a:ln/>
        </p:spPr>
        <p:txBody>
          <a:bodyPr wrap="square" lIns="0" tIns="0" rIns="0" bIns="0" rtlCol="0" anchor="t"/>
          <a:lstStyle/>
          <a:p>
            <a:pPr indent="0" marL="0">
              <a:buNone/>
            </a:pPr>
            <a:r>
              <a:rPr lang="en-US" sz="1200" b="1" dirty="0">
                <a:solidFill>
                  <a:srgbClr val="34D399"/>
                </a:solidFill>
                <a:latin typeface="Calibri" pitchFamily="34" charset="0"/>
                <a:ea typeface="Calibri" pitchFamily="34" charset="-122"/>
                <a:cs typeface="Calibri" pitchFamily="34" charset="-120"/>
              </a:rPr>
              <a:t>PERSEVERE — wellness launch; no clinical claim until results</a:t>
            </a:r>
            <a:endParaRPr lang="en-US" sz="1200" dirty="0"/>
          </a:p>
        </p:txBody>
      </p:sp>
      <p:sp>
        <p:nvSpPr>
          <p:cNvPr id="43" name="mvp_note"/>
          <p:cNvSpPr txBox="1"/>
          <p:nvPr/>
        </p:nvSpPr>
        <p:spPr>
          <a:xfrm>
            <a:off x="502920" y="5715000"/>
            <a:ext cx="10058400" cy="274320"/>
          </a:xfrm>
          <a:prstGeom prst="rect">
            <a:avLst/>
          </a:prstGeom>
          <a:noFill/>
          <a:ln/>
        </p:spPr>
        <p:txBody>
          <a:bodyPr wrap="square" lIns="0" tIns="0" rIns="0" bIns="0" rtlCol="0" anchor="t"/>
          <a:lstStyle/>
          <a:p>
            <a:pPr indent="0" marL="0">
              <a:buNone/>
            </a:pPr>
            <a:r>
              <a:rPr lang="en-US" sz="1100" dirty="0">
                <a:solidFill>
                  <a:srgbClr val="F59E0B"/>
                </a:solidFill>
                <a:latin typeface="Calibri" pitchFamily="34" charset="0"/>
                <a:ea typeface="Calibri" pitchFamily="34" charset="-122"/>
                <a:cs typeface="Calibri" pitchFamily="34" charset="-120"/>
              </a:rPr>
              <a:t>No metric was pre-registered before the bench tests. These are the first pre-registered tests.</a:t>
            </a:r>
            <a:endParaRPr lang="en-US" sz="1100" dirty="0"/>
          </a:p>
        </p:txBody>
      </p:sp>
      <p:sp>
        <p:nvSpPr>
          <p:cNvPr id="44" name="sources"/>
          <p:cNvSpPr txBox="1"/>
          <p:nvPr/>
        </p:nvSpPr>
        <p:spPr>
          <a:xfrm>
            <a:off x="502920" y="6199632"/>
            <a:ext cx="8778240" cy="274320"/>
          </a:xfrm>
          <a:prstGeom prst="rect">
            <a:avLst/>
          </a:prstGeom>
          <a:noFill/>
          <a:ln/>
        </p:spPr>
        <p:txBody>
          <a:bodyPr wrap="square" lIns="0" tIns="0" rIns="0" bIns="0" rtlCol="0" anchor="t"/>
          <a:lstStyle/>
          <a:p>
            <a:pPr indent="0" marL="0">
              <a:buNone/>
            </a:pPr>
            <a:r>
              <a:rPr lang="en-US" sz="850" dirty="0">
                <a:solidFill>
                  <a:srgbClr val="94A3B8"/>
                </a:solidFill>
                <a:latin typeface="Calibri" pitchFamily="34" charset="0"/>
                <a:ea typeface="Calibri" pitchFamily="34" charset="-122"/>
                <a:cs typeface="Calibri" pitchFamily="34" charset="-120"/>
              </a:rPr>
              <a:t>TremoSense paper Table IV; ParkinSense paper Tables IV–VIII.</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5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50"/>
                                        <p:tgtEl>
                                          <p:spTgt spid="22"/>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450"/>
                                        <p:tgtEl>
                                          <p:spTgt spid="23"/>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45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wipe(left)">
                                      <p:cBhvr>
                                        <p:cTn id="21" dur="450"/>
                                        <p:tgtEl>
                                          <p:spTgt spid="26"/>
                                        </p:tgtEl>
                                      </p:cBhvr>
                                    </p:animEffect>
                                  </p:childTnLst>
                                </p:cTn>
                              </p:par>
                              <p:par>
                                <p:cTn id="22" presetID="22" presetClass="entr" presetSubtype="8" fill="hold"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wipe(left)">
                                      <p:cBhvr>
                                        <p:cTn id="24" dur="450"/>
                                        <p:tgtEl>
                                          <p:spTgt spid="27"/>
                                        </p:tgtEl>
                                      </p:cBhvr>
                                    </p:animEffect>
                                  </p:childTnLst>
                                </p:cTn>
                              </p:par>
                            </p:childTnLst>
                          </p:cTn>
                        </p:par>
                        <p:par>
                          <p:cTn id="25" fill="hold">
                            <p:stCondLst>
                              <p:cond delay="450"/>
                            </p:stCondLst>
                            <p:childTnLst>
                              <p:par>
                                <p:cTn id="26" presetID="22" presetClass="entr" presetSubtype="8" fill="hold" nodeType="after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wipe(left)">
                                      <p:cBhvr>
                                        <p:cTn id="28" dur="450"/>
                                        <p:tgtEl>
                                          <p:spTgt spid="28"/>
                                        </p:tgtEl>
                                      </p:cBhvr>
                                    </p:animEffect>
                                  </p:childTnLst>
                                </p:cTn>
                              </p:par>
                              <p:par>
                                <p:cTn id="29" presetID="22" presetClass="entr" presetSubtype="8"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wipe(left)">
                                      <p:cBhvr>
                                        <p:cTn id="31" dur="450"/>
                                        <p:tgtEl>
                                          <p:spTgt spid="29"/>
                                        </p:tgtEl>
                                      </p:cBhvr>
                                    </p:animEffect>
                                  </p:childTnLst>
                                </p:cTn>
                              </p:par>
                            </p:childTnLst>
                          </p:cTn>
                        </p:par>
                        <p:par>
                          <p:cTn id="32" fill="hold">
                            <p:stCondLst>
                              <p:cond delay="750"/>
                            </p:stCondLst>
                            <p:childTnLst>
                              <p:par>
                                <p:cTn id="33" presetID="22" presetClass="entr" presetSubtype="8" fill="hold"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wipe(left)">
                                      <p:cBhvr>
                                        <p:cTn id="35" dur="450"/>
                                        <p:tgtEl>
                                          <p:spTgt spid="30"/>
                                        </p:tgtEl>
                                      </p:cBhvr>
                                    </p:animEffect>
                                  </p:childTnLst>
                                </p:cTn>
                              </p:par>
                              <p:par>
                                <p:cTn id="36" presetID="22" presetClass="entr" presetSubtype="8" fill="hold" nodeType="with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wipe(left)">
                                      <p:cBhvr>
                                        <p:cTn id="38" dur="450"/>
                                        <p:tgtEl>
                                          <p:spTgt spid="31"/>
                                        </p:tgtEl>
                                      </p:cBhvr>
                                    </p:animEffect>
                                  </p:childTnLst>
                                </p:cTn>
                              </p:par>
                            </p:childTnLst>
                          </p:cTn>
                        </p:par>
                        <p:par>
                          <p:cTn id="39" fill="hold">
                            <p:stCondLst>
                              <p:cond delay="1050"/>
                            </p:stCondLst>
                            <p:childTnLst>
                              <p:par>
                                <p:cTn id="40" presetID="22" presetClass="entr" presetSubtype="8" fill="hold" nodeType="after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wipe(left)">
                                      <p:cBhvr>
                                        <p:cTn id="42" dur="450"/>
                                        <p:tgtEl>
                                          <p:spTgt spid="32"/>
                                        </p:tgtEl>
                                      </p:cBhvr>
                                    </p:animEffect>
                                  </p:childTnLst>
                                </p:cTn>
                              </p:par>
                              <p:par>
                                <p:cTn id="43" presetID="22" presetClass="entr" presetSubtype="8" fill="hold" nodeType="with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wipe(left)">
                                      <p:cBhvr>
                                        <p:cTn id="45" dur="450"/>
                                        <p:tgtEl>
                                          <p:spTgt spid="3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wipe(left)">
                                      <p:cBhvr>
                                        <p:cTn id="50" dur="450"/>
                                        <p:tgtEl>
                                          <p:spTgt spid="35"/>
                                        </p:tgtEl>
                                      </p:cBhvr>
                                    </p:animEffect>
                                  </p:childTnLst>
                                </p:cTn>
                              </p:par>
                              <p:par>
                                <p:cTn id="51" presetID="22" presetClass="entr" presetSubtype="8" fill="hold" nodeType="with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wipe(left)">
                                      <p:cBhvr>
                                        <p:cTn id="53" dur="450"/>
                                        <p:tgtEl>
                                          <p:spTgt spid="36"/>
                                        </p:tgtEl>
                                      </p:cBhvr>
                                    </p:animEffect>
                                  </p:childTnLst>
                                </p:cTn>
                              </p:par>
                            </p:childTnLst>
                          </p:cTn>
                        </p:par>
                        <p:par>
                          <p:cTn id="54" fill="hold">
                            <p:stCondLst>
                              <p:cond delay="450"/>
                            </p:stCondLst>
                            <p:childTnLst>
                              <p:par>
                                <p:cTn id="55" presetID="22" presetClass="entr" presetSubtype="8" fill="hold" nodeType="after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wipe(left)">
                                      <p:cBhvr>
                                        <p:cTn id="57" dur="450"/>
                                        <p:tgtEl>
                                          <p:spTgt spid="37"/>
                                        </p:tgtEl>
                                      </p:cBhvr>
                                    </p:animEffect>
                                  </p:childTnLst>
                                </p:cTn>
                              </p:par>
                              <p:par>
                                <p:cTn id="58" presetID="22" presetClass="entr" presetSubtype="8" fill="hold" nodeType="with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wipe(left)">
                                      <p:cBhvr>
                                        <p:cTn id="60" dur="450"/>
                                        <p:tgtEl>
                                          <p:spTgt spid="38"/>
                                        </p:tgtEl>
                                      </p:cBhvr>
                                    </p:animEffect>
                                  </p:childTnLst>
                                </p:cTn>
                              </p:par>
                            </p:childTnLst>
                          </p:cTn>
                        </p:par>
                        <p:par>
                          <p:cTn id="61" fill="hold">
                            <p:stCondLst>
                              <p:cond delay="750"/>
                            </p:stCondLst>
                            <p:childTnLst>
                              <p:par>
                                <p:cTn id="62" presetID="22" presetClass="entr" presetSubtype="8" fill="hold" nodeType="after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wipe(left)">
                                      <p:cBhvr>
                                        <p:cTn id="64" dur="450"/>
                                        <p:tgtEl>
                                          <p:spTgt spid="39"/>
                                        </p:tgtEl>
                                      </p:cBhvr>
                                    </p:animEffect>
                                  </p:childTnLst>
                                </p:cTn>
                              </p:par>
                              <p:par>
                                <p:cTn id="65" presetID="22" presetClass="entr" presetSubtype="8" fill="hold" nodeType="with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wipe(left)">
                                      <p:cBhvr>
                                        <p:cTn id="67" dur="450"/>
                                        <p:tgtEl>
                                          <p:spTgt spid="40"/>
                                        </p:tgtEl>
                                      </p:cBhvr>
                                    </p:animEffect>
                                  </p:childTnLst>
                                </p:cTn>
                              </p:par>
                            </p:childTnLst>
                          </p:cTn>
                        </p:par>
                        <p:par>
                          <p:cTn id="68" fill="hold">
                            <p:stCondLst>
                              <p:cond delay="1050"/>
                            </p:stCondLst>
                            <p:childTnLst>
                              <p:par>
                                <p:cTn id="69" presetID="22" presetClass="entr" presetSubtype="8" fill="hold" nodeType="after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wipe(left)">
                                      <p:cBhvr>
                                        <p:cTn id="71" dur="450"/>
                                        <p:tgtEl>
                                          <p:spTgt spid="41"/>
                                        </p:tgtEl>
                                      </p:cBhvr>
                                    </p:animEffect>
                                  </p:childTnLst>
                                </p:cTn>
                              </p:par>
                              <p:par>
                                <p:cTn id="72" presetID="22" presetClass="entr" presetSubtype="8" fill="hold" nodeType="withEffect">
                                  <p:stCondLst>
                                    <p:cond delay="0"/>
                                  </p:stCondLst>
                                  <p:childTnLst>
                                    <p:set>
                                      <p:cBhvr>
                                        <p:cTn id="73" dur="1" fill="hold">
                                          <p:stCondLst>
                                            <p:cond delay="0"/>
                                          </p:stCondLst>
                                        </p:cTn>
                                        <p:tgtEl>
                                          <p:spTgt spid="42"/>
                                        </p:tgtEl>
                                        <p:attrNameLst>
                                          <p:attrName>style.visibility</p:attrName>
                                        </p:attrNameLst>
                                      </p:cBhvr>
                                      <p:to>
                                        <p:strVal val="visible"/>
                                      </p:to>
                                    </p:set>
                                    <p:animEffect transition="in" filter="wipe(left)">
                                      <p:cBhvr>
                                        <p:cTn id="74" dur="450"/>
                                        <p:tgtEl>
                                          <p:spTgt spid="42"/>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43"/>
                                        </p:tgtEl>
                                        <p:attrNameLst>
                                          <p:attrName>style.visibility</p:attrName>
                                        </p:attrNameLst>
                                      </p:cBhvr>
                                      <p:to>
                                        <p:strVal val="visible"/>
                                      </p:to>
                                    </p:set>
                                    <p:animEffect transition="in" filter="fade">
                                      <p:cBhvr>
                                        <p:cTn id="79" dur="4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6" grpId="0" animBg="1"/>
      <p:bldP spid="27" grpId="0" animBg="1"/>
      <p:bldP spid="28" grpId="0" animBg="1"/>
      <p:bldP spid="29" grpId="0" animBg="1"/>
      <p:bldP spid="30" grpId="0" animBg="1"/>
      <p:bldP spid="31" grpId="0" animBg="1"/>
      <p:bldP spid="32" grpId="0" animBg="1"/>
      <p:bldP spid="33"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kicker"/>
          <p:cNvSpPr txBox="1"/>
          <p:nvPr/>
        </p:nvSpPr>
        <p:spPr>
          <a:xfrm>
            <a:off x="502920" y="274320"/>
            <a:ext cx="7315200" cy="256032"/>
          </a:xfrm>
          <a:prstGeom prst="rect">
            <a:avLst/>
          </a:prstGeom>
          <a:noFill/>
          <a:ln/>
        </p:spPr>
        <p:txBody>
          <a:bodyPr wrap="square" lIns="0" tIns="0" rIns="0" bIns="0" rtlCol="0" anchor="t"/>
          <a:lstStyle/>
          <a:p>
            <a:pPr indent="0" marL="0">
              <a:buNone/>
            </a:pPr>
            <a:r>
              <a:rPr lang="en-US" sz="1100" b="1" spc="300" kern="0" dirty="0">
                <a:solidFill>
                  <a:srgbClr val="06B6D4"/>
                </a:solidFill>
                <a:latin typeface="Calibri" pitchFamily="34" charset="0"/>
                <a:ea typeface="Calibri" pitchFamily="34" charset="-122"/>
                <a:cs typeface="Calibri" pitchFamily="34" charset="-120"/>
              </a:rPr>
              <a:t>07 · MARKET (BOTTOM-UP, INDIA)</a:t>
            </a:r>
            <a:endParaRPr lang="en-US" sz="1100" dirty="0"/>
          </a:p>
        </p:txBody>
      </p:sp>
      <p:sp>
        <p:nvSpPr>
          <p:cNvPr id="3" name="!!title"/>
          <p:cNvSpPr txBox="1"/>
          <p:nvPr/>
        </p:nvSpPr>
        <p:spPr>
          <a:xfrm>
            <a:off x="502920" y="530352"/>
            <a:ext cx="10241280" cy="64008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₹416.9 Cr TAM → ₹51.9 Cr SAM → ₹109.0 L Year-3 SOM</a:t>
            </a:r>
            <a:endParaRPr lang="en-US" sz="2800" dirty="0"/>
          </a:p>
        </p:txBody>
      </p:sp>
      <p:pic>
        <p:nvPicPr>
          <p:cNvPr id="4" name="!!mark" descr="../public/brand/averra-mark-white.png">    </p:cNvPr>
          <p:cNvPicPr>
            <a:picLocks noChangeAspect="1"/>
          </p:cNvPicPr>
          <p:nvPr/>
        </p:nvPicPr>
        <p:blipFill>
          <a:blip r:embed="rId1"/>
          <a:stretch>
            <a:fillRect/>
          </a:stretch>
        </p:blipFill>
        <p:spPr>
          <a:xfrm>
            <a:off x="11201400" y="292608"/>
            <a:ext cx="502920" cy="502920"/>
          </a:xfrm>
          <a:prstGeom prst="rect">
            <a:avLst/>
          </a:prstGeom>
        </p:spPr>
      </p:pic>
      <p:sp>
        <p:nvSpPr>
          <p:cNvPr id="5" name="!!dot1"/>
          <p:cNvSpPr/>
          <p:nvPr/>
        </p:nvSpPr>
        <p:spPr>
          <a:xfrm>
            <a:off x="9692640" y="6510528"/>
            <a:ext cx="54864" cy="54864"/>
          </a:xfrm>
          <a:prstGeom prst="ellipse">
            <a:avLst/>
          </a:prstGeom>
          <a:solidFill>
            <a:srgbClr val="2B3A5C"/>
          </a:solidFill>
          <a:ln w="12700">
            <a:solidFill>
              <a:srgbClr val="2B3A5C"/>
            </a:solidFill>
            <a:prstDash val="solid"/>
          </a:ln>
        </p:spPr>
      </p:sp>
      <p:sp>
        <p:nvSpPr>
          <p:cNvPr id="6" name="!!dot2"/>
          <p:cNvSpPr/>
          <p:nvPr/>
        </p:nvSpPr>
        <p:spPr>
          <a:xfrm>
            <a:off x="9838944" y="6510528"/>
            <a:ext cx="54864" cy="54864"/>
          </a:xfrm>
          <a:prstGeom prst="ellipse">
            <a:avLst/>
          </a:prstGeom>
          <a:solidFill>
            <a:srgbClr val="2B3A5C"/>
          </a:solidFill>
          <a:ln w="12700">
            <a:solidFill>
              <a:srgbClr val="2B3A5C"/>
            </a:solidFill>
            <a:prstDash val="solid"/>
          </a:ln>
        </p:spPr>
      </p:sp>
      <p:sp>
        <p:nvSpPr>
          <p:cNvPr id="7" name="!!dot3"/>
          <p:cNvSpPr/>
          <p:nvPr/>
        </p:nvSpPr>
        <p:spPr>
          <a:xfrm>
            <a:off x="9985248" y="6510528"/>
            <a:ext cx="54864" cy="54864"/>
          </a:xfrm>
          <a:prstGeom prst="ellipse">
            <a:avLst/>
          </a:prstGeom>
          <a:solidFill>
            <a:srgbClr val="2B3A5C"/>
          </a:solidFill>
          <a:ln w="12700">
            <a:solidFill>
              <a:srgbClr val="2B3A5C"/>
            </a:solidFill>
            <a:prstDash val="solid"/>
          </a:ln>
        </p:spPr>
      </p:sp>
      <p:sp>
        <p:nvSpPr>
          <p:cNvPr id="8" name="!!dot4"/>
          <p:cNvSpPr/>
          <p:nvPr/>
        </p:nvSpPr>
        <p:spPr>
          <a:xfrm>
            <a:off x="10131552" y="6510528"/>
            <a:ext cx="54864" cy="54864"/>
          </a:xfrm>
          <a:prstGeom prst="ellipse">
            <a:avLst/>
          </a:prstGeom>
          <a:solidFill>
            <a:srgbClr val="2B3A5C"/>
          </a:solidFill>
          <a:ln w="12700">
            <a:solidFill>
              <a:srgbClr val="2B3A5C"/>
            </a:solidFill>
            <a:prstDash val="solid"/>
          </a:ln>
        </p:spPr>
      </p:sp>
      <p:sp>
        <p:nvSpPr>
          <p:cNvPr id="9" name="!!dot5"/>
          <p:cNvSpPr/>
          <p:nvPr/>
        </p:nvSpPr>
        <p:spPr>
          <a:xfrm>
            <a:off x="10277856" y="6510528"/>
            <a:ext cx="54864" cy="54864"/>
          </a:xfrm>
          <a:prstGeom prst="ellipse">
            <a:avLst/>
          </a:prstGeom>
          <a:solidFill>
            <a:srgbClr val="2B3A5C"/>
          </a:solidFill>
          <a:ln w="12700">
            <a:solidFill>
              <a:srgbClr val="2B3A5C"/>
            </a:solidFill>
            <a:prstDash val="solid"/>
          </a:ln>
        </p:spPr>
      </p:sp>
      <p:sp>
        <p:nvSpPr>
          <p:cNvPr id="10" name="!!dot6"/>
          <p:cNvSpPr/>
          <p:nvPr/>
        </p:nvSpPr>
        <p:spPr>
          <a:xfrm>
            <a:off x="10424160" y="6510528"/>
            <a:ext cx="54864" cy="54864"/>
          </a:xfrm>
          <a:prstGeom prst="ellipse">
            <a:avLst/>
          </a:prstGeom>
          <a:solidFill>
            <a:srgbClr val="2B3A5C"/>
          </a:solidFill>
          <a:ln w="12700">
            <a:solidFill>
              <a:srgbClr val="2B3A5C"/>
            </a:solidFill>
            <a:prstDash val="solid"/>
          </a:ln>
        </p:spPr>
      </p:sp>
      <p:sp>
        <p:nvSpPr>
          <p:cNvPr id="11" name="!!dot7"/>
          <p:cNvSpPr/>
          <p:nvPr/>
        </p:nvSpPr>
        <p:spPr>
          <a:xfrm>
            <a:off x="10570464" y="6510528"/>
            <a:ext cx="54864" cy="54864"/>
          </a:xfrm>
          <a:prstGeom prst="ellipse">
            <a:avLst/>
          </a:prstGeom>
          <a:solidFill>
            <a:srgbClr val="2B3A5C"/>
          </a:solidFill>
          <a:ln w="12700">
            <a:solidFill>
              <a:srgbClr val="2B3A5C"/>
            </a:solidFill>
            <a:prstDash val="solid"/>
          </a:ln>
        </p:spPr>
      </p:sp>
      <p:sp>
        <p:nvSpPr>
          <p:cNvPr id="12" name="!!dot8"/>
          <p:cNvSpPr/>
          <p:nvPr/>
        </p:nvSpPr>
        <p:spPr>
          <a:xfrm>
            <a:off x="10716768" y="6510528"/>
            <a:ext cx="100584" cy="100584"/>
          </a:xfrm>
          <a:prstGeom prst="ellipse">
            <a:avLst/>
          </a:prstGeom>
          <a:solidFill>
            <a:srgbClr val="06B6D4"/>
          </a:solidFill>
          <a:ln w="12700">
            <a:solidFill>
              <a:srgbClr val="06B6D4"/>
            </a:solidFill>
            <a:prstDash val="solid"/>
          </a:ln>
        </p:spPr>
      </p:sp>
      <p:sp>
        <p:nvSpPr>
          <p:cNvPr id="13" name="!!dot9"/>
          <p:cNvSpPr/>
          <p:nvPr/>
        </p:nvSpPr>
        <p:spPr>
          <a:xfrm>
            <a:off x="10863072" y="6510528"/>
            <a:ext cx="54864" cy="54864"/>
          </a:xfrm>
          <a:prstGeom prst="ellipse">
            <a:avLst/>
          </a:prstGeom>
          <a:solidFill>
            <a:srgbClr val="2B3A5C"/>
          </a:solidFill>
          <a:ln w="12700">
            <a:solidFill>
              <a:srgbClr val="2B3A5C"/>
            </a:solidFill>
            <a:prstDash val="solid"/>
          </a:ln>
        </p:spPr>
      </p:sp>
      <p:sp>
        <p:nvSpPr>
          <p:cNvPr id="14" name="!!dot10"/>
          <p:cNvSpPr/>
          <p:nvPr/>
        </p:nvSpPr>
        <p:spPr>
          <a:xfrm>
            <a:off x="11009376" y="6510528"/>
            <a:ext cx="54864" cy="54864"/>
          </a:xfrm>
          <a:prstGeom prst="ellipse">
            <a:avLst/>
          </a:prstGeom>
          <a:solidFill>
            <a:srgbClr val="2B3A5C"/>
          </a:solidFill>
          <a:ln w="12700">
            <a:solidFill>
              <a:srgbClr val="2B3A5C"/>
            </a:solidFill>
            <a:prstDash val="solid"/>
          </a:ln>
        </p:spPr>
      </p:sp>
      <p:sp>
        <p:nvSpPr>
          <p:cNvPr id="15" name="!!dot11"/>
          <p:cNvSpPr/>
          <p:nvPr/>
        </p:nvSpPr>
        <p:spPr>
          <a:xfrm>
            <a:off x="11155680" y="6510528"/>
            <a:ext cx="54864" cy="54864"/>
          </a:xfrm>
          <a:prstGeom prst="ellipse">
            <a:avLst/>
          </a:prstGeom>
          <a:solidFill>
            <a:srgbClr val="2B3A5C"/>
          </a:solidFill>
          <a:ln w="12700">
            <a:solidFill>
              <a:srgbClr val="2B3A5C"/>
            </a:solidFill>
            <a:prstDash val="solid"/>
          </a:ln>
        </p:spPr>
      </p:sp>
      <p:sp>
        <p:nvSpPr>
          <p:cNvPr id="16" name="!!dot12"/>
          <p:cNvSpPr/>
          <p:nvPr/>
        </p:nvSpPr>
        <p:spPr>
          <a:xfrm>
            <a:off x="11301984" y="6510528"/>
            <a:ext cx="54864" cy="54864"/>
          </a:xfrm>
          <a:prstGeom prst="ellipse">
            <a:avLst/>
          </a:prstGeom>
          <a:solidFill>
            <a:srgbClr val="2B3A5C"/>
          </a:solidFill>
          <a:ln w="12700">
            <a:solidFill>
              <a:srgbClr val="2B3A5C"/>
            </a:solidFill>
            <a:prstDash val="solid"/>
          </a:ln>
        </p:spPr>
      </p:sp>
      <p:sp>
        <p:nvSpPr>
          <p:cNvPr id="17" name="!!dot13"/>
          <p:cNvSpPr/>
          <p:nvPr/>
        </p:nvSpPr>
        <p:spPr>
          <a:xfrm>
            <a:off x="11448288" y="6510528"/>
            <a:ext cx="54864" cy="54864"/>
          </a:xfrm>
          <a:prstGeom prst="ellipse">
            <a:avLst/>
          </a:prstGeom>
          <a:solidFill>
            <a:srgbClr val="2B3A5C"/>
          </a:solidFill>
          <a:ln w="12700">
            <a:solidFill>
              <a:srgbClr val="2B3A5C"/>
            </a:solidFill>
            <a:prstDash val="solid"/>
          </a:ln>
        </p:spPr>
      </p:sp>
      <p:sp>
        <p:nvSpPr>
          <p:cNvPr id="18" name="!!dot14"/>
          <p:cNvSpPr/>
          <p:nvPr/>
        </p:nvSpPr>
        <p:spPr>
          <a:xfrm>
            <a:off x="11594592" y="6510528"/>
            <a:ext cx="54864" cy="54864"/>
          </a:xfrm>
          <a:prstGeom prst="ellipse">
            <a:avLst/>
          </a:prstGeom>
          <a:solidFill>
            <a:srgbClr val="2B3A5C"/>
          </a:solidFill>
          <a:ln w="12700">
            <a:solidFill>
              <a:srgbClr val="2B3A5C"/>
            </a:solidFill>
            <a:prstDash val="solid"/>
          </a:ln>
        </p:spPr>
      </p:sp>
      <p:sp>
        <p:nvSpPr>
          <p:cNvPr id="19" name="!!brand"/>
          <p:cNvSpPr txBox="1"/>
          <p:nvPr/>
        </p:nvSpPr>
        <p:spPr>
          <a:xfrm>
            <a:off x="502920" y="6446520"/>
            <a:ext cx="1828800" cy="201168"/>
          </a:xfrm>
          <a:prstGeom prst="rect">
            <a:avLst/>
          </a:prstGeom>
          <a:noFill/>
          <a:ln/>
        </p:spPr>
        <p:txBody>
          <a:bodyPr wrap="square" lIns="0" tIns="0" rIns="0" bIns="0" rtlCol="0" anchor="t"/>
          <a:lstStyle/>
          <a:p>
            <a:pPr indent="0" marL="0">
              <a:buNone/>
            </a:pPr>
            <a:r>
              <a:rPr lang="en-US" sz="900" b="1" spc="500" kern="0" dirty="0">
                <a:solidFill>
                  <a:srgbClr val="94A3B8"/>
                </a:solidFill>
                <a:latin typeface="Calibri" pitchFamily="34" charset="0"/>
                <a:ea typeface="Calibri" pitchFamily="34" charset="-122"/>
                <a:cs typeface="Calibri" pitchFamily="34" charset="-120"/>
              </a:rPr>
              <a:t>AVERRA</a:t>
            </a:r>
            <a:endParaRPr lang="en-US" sz="900" dirty="0"/>
          </a:p>
        </p:txBody>
      </p:sp>
      <p:sp>
        <p:nvSpPr>
          <p:cNvPr id="21" name="fun0"/>
          <p:cNvSpPr/>
          <p:nvPr/>
        </p:nvSpPr>
        <p:spPr>
          <a:xfrm>
            <a:off x="502920" y="1417320"/>
            <a:ext cx="6035040" cy="1234440"/>
          </a:xfrm>
          <a:prstGeom prst="roundRect">
            <a:avLst>
              <a:gd name="adj" fmla="val 5926"/>
            </a:avLst>
          </a:prstGeom>
          <a:solidFill>
            <a:srgbClr val="3B82F6">
              <a:alpha val="20000"/>
            </a:srgbClr>
          </a:solidFill>
          <a:ln w="15875">
            <a:solidFill>
              <a:srgbClr val="3B82F6"/>
            </a:solidFill>
            <a:prstDash val="solid"/>
          </a:ln>
        </p:spPr>
      </p:sp>
      <p:sp>
        <p:nvSpPr>
          <p:cNvPr id="22" name="Text 18"/>
          <p:cNvSpPr txBox="1"/>
          <p:nvPr/>
        </p:nvSpPr>
        <p:spPr>
          <a:xfrm>
            <a:off x="685800" y="1527048"/>
            <a:ext cx="1828800" cy="228600"/>
          </a:xfrm>
          <a:prstGeom prst="rect">
            <a:avLst/>
          </a:prstGeom>
          <a:noFill/>
          <a:ln/>
        </p:spPr>
        <p:txBody>
          <a:bodyPr wrap="square" lIns="0" tIns="0" rIns="0" bIns="0" rtlCol="0" anchor="t"/>
          <a:lstStyle/>
          <a:p>
            <a:pPr indent="0" marL="0">
              <a:buNone/>
            </a:pPr>
            <a:r>
              <a:rPr lang="en-US" sz="1050" b="1" spc="200" kern="0" dirty="0">
                <a:solidFill>
                  <a:srgbClr val="3B82F6"/>
                </a:solidFill>
                <a:latin typeface="Calibri" pitchFamily="34" charset="0"/>
                <a:ea typeface="Calibri" pitchFamily="34" charset="-122"/>
                <a:cs typeface="Calibri" pitchFamily="34" charset="-120"/>
              </a:rPr>
              <a:t>TAM</a:t>
            </a:r>
            <a:endParaRPr lang="en-US" sz="1050" dirty="0"/>
          </a:p>
        </p:txBody>
      </p:sp>
      <p:sp>
        <p:nvSpPr>
          <p:cNvPr id="23" name="Text 19"/>
          <p:cNvSpPr txBox="1"/>
          <p:nvPr/>
        </p:nvSpPr>
        <p:spPr>
          <a:xfrm>
            <a:off x="685800" y="1783080"/>
            <a:ext cx="5669280" cy="50292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₹416.9 Cr</a:t>
            </a:r>
            <a:endParaRPr lang="en-US" sz="2800" dirty="0"/>
          </a:p>
        </p:txBody>
      </p:sp>
      <p:sp>
        <p:nvSpPr>
          <p:cNvPr id="24" name="Text 20"/>
          <p:cNvSpPr txBox="1"/>
          <p:nvPr/>
        </p:nvSpPr>
        <p:spPr>
          <a:xfrm>
            <a:off x="685800" y="2286000"/>
            <a:ext cx="5760720" cy="27432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Patients × annual revenue per customer</a:t>
            </a:r>
            <a:endParaRPr lang="en-US" sz="1000" dirty="0"/>
          </a:p>
        </p:txBody>
      </p:sp>
      <p:sp>
        <p:nvSpPr>
          <p:cNvPr id="25" name="fun1"/>
          <p:cNvSpPr/>
          <p:nvPr/>
        </p:nvSpPr>
        <p:spPr>
          <a:xfrm>
            <a:off x="1280160" y="2880360"/>
            <a:ext cx="4480560" cy="1234440"/>
          </a:xfrm>
          <a:prstGeom prst="roundRect">
            <a:avLst>
              <a:gd name="adj" fmla="val 5926"/>
            </a:avLst>
          </a:prstGeom>
          <a:solidFill>
            <a:srgbClr val="06B6D4">
              <a:alpha val="20000"/>
            </a:srgbClr>
          </a:solidFill>
          <a:ln w="15875">
            <a:solidFill>
              <a:srgbClr val="06B6D4"/>
            </a:solidFill>
            <a:prstDash val="solid"/>
          </a:ln>
        </p:spPr>
      </p:sp>
      <p:sp>
        <p:nvSpPr>
          <p:cNvPr id="26" name="Text 22"/>
          <p:cNvSpPr txBox="1"/>
          <p:nvPr/>
        </p:nvSpPr>
        <p:spPr>
          <a:xfrm>
            <a:off x="1463040" y="2990088"/>
            <a:ext cx="1828800" cy="228600"/>
          </a:xfrm>
          <a:prstGeom prst="rect">
            <a:avLst/>
          </a:prstGeom>
          <a:noFill/>
          <a:ln/>
        </p:spPr>
        <p:txBody>
          <a:bodyPr wrap="square" lIns="0" tIns="0" rIns="0" bIns="0" rtlCol="0" anchor="t"/>
          <a:lstStyle/>
          <a:p>
            <a:pPr indent="0" marL="0">
              <a:buNone/>
            </a:pPr>
            <a:r>
              <a:rPr lang="en-US" sz="1050" b="1" spc="200" kern="0" dirty="0">
                <a:solidFill>
                  <a:srgbClr val="06B6D4"/>
                </a:solidFill>
                <a:latin typeface="Calibri" pitchFamily="34" charset="0"/>
                <a:ea typeface="Calibri" pitchFamily="34" charset="-122"/>
                <a:cs typeface="Calibri" pitchFamily="34" charset="-120"/>
              </a:rPr>
              <a:t>SAM</a:t>
            </a:r>
            <a:endParaRPr lang="en-US" sz="1050" dirty="0"/>
          </a:p>
        </p:txBody>
      </p:sp>
      <p:sp>
        <p:nvSpPr>
          <p:cNvPr id="27" name="Text 23"/>
          <p:cNvSpPr txBox="1"/>
          <p:nvPr/>
        </p:nvSpPr>
        <p:spPr>
          <a:xfrm>
            <a:off x="1463040" y="3246120"/>
            <a:ext cx="4114800" cy="50292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₹51.9 Cr</a:t>
            </a:r>
            <a:endParaRPr lang="en-US" sz="2800" dirty="0"/>
          </a:p>
        </p:txBody>
      </p:sp>
      <p:sp>
        <p:nvSpPr>
          <p:cNvPr id="28" name="Text 24"/>
          <p:cNvSpPr txBox="1"/>
          <p:nvPr/>
        </p:nvSpPr>
        <p:spPr>
          <a:xfrm>
            <a:off x="1463040" y="3749040"/>
            <a:ext cx="4206240" cy="27432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Urban × under neurologist follow-up</a:t>
            </a:r>
            <a:endParaRPr lang="en-US" sz="1000" dirty="0"/>
          </a:p>
        </p:txBody>
      </p:sp>
      <p:sp>
        <p:nvSpPr>
          <p:cNvPr id="29" name="fun2"/>
          <p:cNvSpPr/>
          <p:nvPr/>
        </p:nvSpPr>
        <p:spPr>
          <a:xfrm>
            <a:off x="2057400" y="4343400"/>
            <a:ext cx="2926080" cy="1234440"/>
          </a:xfrm>
          <a:prstGeom prst="roundRect">
            <a:avLst>
              <a:gd name="adj" fmla="val 5926"/>
            </a:avLst>
          </a:prstGeom>
          <a:solidFill>
            <a:srgbClr val="8B5CF6">
              <a:alpha val="20000"/>
            </a:srgbClr>
          </a:solidFill>
          <a:ln w="15875">
            <a:solidFill>
              <a:srgbClr val="8B5CF6"/>
            </a:solidFill>
            <a:prstDash val="solid"/>
          </a:ln>
        </p:spPr>
      </p:sp>
      <p:sp>
        <p:nvSpPr>
          <p:cNvPr id="30" name="Text 26"/>
          <p:cNvSpPr txBox="1"/>
          <p:nvPr/>
        </p:nvSpPr>
        <p:spPr>
          <a:xfrm>
            <a:off x="2240280" y="4453128"/>
            <a:ext cx="1828800" cy="228600"/>
          </a:xfrm>
          <a:prstGeom prst="rect">
            <a:avLst/>
          </a:prstGeom>
          <a:noFill/>
          <a:ln/>
        </p:spPr>
        <p:txBody>
          <a:bodyPr wrap="square" lIns="0" tIns="0" rIns="0" bIns="0" rtlCol="0" anchor="t"/>
          <a:lstStyle/>
          <a:p>
            <a:pPr indent="0" marL="0">
              <a:buNone/>
            </a:pPr>
            <a:r>
              <a:rPr lang="en-US" sz="1050" b="1" spc="200" kern="0" dirty="0">
                <a:solidFill>
                  <a:srgbClr val="8B5CF6"/>
                </a:solidFill>
                <a:latin typeface="Calibri" pitchFamily="34" charset="0"/>
                <a:ea typeface="Calibri" pitchFamily="34" charset="-122"/>
                <a:cs typeface="Calibri" pitchFamily="34" charset="-120"/>
              </a:rPr>
              <a:t>SOM · Yr 3</a:t>
            </a:r>
            <a:endParaRPr lang="en-US" sz="1050" dirty="0"/>
          </a:p>
        </p:txBody>
      </p:sp>
      <p:sp>
        <p:nvSpPr>
          <p:cNvPr id="31" name="Text 27"/>
          <p:cNvSpPr txBox="1"/>
          <p:nvPr/>
        </p:nvSpPr>
        <p:spPr>
          <a:xfrm>
            <a:off x="2240280" y="4709160"/>
            <a:ext cx="2560320" cy="50292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₹109.0 L</a:t>
            </a:r>
            <a:endParaRPr lang="en-US" sz="2800" dirty="0"/>
          </a:p>
        </p:txBody>
      </p:sp>
      <p:sp>
        <p:nvSpPr>
          <p:cNvPr id="32" name="Text 28"/>
          <p:cNvSpPr txBox="1"/>
          <p:nvPr/>
        </p:nvSpPr>
        <p:spPr>
          <a:xfrm>
            <a:off x="2240280" y="5212080"/>
            <a:ext cx="2651760" cy="27432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30 clinics (Mumbai + Pune) + online</a:t>
            </a:r>
            <a:endParaRPr lang="en-US" sz="1000" dirty="0"/>
          </a:p>
        </p:txBody>
      </p:sp>
      <p:graphicFrame>
        <p:nvGraphicFramePr>
          <p:cNvPr id="9" name="mk_table"/>
          <p:cNvGraphicFramePr>
            <a:graphicFrameLocks noGrp="1"/>
          </p:cNvGraphicFramePr>
          <p:nvPr>
            <p:extLst>
              <p:ext uri="{D42A27DB-BD31-4B8C-83A1-F6EECF244321}">
                <p14:modId xmlns:p14="http://schemas.microsoft.com/office/powerpoint/2010/main" val="1579011935"/>
              </p:ext>
            </p:extLst>
          </p:nvPr>
        </p:nvGraphicFramePr>
        <p:xfrm>
          <a:off x="6858000" y="1417320"/>
          <a:ext cx="4846320" cy="914400"/>
        </p:xfrm>
        <a:graphic>
          <a:graphicData uri="http://schemas.openxmlformats.org/drawingml/2006/table">
            <a:tbl>
              <a:tblPr/>
              <a:tblGrid>
                <a:gridCol w="1554480"/>
                <a:gridCol w="1737360"/>
                <a:gridCol w="1554480"/>
              </a:tblGrid>
              <a:tr h="438912">
                <a:tc>
                  <a:txBody>
                    <a:bodyPr/>
                    <a:lstStyle/>
                    <a:p>
                      <a:pPr indent="0" marL="0">
                        <a:buNone/>
                      </a:pPr>
                      <a:endParaRPr lang="en-US" sz="110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1B2847"/>
                    </a:solidFill>
                  </a:tcPr>
                </a:tc>
                <a:tc>
                  <a:txBody>
                    <a:bodyPr/>
                    <a:lstStyle/>
                    <a:p>
                      <a:pPr indent="0" marL="0">
                        <a:buNone/>
                      </a:pPr>
                      <a:r>
                        <a:rPr lang="en-US" sz="1100" b="1" dirty="0">
                          <a:solidFill>
                            <a:srgbClr val="06B6D4"/>
                          </a:solidFill>
                          <a:latin typeface="Calibri" pitchFamily="34" charset="0"/>
                          <a:ea typeface="Calibri" pitchFamily="34" charset="-122"/>
                          <a:cs typeface="Calibri" pitchFamily="34" charset="-120"/>
                        </a:rPr>
                        <a:t>ParkinSense (PD households)</a:t>
                      </a:r>
                      <a:endParaRPr lang="en-US" sz="110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1B2847"/>
                    </a:solidFill>
                  </a:tcPr>
                </a:tc>
                <a:tc>
                  <a:txBody>
                    <a:bodyPr/>
                    <a:lstStyle/>
                    <a:p>
                      <a:pPr indent="0" marL="0">
                        <a:buNone/>
                      </a:pPr>
                      <a:r>
                        <a:rPr lang="en-US" sz="1100" b="1" dirty="0">
                          <a:solidFill>
                            <a:srgbClr val="8B5CF6"/>
                          </a:solidFill>
                          <a:latin typeface="Calibri" pitchFamily="34" charset="0"/>
                          <a:ea typeface="Calibri" pitchFamily="34" charset="-122"/>
                          <a:cs typeface="Calibri" pitchFamily="34" charset="-120"/>
                        </a:rPr>
                        <a:t>TremoSense</a:t>
                      </a:r>
                      <a:endParaRPr lang="en-US" sz="110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1B2847"/>
                    </a:solidFill>
                  </a:tcPr>
                </a:tc>
              </a:tr>
              <a:tr h="438912">
                <a:tc>
                  <a:txBody>
                    <a:bodyPr/>
                    <a:lstStyle/>
                    <a:p>
                      <a:pPr indent="0" marL="0">
                        <a:buNone/>
                      </a:pPr>
                      <a:r>
                        <a:rPr lang="en-US" sz="1100" b="1" dirty="0">
                          <a:solidFill>
                            <a:srgbClr val="94A3B8"/>
                          </a:solidFill>
                          <a:latin typeface="Calibri" pitchFamily="34" charset="0"/>
                          <a:ea typeface="Calibri" pitchFamily="34" charset="-122"/>
                          <a:cs typeface="Calibri" pitchFamily="34" charset="-120"/>
                        </a:rPr>
                        <a:t>TAM customers</a:t>
                      </a:r>
                      <a:endParaRPr lang="en-US" sz="110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4,60,261</a:t>
                      </a:r>
                      <a:endParaRPr lang="en-US" sz="110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8,68,418</a:t>
                      </a:r>
                      <a:endParaRPr lang="en-US" sz="110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r h="438912">
                <a:tc>
                  <a:txBody>
                    <a:bodyPr/>
                    <a:lstStyle/>
                    <a:p>
                      <a:pPr indent="0" marL="0">
                        <a:buNone/>
                      </a:pPr>
                      <a:r>
                        <a:rPr lang="en-US" sz="1100" b="1" dirty="0">
                          <a:solidFill>
                            <a:srgbClr val="94A3B8"/>
                          </a:solidFill>
                          <a:latin typeface="Calibri" pitchFamily="34" charset="0"/>
                          <a:ea typeface="Calibri" pitchFamily="34" charset="-122"/>
                          <a:cs typeface="Calibri" pitchFamily="34" charset="-120"/>
                        </a:rPr>
                        <a:t>₹ / customer / year</a:t>
                      </a:r>
                      <a:endParaRPr lang="en-US" sz="110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₹3,069</a:t>
                      </a:r>
                      <a:endParaRPr lang="en-US" sz="110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₹3,174</a:t>
                      </a:r>
                      <a:endParaRPr lang="en-US" sz="110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r h="438912">
                <a:tc>
                  <a:txBody>
                    <a:bodyPr/>
                    <a:lstStyle/>
                    <a:p>
                      <a:pPr indent="0" marL="0">
                        <a:buNone/>
                      </a:pPr>
                      <a:r>
                        <a:rPr lang="en-US" sz="1100" b="1" dirty="0">
                          <a:solidFill>
                            <a:srgbClr val="94A3B8"/>
                          </a:solidFill>
                          <a:latin typeface="Calibri" pitchFamily="34" charset="0"/>
                          <a:ea typeface="Calibri" pitchFamily="34" charset="-122"/>
                          <a:cs typeface="Calibri" pitchFamily="34" charset="-120"/>
                        </a:rPr>
                        <a:t>TAM</a:t>
                      </a:r>
                      <a:endParaRPr lang="en-US" sz="110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₹141.3 Cr</a:t>
                      </a:r>
                      <a:endParaRPr lang="en-US" sz="110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₹275.7 Cr</a:t>
                      </a:r>
                      <a:endParaRPr lang="en-US" sz="110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r h="438912">
                <a:tc>
                  <a:txBody>
                    <a:bodyPr/>
                    <a:lstStyle/>
                    <a:p>
                      <a:pPr indent="0" marL="0">
                        <a:buNone/>
                      </a:pPr>
                      <a:r>
                        <a:rPr lang="en-US" sz="1100" b="1" dirty="0">
                          <a:solidFill>
                            <a:srgbClr val="94A3B8"/>
                          </a:solidFill>
                          <a:latin typeface="Calibri" pitchFamily="34" charset="0"/>
                          <a:ea typeface="Calibri" pitchFamily="34" charset="-122"/>
                          <a:cs typeface="Calibri" pitchFamily="34" charset="-120"/>
                        </a:rPr>
                        <a:t>SAM</a:t>
                      </a:r>
                      <a:endParaRPr lang="en-US" sz="110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₹17.6 Cr</a:t>
                      </a:r>
                      <a:endParaRPr lang="en-US" sz="110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₹34.3 Cr</a:t>
                      </a:r>
                      <a:endParaRPr lang="en-US" sz="110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r h="438912">
                <a:tc>
                  <a:txBody>
                    <a:bodyPr/>
                    <a:lstStyle/>
                    <a:p>
                      <a:pPr indent="0" marL="0">
                        <a:buNone/>
                      </a:pPr>
                      <a:r>
                        <a:rPr lang="en-US" sz="1100" b="1" dirty="0">
                          <a:solidFill>
                            <a:srgbClr val="94A3B8"/>
                          </a:solidFill>
                          <a:latin typeface="Calibri" pitchFamily="34" charset="0"/>
                          <a:ea typeface="Calibri" pitchFamily="34" charset="-122"/>
                          <a:cs typeface="Calibri" pitchFamily="34" charset="-120"/>
                        </a:rPr>
                        <a:t>SOM customers / yr</a:t>
                      </a:r>
                      <a:endParaRPr lang="en-US" sz="110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1,440</a:t>
                      </a:r>
                      <a:endParaRPr lang="en-US" sz="110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2,040</a:t>
                      </a:r>
                      <a:endParaRPr lang="en-US" sz="110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r h="438912">
                <a:tc>
                  <a:txBody>
                    <a:bodyPr/>
                    <a:lstStyle/>
                    <a:p>
                      <a:pPr indent="0" marL="0">
                        <a:buNone/>
                      </a:pPr>
                      <a:r>
                        <a:rPr lang="en-US" sz="1100" b="1" dirty="0">
                          <a:solidFill>
                            <a:srgbClr val="94A3B8"/>
                          </a:solidFill>
                          <a:latin typeface="Calibri" pitchFamily="34" charset="0"/>
                          <a:ea typeface="Calibri" pitchFamily="34" charset="-122"/>
                          <a:cs typeface="Calibri" pitchFamily="34" charset="-120"/>
                        </a:rPr>
                        <a:t>SOM</a:t>
                      </a:r>
                      <a:endParaRPr lang="en-US" sz="110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₹44.2 L</a:t>
                      </a:r>
                      <a:endParaRPr lang="en-US" sz="110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100" dirty="0">
                          <a:solidFill>
                            <a:srgbClr val="FFFFFF"/>
                          </a:solidFill>
                          <a:latin typeface="Calibri" pitchFamily="34" charset="0"/>
                          <a:ea typeface="Calibri" pitchFamily="34" charset="-122"/>
                          <a:cs typeface="Calibri" pitchFamily="34" charset="-120"/>
                        </a:rPr>
                        <a:t>₹64.8 L</a:t>
                      </a:r>
                      <a:endParaRPr lang="en-US" sz="110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bl>
          </a:graphicData>
        </a:graphic>
      </p:graphicFrame>
      <p:sp>
        <p:nvSpPr>
          <p:cNvPr id="34" name="mk_note"/>
          <p:cNvSpPr txBox="1"/>
          <p:nvPr/>
        </p:nvSpPr>
        <p:spPr>
          <a:xfrm>
            <a:off x="6858000" y="4617720"/>
            <a:ext cx="4846320" cy="914400"/>
          </a:xfrm>
          <a:prstGeom prst="rect">
            <a:avLst/>
          </a:prstGeom>
          <a:noFill/>
          <a:ln/>
        </p:spPr>
        <p:txBody>
          <a:bodyPr wrap="square" lIns="0" tIns="0" rIns="0" bIns="0" rtlCol="0" anchor="t"/>
          <a:lstStyle/>
          <a:p>
            <a:pPr indent="0" marL="0">
              <a:buNone/>
            </a:pPr>
            <a:r>
              <a:rPr lang="en-US" sz="1050" b="1" dirty="0">
                <a:solidFill>
                  <a:srgbClr val="F59E0B"/>
                </a:solidFill>
                <a:latin typeface="Calibri" pitchFamily="34" charset="0"/>
                <a:ea typeface="Calibri" pitchFamily="34" charset="-122"/>
                <a:cs typeface="Calibri" pitchFamily="34" charset="-120"/>
              </a:rPr>
              <a:t>Not sized: </a:t>
            </a:r>
            <a:pPr indent="0" marL="0">
              <a:buNone/>
            </a:pPr>
            <a:r>
              <a:rPr lang="en-US" sz="1050" dirty="0">
                <a:solidFill>
                  <a:srgbClr val="CBD5E1"/>
                </a:solidFill>
                <a:latin typeface="Calibri" pitchFamily="34" charset="0"/>
                <a:ea typeface="Calibri" pitchFamily="34" charset="-122"/>
                <a:cs typeface="Calibri" pitchFamily="34" charset="-120"/>
              </a:rPr>
              <a:t>the general Indian wellness-wearable market — no sourced figure found. Estimates (purple in the model): 40% under follow-up, 50% eating-disruptive tremor, all prices.</a:t>
            </a:r>
            <a:endParaRPr lang="en-US" sz="1050" dirty="0"/>
          </a:p>
        </p:txBody>
      </p:sp>
      <p:sp>
        <p:nvSpPr>
          <p:cNvPr id="35" name="sources"/>
          <p:cNvSpPr txBox="1"/>
          <p:nvPr/>
        </p:nvSpPr>
        <p:spPr>
          <a:xfrm>
            <a:off x="502920" y="6199632"/>
            <a:ext cx="8778240" cy="274320"/>
          </a:xfrm>
          <a:prstGeom prst="rect">
            <a:avLst/>
          </a:prstGeom>
          <a:noFill/>
          <a:ln/>
        </p:spPr>
        <p:txBody>
          <a:bodyPr wrap="square" lIns="0" tIns="0" rIns="0" bIns="0" rtlCol="0" anchor="t"/>
          <a:lstStyle/>
          <a:p>
            <a:pPr indent="0" marL="0">
              <a:buNone/>
            </a:pPr>
            <a:r>
              <a:rPr lang="en-US" sz="850" dirty="0">
                <a:solidFill>
                  <a:srgbClr val="94A3B8"/>
                </a:solidFill>
                <a:latin typeface="Calibri" pitchFamily="34" charset="0"/>
                <a:ea typeface="Calibri" pitchFamily="34" charset="-122"/>
                <a:cs typeface="Calibri" pitchFamily="34" charset="-120"/>
              </a:rPr>
              <a:t>UNFPA 2023 (149M aged 60+); PD 308.9/lakh aged 60+ (Je et al., via Cureus 2025); ET 89.96/lakh (Chin et al. 2021); Census 2011 (31.1% urban). Workings: model › Market.</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5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50"/>
                                        <p:tgtEl>
                                          <p:spTgt spid="22"/>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450"/>
                                        <p:tgtEl>
                                          <p:spTgt spid="23"/>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45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450"/>
                                        <p:tgtEl>
                                          <p:spTgt spid="25"/>
                                        </p:tgtEl>
                                      </p:cBhvr>
                                    </p:animEffect>
                                  </p:childTnLst>
                                </p:cTn>
                              </p:par>
                              <p:par>
                                <p:cTn id="22" presetID="10" presetClass="entr" presetSubtype="0" fill="hold"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450"/>
                                        <p:tgtEl>
                                          <p:spTgt spid="26"/>
                                        </p:tgtEl>
                                      </p:cBhvr>
                                    </p:animEffect>
                                  </p:childTnLst>
                                </p:cTn>
                              </p:par>
                              <p:par>
                                <p:cTn id="25" presetID="10"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50"/>
                                        <p:tgtEl>
                                          <p:spTgt spid="27"/>
                                        </p:tgtEl>
                                      </p:cBhvr>
                                    </p:animEffect>
                                  </p:childTnLst>
                                </p:cTn>
                              </p:par>
                              <p:par>
                                <p:cTn id="28" presetID="10" presetClass="entr" presetSubtype="0" fill="hold"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450"/>
                                        <p:tgtEl>
                                          <p:spTgt spid="2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450"/>
                                        <p:tgtEl>
                                          <p:spTgt spid="29"/>
                                        </p:tgtEl>
                                      </p:cBhvr>
                                    </p:animEffect>
                                  </p:childTnLst>
                                </p:cTn>
                              </p:par>
                              <p:par>
                                <p:cTn id="36" presetID="10" presetClass="entr" presetSubtype="0" fill="hold" nodeType="with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450"/>
                                        <p:tgtEl>
                                          <p:spTgt spid="30"/>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450"/>
                                        <p:tgtEl>
                                          <p:spTgt spid="31"/>
                                        </p:tgtEl>
                                      </p:cBhvr>
                                    </p:animEffect>
                                  </p:childTnLst>
                                </p:cTn>
                              </p:par>
                              <p:par>
                                <p:cTn id="42" presetID="10" presetClass="entr" presetSubtype="0" fill="hold" nodeType="with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fade">
                                      <p:cBhvr>
                                        <p:cTn id="44" dur="450"/>
                                        <p:tgtEl>
                                          <p:spTgt spid="3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450"/>
                                        <p:tgtEl>
                                          <p:spTgt spid="9"/>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4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kicker"/>
          <p:cNvSpPr txBox="1"/>
          <p:nvPr/>
        </p:nvSpPr>
        <p:spPr>
          <a:xfrm>
            <a:off x="502920" y="274320"/>
            <a:ext cx="7315200" cy="256032"/>
          </a:xfrm>
          <a:prstGeom prst="rect">
            <a:avLst/>
          </a:prstGeom>
          <a:noFill/>
          <a:ln/>
        </p:spPr>
        <p:txBody>
          <a:bodyPr wrap="square" lIns="0" tIns="0" rIns="0" bIns="0" rtlCol="0" anchor="t"/>
          <a:lstStyle/>
          <a:p>
            <a:pPr indent="0" marL="0">
              <a:buNone/>
            </a:pPr>
            <a:r>
              <a:rPr lang="en-US" sz="1100" b="1" spc="300" kern="0" dirty="0">
                <a:solidFill>
                  <a:srgbClr val="06B6D4"/>
                </a:solidFill>
                <a:latin typeface="Calibri" pitchFamily="34" charset="0"/>
                <a:ea typeface="Calibri" pitchFamily="34" charset="-122"/>
                <a:cs typeface="Calibri" pitchFamily="34" charset="-120"/>
              </a:rPr>
              <a:t>08 · BUSINESS MODEL</a:t>
            </a:r>
            <a:endParaRPr lang="en-US" sz="1100" dirty="0"/>
          </a:p>
        </p:txBody>
      </p:sp>
      <p:sp>
        <p:nvSpPr>
          <p:cNvPr id="3" name="!!title"/>
          <p:cNvSpPr txBox="1"/>
          <p:nvPr/>
        </p:nvSpPr>
        <p:spPr>
          <a:xfrm>
            <a:off x="502920" y="530352"/>
            <a:ext cx="10241280" cy="64008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Clinics bring patients; families buy; labs fund early data</a:t>
            </a:r>
            <a:endParaRPr lang="en-US" sz="2800" dirty="0"/>
          </a:p>
        </p:txBody>
      </p:sp>
      <p:pic>
        <p:nvPicPr>
          <p:cNvPr id="4" name="!!mark" descr="../public/brand/averra-mark-white.png">    </p:cNvPr>
          <p:cNvPicPr>
            <a:picLocks noChangeAspect="1"/>
          </p:cNvPicPr>
          <p:nvPr/>
        </p:nvPicPr>
        <p:blipFill>
          <a:blip r:embed="rId1"/>
          <a:stretch>
            <a:fillRect/>
          </a:stretch>
        </p:blipFill>
        <p:spPr>
          <a:xfrm>
            <a:off x="11201400" y="292608"/>
            <a:ext cx="502920" cy="502920"/>
          </a:xfrm>
          <a:prstGeom prst="rect">
            <a:avLst/>
          </a:prstGeom>
        </p:spPr>
      </p:pic>
      <p:sp>
        <p:nvSpPr>
          <p:cNvPr id="5" name="!!dot1"/>
          <p:cNvSpPr/>
          <p:nvPr/>
        </p:nvSpPr>
        <p:spPr>
          <a:xfrm>
            <a:off x="9692640" y="6510528"/>
            <a:ext cx="54864" cy="54864"/>
          </a:xfrm>
          <a:prstGeom prst="ellipse">
            <a:avLst/>
          </a:prstGeom>
          <a:solidFill>
            <a:srgbClr val="2B3A5C"/>
          </a:solidFill>
          <a:ln w="12700">
            <a:solidFill>
              <a:srgbClr val="2B3A5C"/>
            </a:solidFill>
            <a:prstDash val="solid"/>
          </a:ln>
        </p:spPr>
      </p:sp>
      <p:sp>
        <p:nvSpPr>
          <p:cNvPr id="6" name="!!dot2"/>
          <p:cNvSpPr/>
          <p:nvPr/>
        </p:nvSpPr>
        <p:spPr>
          <a:xfrm>
            <a:off x="9838944" y="6510528"/>
            <a:ext cx="54864" cy="54864"/>
          </a:xfrm>
          <a:prstGeom prst="ellipse">
            <a:avLst/>
          </a:prstGeom>
          <a:solidFill>
            <a:srgbClr val="2B3A5C"/>
          </a:solidFill>
          <a:ln w="12700">
            <a:solidFill>
              <a:srgbClr val="2B3A5C"/>
            </a:solidFill>
            <a:prstDash val="solid"/>
          </a:ln>
        </p:spPr>
      </p:sp>
      <p:sp>
        <p:nvSpPr>
          <p:cNvPr id="7" name="!!dot3"/>
          <p:cNvSpPr/>
          <p:nvPr/>
        </p:nvSpPr>
        <p:spPr>
          <a:xfrm>
            <a:off x="9985248" y="6510528"/>
            <a:ext cx="54864" cy="54864"/>
          </a:xfrm>
          <a:prstGeom prst="ellipse">
            <a:avLst/>
          </a:prstGeom>
          <a:solidFill>
            <a:srgbClr val="2B3A5C"/>
          </a:solidFill>
          <a:ln w="12700">
            <a:solidFill>
              <a:srgbClr val="2B3A5C"/>
            </a:solidFill>
            <a:prstDash val="solid"/>
          </a:ln>
        </p:spPr>
      </p:sp>
      <p:sp>
        <p:nvSpPr>
          <p:cNvPr id="8" name="!!dot4"/>
          <p:cNvSpPr/>
          <p:nvPr/>
        </p:nvSpPr>
        <p:spPr>
          <a:xfrm>
            <a:off x="10131552" y="6510528"/>
            <a:ext cx="54864" cy="54864"/>
          </a:xfrm>
          <a:prstGeom prst="ellipse">
            <a:avLst/>
          </a:prstGeom>
          <a:solidFill>
            <a:srgbClr val="2B3A5C"/>
          </a:solidFill>
          <a:ln w="12700">
            <a:solidFill>
              <a:srgbClr val="2B3A5C"/>
            </a:solidFill>
            <a:prstDash val="solid"/>
          </a:ln>
        </p:spPr>
      </p:sp>
      <p:sp>
        <p:nvSpPr>
          <p:cNvPr id="9" name="!!dot5"/>
          <p:cNvSpPr/>
          <p:nvPr/>
        </p:nvSpPr>
        <p:spPr>
          <a:xfrm>
            <a:off x="10277856" y="6510528"/>
            <a:ext cx="54864" cy="54864"/>
          </a:xfrm>
          <a:prstGeom prst="ellipse">
            <a:avLst/>
          </a:prstGeom>
          <a:solidFill>
            <a:srgbClr val="2B3A5C"/>
          </a:solidFill>
          <a:ln w="12700">
            <a:solidFill>
              <a:srgbClr val="2B3A5C"/>
            </a:solidFill>
            <a:prstDash val="solid"/>
          </a:ln>
        </p:spPr>
      </p:sp>
      <p:sp>
        <p:nvSpPr>
          <p:cNvPr id="10" name="!!dot6"/>
          <p:cNvSpPr/>
          <p:nvPr/>
        </p:nvSpPr>
        <p:spPr>
          <a:xfrm>
            <a:off x="10424160" y="6510528"/>
            <a:ext cx="54864" cy="54864"/>
          </a:xfrm>
          <a:prstGeom prst="ellipse">
            <a:avLst/>
          </a:prstGeom>
          <a:solidFill>
            <a:srgbClr val="2B3A5C"/>
          </a:solidFill>
          <a:ln w="12700">
            <a:solidFill>
              <a:srgbClr val="2B3A5C"/>
            </a:solidFill>
            <a:prstDash val="solid"/>
          </a:ln>
        </p:spPr>
      </p:sp>
      <p:sp>
        <p:nvSpPr>
          <p:cNvPr id="11" name="!!dot7"/>
          <p:cNvSpPr/>
          <p:nvPr/>
        </p:nvSpPr>
        <p:spPr>
          <a:xfrm>
            <a:off x="10570464" y="6510528"/>
            <a:ext cx="54864" cy="54864"/>
          </a:xfrm>
          <a:prstGeom prst="ellipse">
            <a:avLst/>
          </a:prstGeom>
          <a:solidFill>
            <a:srgbClr val="2B3A5C"/>
          </a:solidFill>
          <a:ln w="12700">
            <a:solidFill>
              <a:srgbClr val="2B3A5C"/>
            </a:solidFill>
            <a:prstDash val="solid"/>
          </a:ln>
        </p:spPr>
      </p:sp>
      <p:sp>
        <p:nvSpPr>
          <p:cNvPr id="12" name="!!dot8"/>
          <p:cNvSpPr/>
          <p:nvPr/>
        </p:nvSpPr>
        <p:spPr>
          <a:xfrm>
            <a:off x="10716768" y="6510528"/>
            <a:ext cx="54864" cy="54864"/>
          </a:xfrm>
          <a:prstGeom prst="ellipse">
            <a:avLst/>
          </a:prstGeom>
          <a:solidFill>
            <a:srgbClr val="2B3A5C"/>
          </a:solidFill>
          <a:ln w="12700">
            <a:solidFill>
              <a:srgbClr val="2B3A5C"/>
            </a:solidFill>
            <a:prstDash val="solid"/>
          </a:ln>
        </p:spPr>
      </p:sp>
      <p:sp>
        <p:nvSpPr>
          <p:cNvPr id="13" name="!!dot9"/>
          <p:cNvSpPr/>
          <p:nvPr/>
        </p:nvSpPr>
        <p:spPr>
          <a:xfrm>
            <a:off x="10863072" y="6510528"/>
            <a:ext cx="100584" cy="100584"/>
          </a:xfrm>
          <a:prstGeom prst="ellipse">
            <a:avLst/>
          </a:prstGeom>
          <a:solidFill>
            <a:srgbClr val="06B6D4"/>
          </a:solidFill>
          <a:ln w="12700">
            <a:solidFill>
              <a:srgbClr val="06B6D4"/>
            </a:solidFill>
            <a:prstDash val="solid"/>
          </a:ln>
        </p:spPr>
      </p:sp>
      <p:sp>
        <p:nvSpPr>
          <p:cNvPr id="14" name="!!dot10"/>
          <p:cNvSpPr/>
          <p:nvPr/>
        </p:nvSpPr>
        <p:spPr>
          <a:xfrm>
            <a:off x="11009376" y="6510528"/>
            <a:ext cx="54864" cy="54864"/>
          </a:xfrm>
          <a:prstGeom prst="ellipse">
            <a:avLst/>
          </a:prstGeom>
          <a:solidFill>
            <a:srgbClr val="2B3A5C"/>
          </a:solidFill>
          <a:ln w="12700">
            <a:solidFill>
              <a:srgbClr val="2B3A5C"/>
            </a:solidFill>
            <a:prstDash val="solid"/>
          </a:ln>
        </p:spPr>
      </p:sp>
      <p:sp>
        <p:nvSpPr>
          <p:cNvPr id="15" name="!!dot11"/>
          <p:cNvSpPr/>
          <p:nvPr/>
        </p:nvSpPr>
        <p:spPr>
          <a:xfrm>
            <a:off x="11155680" y="6510528"/>
            <a:ext cx="54864" cy="54864"/>
          </a:xfrm>
          <a:prstGeom prst="ellipse">
            <a:avLst/>
          </a:prstGeom>
          <a:solidFill>
            <a:srgbClr val="2B3A5C"/>
          </a:solidFill>
          <a:ln w="12700">
            <a:solidFill>
              <a:srgbClr val="2B3A5C"/>
            </a:solidFill>
            <a:prstDash val="solid"/>
          </a:ln>
        </p:spPr>
      </p:sp>
      <p:sp>
        <p:nvSpPr>
          <p:cNvPr id="16" name="!!dot12"/>
          <p:cNvSpPr/>
          <p:nvPr/>
        </p:nvSpPr>
        <p:spPr>
          <a:xfrm>
            <a:off x="11301984" y="6510528"/>
            <a:ext cx="54864" cy="54864"/>
          </a:xfrm>
          <a:prstGeom prst="ellipse">
            <a:avLst/>
          </a:prstGeom>
          <a:solidFill>
            <a:srgbClr val="2B3A5C"/>
          </a:solidFill>
          <a:ln w="12700">
            <a:solidFill>
              <a:srgbClr val="2B3A5C"/>
            </a:solidFill>
            <a:prstDash val="solid"/>
          </a:ln>
        </p:spPr>
      </p:sp>
      <p:sp>
        <p:nvSpPr>
          <p:cNvPr id="17" name="!!dot13"/>
          <p:cNvSpPr/>
          <p:nvPr/>
        </p:nvSpPr>
        <p:spPr>
          <a:xfrm>
            <a:off x="11448288" y="6510528"/>
            <a:ext cx="54864" cy="54864"/>
          </a:xfrm>
          <a:prstGeom prst="ellipse">
            <a:avLst/>
          </a:prstGeom>
          <a:solidFill>
            <a:srgbClr val="2B3A5C"/>
          </a:solidFill>
          <a:ln w="12700">
            <a:solidFill>
              <a:srgbClr val="2B3A5C"/>
            </a:solidFill>
            <a:prstDash val="solid"/>
          </a:ln>
        </p:spPr>
      </p:sp>
      <p:sp>
        <p:nvSpPr>
          <p:cNvPr id="18" name="!!dot14"/>
          <p:cNvSpPr/>
          <p:nvPr/>
        </p:nvSpPr>
        <p:spPr>
          <a:xfrm>
            <a:off x="11594592" y="6510528"/>
            <a:ext cx="54864" cy="54864"/>
          </a:xfrm>
          <a:prstGeom prst="ellipse">
            <a:avLst/>
          </a:prstGeom>
          <a:solidFill>
            <a:srgbClr val="2B3A5C"/>
          </a:solidFill>
          <a:ln w="12700">
            <a:solidFill>
              <a:srgbClr val="2B3A5C"/>
            </a:solidFill>
            <a:prstDash val="solid"/>
          </a:ln>
        </p:spPr>
      </p:sp>
      <p:sp>
        <p:nvSpPr>
          <p:cNvPr id="19" name="!!brand"/>
          <p:cNvSpPr txBox="1"/>
          <p:nvPr/>
        </p:nvSpPr>
        <p:spPr>
          <a:xfrm>
            <a:off x="502920" y="6446520"/>
            <a:ext cx="1828800" cy="201168"/>
          </a:xfrm>
          <a:prstGeom prst="rect">
            <a:avLst/>
          </a:prstGeom>
          <a:noFill/>
          <a:ln/>
        </p:spPr>
        <p:txBody>
          <a:bodyPr wrap="square" lIns="0" tIns="0" rIns="0" bIns="0" rtlCol="0" anchor="t"/>
          <a:lstStyle/>
          <a:p>
            <a:pPr indent="0" marL="0">
              <a:buNone/>
            </a:pPr>
            <a:r>
              <a:rPr lang="en-US" sz="900" b="1" spc="500" kern="0" dirty="0">
                <a:solidFill>
                  <a:srgbClr val="94A3B8"/>
                </a:solidFill>
                <a:latin typeface="Calibri" pitchFamily="34" charset="0"/>
                <a:ea typeface="Calibri" pitchFamily="34" charset="-122"/>
                <a:cs typeface="Calibri" pitchFamily="34" charset="-120"/>
              </a:rPr>
              <a:t>AVERRA</a:t>
            </a:r>
            <a:endParaRPr lang="en-US" sz="900" dirty="0"/>
          </a:p>
        </p:txBody>
      </p:sp>
      <p:sp>
        <p:nvSpPr>
          <p:cNvPr id="21" name="bmc0"/>
          <p:cNvSpPr/>
          <p:nvPr/>
        </p:nvSpPr>
        <p:spPr>
          <a:xfrm>
            <a:off x="502920" y="1371600"/>
            <a:ext cx="2148840" cy="2286000"/>
          </a:xfrm>
          <a:prstGeom prst="roundRect">
            <a:avLst>
              <a:gd name="adj" fmla="val 2979"/>
            </a:avLst>
          </a:prstGeom>
          <a:solidFill>
            <a:srgbClr val="16213A"/>
          </a:solidFill>
          <a:ln w="9525">
            <a:solidFill>
              <a:srgbClr val="2B3A5C"/>
            </a:solidFill>
            <a:prstDash val="solid"/>
          </a:ln>
        </p:spPr>
      </p:sp>
      <p:sp>
        <p:nvSpPr>
          <p:cNvPr id="22" name="Text 18"/>
          <p:cNvSpPr txBox="1"/>
          <p:nvPr/>
        </p:nvSpPr>
        <p:spPr>
          <a:xfrm>
            <a:off x="630936" y="1463040"/>
            <a:ext cx="1920240" cy="201168"/>
          </a:xfrm>
          <a:prstGeom prst="rect">
            <a:avLst/>
          </a:prstGeom>
          <a:noFill/>
          <a:ln/>
        </p:spPr>
        <p:txBody>
          <a:bodyPr wrap="square" lIns="0" tIns="0" rIns="0" bIns="0" rtlCol="0" anchor="t"/>
          <a:lstStyle/>
          <a:p>
            <a:pPr indent="0" marL="0">
              <a:buNone/>
            </a:pPr>
            <a:r>
              <a:rPr lang="en-US" sz="900" b="1" spc="100" kern="0" dirty="0">
                <a:solidFill>
                  <a:srgbClr val="94A3B8"/>
                </a:solidFill>
                <a:latin typeface="Calibri" pitchFamily="34" charset="0"/>
                <a:ea typeface="Calibri" pitchFamily="34" charset="-122"/>
                <a:cs typeface="Calibri" pitchFamily="34" charset="-120"/>
              </a:rPr>
              <a:t>KEY PARTNERS</a:t>
            </a:r>
            <a:endParaRPr lang="en-US" sz="900" dirty="0"/>
          </a:p>
        </p:txBody>
      </p:sp>
      <p:sp>
        <p:nvSpPr>
          <p:cNvPr id="23" name="Text 19"/>
          <p:cNvSpPr txBox="1"/>
          <p:nvPr/>
        </p:nvSpPr>
        <p:spPr>
          <a:xfrm>
            <a:off x="630936" y="1700784"/>
            <a:ext cx="1920240" cy="1901952"/>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Neurology clinics · OT centres · university labs · test lab · contract assembler</a:t>
            </a:r>
            <a:endParaRPr lang="en-US" sz="1100" dirty="0"/>
          </a:p>
        </p:txBody>
      </p:sp>
      <p:sp>
        <p:nvSpPr>
          <p:cNvPr id="24" name="bmc1"/>
          <p:cNvSpPr/>
          <p:nvPr/>
        </p:nvSpPr>
        <p:spPr>
          <a:xfrm>
            <a:off x="2743200" y="1371600"/>
            <a:ext cx="2148840" cy="1097280"/>
          </a:xfrm>
          <a:prstGeom prst="roundRect">
            <a:avLst>
              <a:gd name="adj" fmla="val 5833"/>
            </a:avLst>
          </a:prstGeom>
          <a:solidFill>
            <a:srgbClr val="16213A"/>
          </a:solidFill>
          <a:ln w="9525">
            <a:solidFill>
              <a:srgbClr val="2B3A5C"/>
            </a:solidFill>
            <a:prstDash val="solid"/>
          </a:ln>
        </p:spPr>
      </p:sp>
      <p:sp>
        <p:nvSpPr>
          <p:cNvPr id="25" name="Text 21"/>
          <p:cNvSpPr txBox="1"/>
          <p:nvPr/>
        </p:nvSpPr>
        <p:spPr>
          <a:xfrm>
            <a:off x="2871216" y="1463040"/>
            <a:ext cx="1920240" cy="201168"/>
          </a:xfrm>
          <a:prstGeom prst="rect">
            <a:avLst/>
          </a:prstGeom>
          <a:noFill/>
          <a:ln/>
        </p:spPr>
        <p:txBody>
          <a:bodyPr wrap="square" lIns="0" tIns="0" rIns="0" bIns="0" rtlCol="0" anchor="t"/>
          <a:lstStyle/>
          <a:p>
            <a:pPr indent="0" marL="0">
              <a:buNone/>
            </a:pPr>
            <a:r>
              <a:rPr lang="en-US" sz="900" b="1" spc="100" kern="0" dirty="0">
                <a:solidFill>
                  <a:srgbClr val="94A3B8"/>
                </a:solidFill>
                <a:latin typeface="Calibri" pitchFamily="34" charset="0"/>
                <a:ea typeface="Calibri" pitchFamily="34" charset="-122"/>
                <a:cs typeface="Calibri" pitchFamily="34" charset="-120"/>
              </a:rPr>
              <a:t>KEY ACTIVITIES</a:t>
            </a:r>
            <a:endParaRPr lang="en-US" sz="900" dirty="0"/>
          </a:p>
        </p:txBody>
      </p:sp>
      <p:sp>
        <p:nvSpPr>
          <p:cNvPr id="26" name="Text 22"/>
          <p:cNvSpPr txBox="1"/>
          <p:nvPr/>
        </p:nvSpPr>
        <p:spPr>
          <a:xfrm>
            <a:off x="2871216" y="1700784"/>
            <a:ext cx="1920240" cy="713232"/>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User studies · CDSCO + ISO 13485 · firmware &amp; DSP · small-batch assembly</a:t>
            </a:r>
            <a:endParaRPr lang="en-US" sz="1100" dirty="0"/>
          </a:p>
        </p:txBody>
      </p:sp>
      <p:sp>
        <p:nvSpPr>
          <p:cNvPr id="27" name="bmc2"/>
          <p:cNvSpPr/>
          <p:nvPr/>
        </p:nvSpPr>
        <p:spPr>
          <a:xfrm>
            <a:off x="2743200" y="2560320"/>
            <a:ext cx="2148840" cy="1097280"/>
          </a:xfrm>
          <a:prstGeom prst="roundRect">
            <a:avLst>
              <a:gd name="adj" fmla="val 5833"/>
            </a:avLst>
          </a:prstGeom>
          <a:solidFill>
            <a:srgbClr val="16213A"/>
          </a:solidFill>
          <a:ln w="9525">
            <a:solidFill>
              <a:srgbClr val="2B3A5C"/>
            </a:solidFill>
            <a:prstDash val="solid"/>
          </a:ln>
        </p:spPr>
      </p:sp>
      <p:sp>
        <p:nvSpPr>
          <p:cNvPr id="28" name="Text 24"/>
          <p:cNvSpPr txBox="1"/>
          <p:nvPr/>
        </p:nvSpPr>
        <p:spPr>
          <a:xfrm>
            <a:off x="2871216" y="2651760"/>
            <a:ext cx="1920240" cy="201168"/>
          </a:xfrm>
          <a:prstGeom prst="rect">
            <a:avLst/>
          </a:prstGeom>
          <a:noFill/>
          <a:ln/>
        </p:spPr>
        <p:txBody>
          <a:bodyPr wrap="square" lIns="0" tIns="0" rIns="0" bIns="0" rtlCol="0" anchor="t"/>
          <a:lstStyle/>
          <a:p>
            <a:pPr indent="0" marL="0">
              <a:buNone/>
            </a:pPr>
            <a:r>
              <a:rPr lang="en-US" sz="900" b="1" spc="100" kern="0" dirty="0">
                <a:solidFill>
                  <a:srgbClr val="94A3B8"/>
                </a:solidFill>
                <a:latin typeface="Calibri" pitchFamily="34" charset="0"/>
                <a:ea typeface="Calibri" pitchFamily="34" charset="-122"/>
                <a:cs typeface="Calibri" pitchFamily="34" charset="-120"/>
              </a:rPr>
              <a:t>KEY RESOURCES</a:t>
            </a:r>
            <a:endParaRPr lang="en-US" sz="900" dirty="0"/>
          </a:p>
        </p:txBody>
      </p:sp>
      <p:sp>
        <p:nvSpPr>
          <p:cNvPr id="29" name="Text 25"/>
          <p:cNvSpPr txBox="1"/>
          <p:nvPr/>
        </p:nvSpPr>
        <p:spPr>
          <a:xfrm>
            <a:off x="2871216" y="2889504"/>
            <a:ext cx="1920240" cy="713232"/>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Sensing + control IP · bench evidence · two papers · prototypes</a:t>
            </a:r>
            <a:endParaRPr lang="en-US" sz="1100" dirty="0"/>
          </a:p>
        </p:txBody>
      </p:sp>
      <p:sp>
        <p:nvSpPr>
          <p:cNvPr id="30" name="bmc3"/>
          <p:cNvSpPr/>
          <p:nvPr/>
        </p:nvSpPr>
        <p:spPr>
          <a:xfrm>
            <a:off x="4983480" y="1371600"/>
            <a:ext cx="2240280" cy="2286000"/>
          </a:xfrm>
          <a:prstGeom prst="roundRect">
            <a:avLst>
              <a:gd name="adj" fmla="val 2857"/>
            </a:avLst>
          </a:prstGeom>
          <a:solidFill>
            <a:srgbClr val="16213A"/>
          </a:solidFill>
          <a:ln w="9525">
            <a:solidFill>
              <a:srgbClr val="06B6D4"/>
            </a:solidFill>
            <a:prstDash val="solid"/>
          </a:ln>
        </p:spPr>
      </p:sp>
      <p:sp>
        <p:nvSpPr>
          <p:cNvPr id="31" name="Text 27"/>
          <p:cNvSpPr txBox="1"/>
          <p:nvPr/>
        </p:nvSpPr>
        <p:spPr>
          <a:xfrm>
            <a:off x="5111496" y="1463040"/>
            <a:ext cx="2011680" cy="201168"/>
          </a:xfrm>
          <a:prstGeom prst="rect">
            <a:avLst/>
          </a:prstGeom>
          <a:noFill/>
          <a:ln/>
        </p:spPr>
        <p:txBody>
          <a:bodyPr wrap="square" lIns="0" tIns="0" rIns="0" bIns="0" rtlCol="0" anchor="t"/>
          <a:lstStyle/>
          <a:p>
            <a:pPr indent="0" marL="0">
              <a:buNone/>
            </a:pPr>
            <a:r>
              <a:rPr lang="en-US" sz="900" b="1" spc="100" kern="0" dirty="0">
                <a:solidFill>
                  <a:srgbClr val="06B6D4"/>
                </a:solidFill>
                <a:latin typeface="Calibri" pitchFamily="34" charset="0"/>
                <a:ea typeface="Calibri" pitchFamily="34" charset="-122"/>
                <a:cs typeface="Calibri" pitchFamily="34" charset="-120"/>
              </a:rPr>
              <a:t>VALUE PROPOSITIONS</a:t>
            </a:r>
            <a:endParaRPr lang="en-US" sz="900" dirty="0"/>
          </a:p>
        </p:txBody>
      </p:sp>
      <p:sp>
        <p:nvSpPr>
          <p:cNvPr id="32" name="Text 28"/>
          <p:cNvSpPr txBox="1"/>
          <p:nvPr/>
        </p:nvSpPr>
        <p:spPr>
          <a:xfrm>
            <a:off x="5111496" y="1700784"/>
            <a:ext cx="2011680" cy="1901952"/>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ParkinSense: movement insight on a wellness wearable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TremoSense: active tremor assistance at an Indian price</a:t>
            </a:r>
            <a:endParaRPr lang="en-US" sz="1100" dirty="0"/>
          </a:p>
        </p:txBody>
      </p:sp>
      <p:sp>
        <p:nvSpPr>
          <p:cNvPr id="33" name="bmc4"/>
          <p:cNvSpPr/>
          <p:nvPr/>
        </p:nvSpPr>
        <p:spPr>
          <a:xfrm>
            <a:off x="7315200" y="1371600"/>
            <a:ext cx="2148840" cy="1097280"/>
          </a:xfrm>
          <a:prstGeom prst="roundRect">
            <a:avLst>
              <a:gd name="adj" fmla="val 5833"/>
            </a:avLst>
          </a:prstGeom>
          <a:solidFill>
            <a:srgbClr val="16213A"/>
          </a:solidFill>
          <a:ln w="9525">
            <a:solidFill>
              <a:srgbClr val="2B3A5C"/>
            </a:solidFill>
            <a:prstDash val="solid"/>
          </a:ln>
        </p:spPr>
      </p:sp>
      <p:sp>
        <p:nvSpPr>
          <p:cNvPr id="34" name="Text 30"/>
          <p:cNvSpPr txBox="1"/>
          <p:nvPr/>
        </p:nvSpPr>
        <p:spPr>
          <a:xfrm>
            <a:off x="7443216" y="1463040"/>
            <a:ext cx="1920240" cy="201168"/>
          </a:xfrm>
          <a:prstGeom prst="rect">
            <a:avLst/>
          </a:prstGeom>
          <a:noFill/>
          <a:ln/>
        </p:spPr>
        <p:txBody>
          <a:bodyPr wrap="square" lIns="0" tIns="0" rIns="0" bIns="0" rtlCol="0" anchor="t"/>
          <a:lstStyle/>
          <a:p>
            <a:pPr indent="0" marL="0">
              <a:buNone/>
            </a:pPr>
            <a:r>
              <a:rPr lang="en-US" sz="900" b="1" spc="100" kern="0" dirty="0">
                <a:solidFill>
                  <a:srgbClr val="94A3B8"/>
                </a:solidFill>
                <a:latin typeface="Calibri" pitchFamily="34" charset="0"/>
                <a:ea typeface="Calibri" pitchFamily="34" charset="-122"/>
                <a:cs typeface="Calibri" pitchFamily="34" charset="-120"/>
              </a:rPr>
              <a:t>RELATIONSHIPS</a:t>
            </a:r>
            <a:endParaRPr lang="en-US" sz="900" dirty="0"/>
          </a:p>
        </p:txBody>
      </p:sp>
      <p:sp>
        <p:nvSpPr>
          <p:cNvPr id="35" name="Text 31"/>
          <p:cNvSpPr txBox="1"/>
          <p:nvPr/>
        </p:nvSpPr>
        <p:spPr>
          <a:xfrm>
            <a:off x="7443216" y="1700784"/>
            <a:ext cx="1920240" cy="713232"/>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Clinic-assisted trial · caregiver onboarding</a:t>
            </a:r>
            <a:endParaRPr lang="en-US" sz="1100" dirty="0"/>
          </a:p>
        </p:txBody>
      </p:sp>
      <p:sp>
        <p:nvSpPr>
          <p:cNvPr id="36" name="bmc5"/>
          <p:cNvSpPr/>
          <p:nvPr/>
        </p:nvSpPr>
        <p:spPr>
          <a:xfrm>
            <a:off x="7315200" y="2560320"/>
            <a:ext cx="2148840" cy="1097280"/>
          </a:xfrm>
          <a:prstGeom prst="roundRect">
            <a:avLst>
              <a:gd name="adj" fmla="val 5833"/>
            </a:avLst>
          </a:prstGeom>
          <a:solidFill>
            <a:srgbClr val="16213A"/>
          </a:solidFill>
          <a:ln w="9525">
            <a:solidFill>
              <a:srgbClr val="2B3A5C"/>
            </a:solidFill>
            <a:prstDash val="solid"/>
          </a:ln>
        </p:spPr>
      </p:sp>
      <p:sp>
        <p:nvSpPr>
          <p:cNvPr id="37" name="Text 33"/>
          <p:cNvSpPr txBox="1"/>
          <p:nvPr/>
        </p:nvSpPr>
        <p:spPr>
          <a:xfrm>
            <a:off x="7443216" y="2651760"/>
            <a:ext cx="1920240" cy="201168"/>
          </a:xfrm>
          <a:prstGeom prst="rect">
            <a:avLst/>
          </a:prstGeom>
          <a:noFill/>
          <a:ln/>
        </p:spPr>
        <p:txBody>
          <a:bodyPr wrap="square" lIns="0" tIns="0" rIns="0" bIns="0" rtlCol="0" anchor="t"/>
          <a:lstStyle/>
          <a:p>
            <a:pPr indent="0" marL="0">
              <a:buNone/>
            </a:pPr>
            <a:r>
              <a:rPr lang="en-US" sz="900" b="1" spc="100" kern="0" dirty="0">
                <a:solidFill>
                  <a:srgbClr val="94A3B8"/>
                </a:solidFill>
                <a:latin typeface="Calibri" pitchFamily="34" charset="0"/>
                <a:ea typeface="Calibri" pitchFamily="34" charset="-122"/>
                <a:cs typeface="Calibri" pitchFamily="34" charset="-120"/>
              </a:rPr>
              <a:t>CHANNELS</a:t>
            </a:r>
            <a:endParaRPr lang="en-US" sz="900" dirty="0"/>
          </a:p>
        </p:txBody>
      </p:sp>
      <p:sp>
        <p:nvSpPr>
          <p:cNvPr id="38" name="Text 34"/>
          <p:cNvSpPr txBox="1"/>
          <p:nvPr/>
        </p:nvSpPr>
        <p:spPr>
          <a:xfrm>
            <a:off x="7443216" y="2889504"/>
            <a:ext cx="1920240" cy="713232"/>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Clinic / OT referral · direct online · institutional procurement</a:t>
            </a:r>
            <a:endParaRPr lang="en-US" sz="1100" dirty="0"/>
          </a:p>
        </p:txBody>
      </p:sp>
      <p:sp>
        <p:nvSpPr>
          <p:cNvPr id="39" name="bmc6"/>
          <p:cNvSpPr/>
          <p:nvPr/>
        </p:nvSpPr>
        <p:spPr>
          <a:xfrm>
            <a:off x="9555480" y="1371600"/>
            <a:ext cx="2148840" cy="2286000"/>
          </a:xfrm>
          <a:prstGeom prst="roundRect">
            <a:avLst>
              <a:gd name="adj" fmla="val 2979"/>
            </a:avLst>
          </a:prstGeom>
          <a:solidFill>
            <a:srgbClr val="16213A"/>
          </a:solidFill>
          <a:ln w="9525">
            <a:solidFill>
              <a:srgbClr val="2B3A5C"/>
            </a:solidFill>
            <a:prstDash val="solid"/>
          </a:ln>
        </p:spPr>
      </p:sp>
      <p:sp>
        <p:nvSpPr>
          <p:cNvPr id="40" name="Text 36"/>
          <p:cNvSpPr txBox="1"/>
          <p:nvPr/>
        </p:nvSpPr>
        <p:spPr>
          <a:xfrm>
            <a:off x="9683496" y="1463040"/>
            <a:ext cx="1920240" cy="201168"/>
          </a:xfrm>
          <a:prstGeom prst="rect">
            <a:avLst/>
          </a:prstGeom>
          <a:noFill/>
          <a:ln/>
        </p:spPr>
        <p:txBody>
          <a:bodyPr wrap="square" lIns="0" tIns="0" rIns="0" bIns="0" rtlCol="0" anchor="t"/>
          <a:lstStyle/>
          <a:p>
            <a:pPr indent="0" marL="0">
              <a:buNone/>
            </a:pPr>
            <a:r>
              <a:rPr lang="en-US" sz="900" b="1" spc="100" kern="0" dirty="0">
                <a:solidFill>
                  <a:srgbClr val="94A3B8"/>
                </a:solidFill>
                <a:latin typeface="Calibri" pitchFamily="34" charset="0"/>
                <a:ea typeface="Calibri" pitchFamily="34" charset="-122"/>
                <a:cs typeface="Calibri" pitchFamily="34" charset="-120"/>
              </a:rPr>
              <a:t>CUSTOMER SEGMENTS</a:t>
            </a:r>
            <a:endParaRPr lang="en-US" sz="900" dirty="0"/>
          </a:p>
        </p:txBody>
      </p:sp>
      <p:sp>
        <p:nvSpPr>
          <p:cNvPr id="41" name="Text 37"/>
          <p:cNvSpPr txBox="1"/>
          <p:nvPr/>
        </p:nvSpPr>
        <p:spPr>
          <a:xfrm>
            <a:off x="9683496" y="1700784"/>
            <a:ext cx="1920240" cy="1901952"/>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Households with PD / ET · wellness-minded adults · research labs</a:t>
            </a:r>
            <a:endParaRPr lang="en-US" sz="1100" dirty="0"/>
          </a:p>
        </p:txBody>
      </p:sp>
      <p:sp>
        <p:nvSpPr>
          <p:cNvPr id="42" name="bmc7"/>
          <p:cNvSpPr/>
          <p:nvPr/>
        </p:nvSpPr>
        <p:spPr>
          <a:xfrm>
            <a:off x="502920" y="3749040"/>
            <a:ext cx="5486400" cy="1051560"/>
          </a:xfrm>
          <a:prstGeom prst="roundRect">
            <a:avLst>
              <a:gd name="adj" fmla="val 6087"/>
            </a:avLst>
          </a:prstGeom>
          <a:solidFill>
            <a:srgbClr val="16213A"/>
          </a:solidFill>
          <a:ln w="9525">
            <a:solidFill>
              <a:srgbClr val="2B3A5C"/>
            </a:solidFill>
            <a:prstDash val="solid"/>
          </a:ln>
        </p:spPr>
      </p:sp>
      <p:sp>
        <p:nvSpPr>
          <p:cNvPr id="43" name="Text 39"/>
          <p:cNvSpPr txBox="1"/>
          <p:nvPr/>
        </p:nvSpPr>
        <p:spPr>
          <a:xfrm>
            <a:off x="630936" y="3840480"/>
            <a:ext cx="5257800" cy="201168"/>
          </a:xfrm>
          <a:prstGeom prst="rect">
            <a:avLst/>
          </a:prstGeom>
          <a:noFill/>
          <a:ln/>
        </p:spPr>
        <p:txBody>
          <a:bodyPr wrap="square" lIns="0" tIns="0" rIns="0" bIns="0" rtlCol="0" anchor="t"/>
          <a:lstStyle/>
          <a:p>
            <a:pPr indent="0" marL="0">
              <a:buNone/>
            </a:pPr>
            <a:r>
              <a:rPr lang="en-US" sz="900" b="1" spc="100" kern="0" dirty="0">
                <a:solidFill>
                  <a:srgbClr val="94A3B8"/>
                </a:solidFill>
                <a:latin typeface="Calibri" pitchFamily="34" charset="0"/>
                <a:ea typeface="Calibri" pitchFamily="34" charset="-122"/>
                <a:cs typeface="Calibri" pitchFamily="34" charset="-120"/>
              </a:rPr>
              <a:t>COST STRUCTURE</a:t>
            </a:r>
            <a:endParaRPr lang="en-US" sz="900" dirty="0"/>
          </a:p>
        </p:txBody>
      </p:sp>
      <p:sp>
        <p:nvSpPr>
          <p:cNvPr id="44" name="Text 40"/>
          <p:cNvSpPr txBox="1"/>
          <p:nvPr/>
        </p:nvSpPr>
        <p:spPr>
          <a:xfrm>
            <a:off x="630936" y="4078224"/>
            <a:ext cx="5257800" cy="667512"/>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Phase 1: team, study units, user study, IP · Phase 2: QMS, EMC, inventory, outreach</a:t>
            </a:r>
            <a:endParaRPr lang="en-US" sz="1100" dirty="0"/>
          </a:p>
        </p:txBody>
      </p:sp>
      <p:sp>
        <p:nvSpPr>
          <p:cNvPr id="45" name="rev"/>
          <p:cNvSpPr/>
          <p:nvPr/>
        </p:nvSpPr>
        <p:spPr>
          <a:xfrm>
            <a:off x="6080760" y="3749040"/>
            <a:ext cx="5623560" cy="2240280"/>
          </a:xfrm>
          <a:prstGeom prst="roundRect">
            <a:avLst>
              <a:gd name="adj" fmla="val 2857"/>
            </a:avLst>
          </a:prstGeom>
          <a:solidFill>
            <a:srgbClr val="1B2847"/>
          </a:solidFill>
          <a:ln w="9525">
            <a:solidFill>
              <a:srgbClr val="8B5CF6"/>
            </a:solidFill>
            <a:prstDash val="solid"/>
          </a:ln>
        </p:spPr>
      </p:sp>
      <p:sp>
        <p:nvSpPr>
          <p:cNvPr id="46" name="Text 42"/>
          <p:cNvSpPr txBox="1"/>
          <p:nvPr/>
        </p:nvSpPr>
        <p:spPr>
          <a:xfrm>
            <a:off x="6263640" y="3840480"/>
            <a:ext cx="5303520" cy="201168"/>
          </a:xfrm>
          <a:prstGeom prst="rect">
            <a:avLst/>
          </a:prstGeom>
          <a:noFill/>
          <a:ln/>
        </p:spPr>
        <p:txBody>
          <a:bodyPr wrap="square" lIns="0" tIns="0" rIns="0" bIns="0" rtlCol="0" anchor="t"/>
          <a:lstStyle/>
          <a:p>
            <a:pPr indent="0" marL="0">
              <a:buNone/>
            </a:pPr>
            <a:r>
              <a:rPr lang="en-US" sz="900" b="1" spc="100" kern="0" dirty="0">
                <a:solidFill>
                  <a:srgbClr val="8B5CF6"/>
                </a:solidFill>
                <a:latin typeface="Calibri" pitchFamily="34" charset="0"/>
                <a:ea typeface="Calibri" pitchFamily="34" charset="-122"/>
                <a:cs typeface="Calibri" pitchFamily="34" charset="-120"/>
              </a:rPr>
              <a:t>REVENUE STREAMS · IN LAUNCH ORDER</a:t>
            </a:r>
            <a:endParaRPr lang="en-US" sz="900" dirty="0"/>
          </a:p>
        </p:txBody>
      </p:sp>
      <p:sp>
        <p:nvSpPr>
          <p:cNvPr id="47" name="rev_n0"/>
          <p:cNvSpPr/>
          <p:nvPr/>
        </p:nvSpPr>
        <p:spPr>
          <a:xfrm>
            <a:off x="6309360" y="4206240"/>
            <a:ext cx="329184" cy="329184"/>
          </a:xfrm>
          <a:prstGeom prst="ellipse">
            <a:avLst/>
          </a:prstGeom>
          <a:solidFill>
            <a:srgbClr val="06B6D4"/>
          </a:solidFill>
          <a:ln w="12700">
            <a:solidFill>
              <a:srgbClr val="06B6D4"/>
            </a:solidFill>
            <a:prstDash val="solid"/>
          </a:ln>
        </p:spPr>
      </p:sp>
      <p:sp>
        <p:nvSpPr>
          <p:cNvPr id="48" name="Text 44"/>
          <p:cNvSpPr txBox="1"/>
          <p:nvPr/>
        </p:nvSpPr>
        <p:spPr>
          <a:xfrm>
            <a:off x="6309360" y="4242816"/>
            <a:ext cx="329184" cy="274320"/>
          </a:xfrm>
          <a:prstGeom prst="rect">
            <a:avLst/>
          </a:prstGeom>
          <a:noFill/>
          <a:ln/>
        </p:spPr>
        <p:txBody>
          <a:bodyPr wrap="square" lIns="0" tIns="0" rIns="0" bIns="0" rtlCol="0" anchor="t"/>
          <a:lstStyle/>
          <a:p>
            <a:pPr algn="ctr" indent="0" marL="0">
              <a:buNone/>
            </a:pPr>
            <a:r>
              <a:rPr lang="en-US" sz="1200" b="1" dirty="0">
                <a:solidFill>
                  <a:srgbClr val="0F172A"/>
                </a:solidFill>
                <a:latin typeface="Calibri" pitchFamily="34" charset="0"/>
                <a:ea typeface="Calibri" pitchFamily="34" charset="-122"/>
                <a:cs typeface="Calibri" pitchFamily="34" charset="-120"/>
              </a:rPr>
              <a:t>1</a:t>
            </a:r>
            <a:endParaRPr lang="en-US" sz="1200" dirty="0"/>
          </a:p>
        </p:txBody>
      </p:sp>
      <p:sp>
        <p:nvSpPr>
          <p:cNvPr id="49" name="rev_t0"/>
          <p:cNvSpPr txBox="1"/>
          <p:nvPr/>
        </p:nvSpPr>
        <p:spPr>
          <a:xfrm>
            <a:off x="6766560" y="4142232"/>
            <a:ext cx="4846320" cy="5029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Research-use kits for labs</a:t>
            </a:r>
            <a:endParaRPr lang="en-US" sz="1200" dirty="0"/>
          </a:p>
          <a:p>
            <a:pPr indent="0" marL="0">
              <a:buNone/>
            </a:pPr>
            <a:r>
              <a:rPr lang="en-US" sz="1000" dirty="0">
                <a:solidFill>
                  <a:srgbClr val="CBD5E1"/>
                </a:solidFill>
                <a:latin typeface="Calibri" pitchFamily="34" charset="0"/>
                <a:ea typeface="Calibri" pitchFamily="34" charset="-122"/>
                <a:cs typeface="Calibri" pitchFamily="34" charset="-120"/>
              </a:rPr>
              <a:t>₹74,999 per kit · from M10 · no medical claim</a:t>
            </a:r>
            <a:endParaRPr lang="en-US" sz="1200" dirty="0"/>
          </a:p>
        </p:txBody>
      </p:sp>
      <p:sp>
        <p:nvSpPr>
          <p:cNvPr id="50" name="rev_n1"/>
          <p:cNvSpPr/>
          <p:nvPr/>
        </p:nvSpPr>
        <p:spPr>
          <a:xfrm>
            <a:off x="6309360" y="4773168"/>
            <a:ext cx="329184" cy="329184"/>
          </a:xfrm>
          <a:prstGeom prst="ellipse">
            <a:avLst/>
          </a:prstGeom>
          <a:solidFill>
            <a:srgbClr val="8B5CF6"/>
          </a:solidFill>
          <a:ln w="12700">
            <a:solidFill>
              <a:srgbClr val="8B5CF6"/>
            </a:solidFill>
            <a:prstDash val="solid"/>
          </a:ln>
        </p:spPr>
      </p:sp>
      <p:sp>
        <p:nvSpPr>
          <p:cNvPr id="51" name="Text 47"/>
          <p:cNvSpPr txBox="1"/>
          <p:nvPr/>
        </p:nvSpPr>
        <p:spPr>
          <a:xfrm>
            <a:off x="6309360" y="4809744"/>
            <a:ext cx="329184" cy="274320"/>
          </a:xfrm>
          <a:prstGeom prst="rect">
            <a:avLst/>
          </a:prstGeom>
          <a:noFill/>
          <a:ln/>
        </p:spPr>
        <p:txBody>
          <a:bodyPr wrap="square" lIns="0" tIns="0" rIns="0" bIns="0" rtlCol="0" anchor="t"/>
          <a:lstStyle/>
          <a:p>
            <a:pPr algn="ctr" indent="0" marL="0">
              <a:buNone/>
            </a:pPr>
            <a:r>
              <a:rPr lang="en-US" sz="1200" b="1" dirty="0">
                <a:solidFill>
                  <a:srgbClr val="0F172A"/>
                </a:solidFill>
                <a:latin typeface="Calibri" pitchFamily="34" charset="0"/>
                <a:ea typeface="Calibri" pitchFamily="34" charset="-122"/>
                <a:cs typeface="Calibri" pitchFamily="34" charset="-120"/>
              </a:rPr>
              <a:t>2</a:t>
            </a:r>
            <a:endParaRPr lang="en-US" sz="1200" dirty="0"/>
          </a:p>
        </p:txBody>
      </p:sp>
      <p:sp>
        <p:nvSpPr>
          <p:cNvPr id="52" name="rev_t1"/>
          <p:cNvSpPr txBox="1"/>
          <p:nvPr/>
        </p:nvSpPr>
        <p:spPr>
          <a:xfrm>
            <a:off x="6766560" y="4709160"/>
            <a:ext cx="4846320" cy="5029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TremoSense sale or rental</a:t>
            </a:r>
            <a:endParaRPr lang="en-US" sz="1200" dirty="0"/>
          </a:p>
          <a:p>
            <a:pPr indent="0" marL="0">
              <a:buNone/>
            </a:pPr>
            <a:r>
              <a:rPr lang="en-US" sz="1000" dirty="0">
                <a:solidFill>
                  <a:srgbClr val="CBD5E1"/>
                </a:solidFill>
                <a:latin typeface="Calibri" pitchFamily="34" charset="0"/>
                <a:ea typeface="Calibri" pitchFamily="34" charset="-122"/>
                <a:cs typeface="Calibri" pitchFamily="34" charset="-120"/>
              </a:rPr>
              <a:t>₹9,999 (hypothesis) · rental ₹799/mo · from M12</a:t>
            </a:r>
            <a:endParaRPr lang="en-US" sz="1200" dirty="0"/>
          </a:p>
        </p:txBody>
      </p:sp>
      <p:sp>
        <p:nvSpPr>
          <p:cNvPr id="53" name="rev_n2"/>
          <p:cNvSpPr/>
          <p:nvPr/>
        </p:nvSpPr>
        <p:spPr>
          <a:xfrm>
            <a:off x="6309360" y="5340096"/>
            <a:ext cx="329184" cy="329184"/>
          </a:xfrm>
          <a:prstGeom prst="ellipse">
            <a:avLst/>
          </a:prstGeom>
          <a:solidFill>
            <a:srgbClr val="3B82F6"/>
          </a:solidFill>
          <a:ln w="12700">
            <a:solidFill>
              <a:srgbClr val="3B82F6"/>
            </a:solidFill>
            <a:prstDash val="solid"/>
          </a:ln>
        </p:spPr>
      </p:sp>
      <p:sp>
        <p:nvSpPr>
          <p:cNvPr id="54" name="Text 50"/>
          <p:cNvSpPr txBox="1"/>
          <p:nvPr/>
        </p:nvSpPr>
        <p:spPr>
          <a:xfrm>
            <a:off x="6309360" y="5376672"/>
            <a:ext cx="329184" cy="274320"/>
          </a:xfrm>
          <a:prstGeom prst="rect">
            <a:avLst/>
          </a:prstGeom>
          <a:noFill/>
          <a:ln/>
        </p:spPr>
        <p:txBody>
          <a:bodyPr wrap="square" lIns="0" tIns="0" rIns="0" bIns="0" rtlCol="0" anchor="t"/>
          <a:lstStyle/>
          <a:p>
            <a:pPr algn="ctr" indent="0" marL="0">
              <a:buNone/>
            </a:pPr>
            <a:r>
              <a:rPr lang="en-US" sz="1200" b="1" dirty="0">
                <a:solidFill>
                  <a:srgbClr val="0F172A"/>
                </a:solidFill>
                <a:latin typeface="Calibri" pitchFamily="34" charset="0"/>
                <a:ea typeface="Calibri" pitchFamily="34" charset="-122"/>
                <a:cs typeface="Calibri" pitchFamily="34" charset="-120"/>
              </a:rPr>
              <a:t>3</a:t>
            </a:r>
            <a:endParaRPr lang="en-US" sz="1200" dirty="0"/>
          </a:p>
        </p:txBody>
      </p:sp>
      <p:sp>
        <p:nvSpPr>
          <p:cNvPr id="55" name="rev_t2"/>
          <p:cNvSpPr txBox="1"/>
          <p:nvPr/>
        </p:nvSpPr>
        <p:spPr>
          <a:xfrm>
            <a:off x="6766560" y="5276088"/>
            <a:ext cx="4846320" cy="5029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ParkinSense device + optional subscription</a:t>
            </a:r>
            <a:endParaRPr lang="en-US" sz="1200" dirty="0"/>
          </a:p>
          <a:p>
            <a:pPr indent="0" marL="0">
              <a:buNone/>
            </a:pPr>
            <a:r>
              <a:rPr lang="en-US" sz="1000" dirty="0">
                <a:solidFill>
                  <a:srgbClr val="CBD5E1"/>
                </a:solidFill>
                <a:latin typeface="Calibri" pitchFamily="34" charset="0"/>
                <a:ea typeface="Calibri" pitchFamily="34" charset="-122"/>
                <a:cs typeface="Calibri" pitchFamily="34" charset="-120"/>
              </a:rPr>
              <a:t>₹7,999 + optional ₹199/mo · from M25</a:t>
            </a:r>
            <a:endParaRPr lang="en-US" sz="1200" dirty="0"/>
          </a:p>
        </p:txBody>
      </p:sp>
      <p:sp>
        <p:nvSpPr>
          <p:cNvPr id="56" name="reimb"/>
          <p:cNvSpPr txBox="1"/>
          <p:nvPr/>
        </p:nvSpPr>
        <p:spPr>
          <a:xfrm>
            <a:off x="502920" y="4937760"/>
            <a:ext cx="5486400" cy="274320"/>
          </a:xfrm>
          <a:prstGeom prst="rect">
            <a:avLst/>
          </a:prstGeom>
          <a:noFill/>
          <a:ln/>
        </p:spPr>
        <p:txBody>
          <a:bodyPr wrap="square" lIns="0" tIns="0" rIns="0" bIns="0" rtlCol="0" anchor="t"/>
          <a:lstStyle/>
          <a:p>
            <a:pPr indent="0" marL="0">
              <a:buNone/>
            </a:pPr>
            <a:r>
              <a:rPr lang="en-US" sz="1100" dirty="0">
                <a:solidFill>
                  <a:srgbClr val="F59E0B"/>
                </a:solidFill>
                <a:latin typeface="Calibri" pitchFamily="34" charset="0"/>
                <a:ea typeface="Calibri" pitchFamily="34" charset="-122"/>
                <a:cs typeface="Calibri" pitchFamily="34" charset="-120"/>
              </a:rPr>
              <a:t>No reimbursement assumed — out-of-pocket or institutional only.</a:t>
            </a:r>
            <a:endParaRPr lang="en-US" sz="1100" dirty="0"/>
          </a:p>
        </p:txBody>
      </p:sp>
      <p:sp>
        <p:nvSpPr>
          <p:cNvPr id="57" name="sources"/>
          <p:cNvSpPr txBox="1"/>
          <p:nvPr/>
        </p:nvSpPr>
        <p:spPr>
          <a:xfrm>
            <a:off x="502920" y="6199632"/>
            <a:ext cx="8778240" cy="274320"/>
          </a:xfrm>
          <a:prstGeom prst="rect">
            <a:avLst/>
          </a:prstGeom>
          <a:noFill/>
          <a:ln/>
        </p:spPr>
        <p:txBody>
          <a:bodyPr wrap="square" lIns="0" tIns="0" rIns="0" bIns="0" rtlCol="0" anchor="t"/>
          <a:lstStyle/>
          <a:p>
            <a:pPr indent="0" marL="0">
              <a:buNone/>
            </a:pPr>
            <a:r>
              <a:rPr lang="en-US" sz="850" dirty="0">
                <a:solidFill>
                  <a:srgbClr val="94A3B8"/>
                </a:solidFill>
                <a:latin typeface="Calibri" pitchFamily="34" charset="0"/>
                <a:ea typeface="Calibri" pitchFamily="34" charset="-122"/>
                <a:cs typeface="Calibri" pitchFamily="34" charset="-120"/>
              </a:rPr>
              <a:t>Prices are hypotheses to test with customers. Model › Unit Economics.</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5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50"/>
                                        <p:tgtEl>
                                          <p:spTgt spid="22"/>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450"/>
                                        <p:tgtEl>
                                          <p:spTgt spid="23"/>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450"/>
                                        <p:tgtEl>
                                          <p:spTgt spid="24"/>
                                        </p:tgtEl>
                                      </p:cBhvr>
                                    </p:animEffect>
                                  </p:childTnLst>
                                </p:cTn>
                              </p:par>
                              <p:par>
                                <p:cTn id="17" presetID="10"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50"/>
                                        <p:tgtEl>
                                          <p:spTgt spid="25"/>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450"/>
                                        <p:tgtEl>
                                          <p:spTgt spid="26"/>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450"/>
                                        <p:tgtEl>
                                          <p:spTgt spid="27"/>
                                        </p:tgtEl>
                                      </p:cBhvr>
                                    </p:animEffect>
                                  </p:childTnLst>
                                </p:cTn>
                              </p:par>
                              <p:par>
                                <p:cTn id="26" presetID="10" presetClass="entr" presetSubtype="0" fill="hold"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450"/>
                                        <p:tgtEl>
                                          <p:spTgt spid="28"/>
                                        </p:tgtEl>
                                      </p:cBhvr>
                                    </p:animEffect>
                                  </p:childTnLst>
                                </p:cTn>
                              </p:par>
                              <p:par>
                                <p:cTn id="29" presetID="10" presetClass="entr" presetSubtype="0"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50"/>
                                        <p:tgtEl>
                                          <p:spTgt spid="29"/>
                                        </p:tgtEl>
                                      </p:cBhvr>
                                    </p:animEffect>
                                  </p:childTnLst>
                                </p:cTn>
                              </p:par>
                              <p:par>
                                <p:cTn id="32" presetID="10" presetClass="entr" presetSubtype="0" fill="hold"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450"/>
                                        <p:tgtEl>
                                          <p:spTgt spid="30"/>
                                        </p:tgtEl>
                                      </p:cBhvr>
                                    </p:animEffect>
                                  </p:childTnLst>
                                </p:cTn>
                              </p:par>
                              <p:par>
                                <p:cTn id="35" presetID="10" presetClass="entr" presetSubtype="0" fill="hold"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450"/>
                                        <p:tgtEl>
                                          <p:spTgt spid="31"/>
                                        </p:tgtEl>
                                      </p:cBhvr>
                                    </p:animEffect>
                                  </p:childTnLst>
                                </p:cTn>
                              </p:par>
                              <p:par>
                                <p:cTn id="38" presetID="10" presetClass="entr" presetSubtype="0" fill="hold"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450"/>
                                        <p:tgtEl>
                                          <p:spTgt spid="32"/>
                                        </p:tgtEl>
                                      </p:cBhvr>
                                    </p:animEffect>
                                  </p:childTnLst>
                                </p:cTn>
                              </p:par>
                              <p:par>
                                <p:cTn id="41" presetID="10" presetClass="entr" presetSubtype="0"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450"/>
                                        <p:tgtEl>
                                          <p:spTgt spid="33"/>
                                        </p:tgtEl>
                                      </p:cBhvr>
                                    </p:animEffect>
                                  </p:childTnLst>
                                </p:cTn>
                              </p:par>
                              <p:par>
                                <p:cTn id="44" presetID="10" presetClass="entr" presetSubtype="0" fill="hold" nodeType="withEffect">
                                  <p:stCondLst>
                                    <p:cond delay="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450"/>
                                        <p:tgtEl>
                                          <p:spTgt spid="34"/>
                                        </p:tgtEl>
                                      </p:cBhvr>
                                    </p:animEffect>
                                  </p:childTnLst>
                                </p:cTn>
                              </p:par>
                              <p:par>
                                <p:cTn id="47" presetID="10" presetClass="entr" presetSubtype="0" fill="hold"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450"/>
                                        <p:tgtEl>
                                          <p:spTgt spid="35"/>
                                        </p:tgtEl>
                                      </p:cBhvr>
                                    </p:animEffect>
                                  </p:childTnLst>
                                </p:cTn>
                              </p:par>
                              <p:par>
                                <p:cTn id="50" presetID="10" presetClass="entr" presetSubtype="0" fill="hold"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450"/>
                                        <p:tgtEl>
                                          <p:spTgt spid="36"/>
                                        </p:tgtEl>
                                      </p:cBhvr>
                                    </p:animEffect>
                                  </p:childTnLst>
                                </p:cTn>
                              </p:par>
                              <p:par>
                                <p:cTn id="53" presetID="10" presetClass="entr" presetSubtype="0" fill="hold"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450"/>
                                        <p:tgtEl>
                                          <p:spTgt spid="37"/>
                                        </p:tgtEl>
                                      </p:cBhvr>
                                    </p:animEffect>
                                  </p:childTnLst>
                                </p:cTn>
                              </p:par>
                              <p:par>
                                <p:cTn id="56" presetID="10" presetClass="entr" presetSubtype="0" fill="hold" nodeType="with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450"/>
                                        <p:tgtEl>
                                          <p:spTgt spid="38"/>
                                        </p:tgtEl>
                                      </p:cBhvr>
                                    </p:animEffect>
                                  </p:childTnLst>
                                </p:cTn>
                              </p:par>
                              <p:par>
                                <p:cTn id="59" presetID="10" presetClass="entr" presetSubtype="0" fill="hold" nodeType="with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450"/>
                                        <p:tgtEl>
                                          <p:spTgt spid="39"/>
                                        </p:tgtEl>
                                      </p:cBhvr>
                                    </p:animEffect>
                                  </p:childTnLst>
                                </p:cTn>
                              </p:par>
                              <p:par>
                                <p:cTn id="62" presetID="10" presetClass="entr" presetSubtype="0" fill="hold" nodeType="with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fade">
                                      <p:cBhvr>
                                        <p:cTn id="64" dur="450"/>
                                        <p:tgtEl>
                                          <p:spTgt spid="40"/>
                                        </p:tgtEl>
                                      </p:cBhvr>
                                    </p:animEffect>
                                  </p:childTnLst>
                                </p:cTn>
                              </p:par>
                              <p:par>
                                <p:cTn id="65" presetID="10" presetClass="entr" presetSubtype="0" fill="hold" nodeType="with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fade">
                                      <p:cBhvr>
                                        <p:cTn id="67" dur="450"/>
                                        <p:tgtEl>
                                          <p:spTgt spid="41"/>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fade">
                                      <p:cBhvr>
                                        <p:cTn id="72" dur="450"/>
                                        <p:tgtEl>
                                          <p:spTgt spid="42"/>
                                        </p:tgtEl>
                                      </p:cBhvr>
                                    </p:animEffect>
                                  </p:childTnLst>
                                </p:cTn>
                              </p:par>
                              <p:par>
                                <p:cTn id="73" presetID="10" presetClass="entr" presetSubtype="0" fill="hold" nodeType="with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fade">
                                      <p:cBhvr>
                                        <p:cTn id="75" dur="450"/>
                                        <p:tgtEl>
                                          <p:spTgt spid="43"/>
                                        </p:tgtEl>
                                      </p:cBhvr>
                                    </p:animEffect>
                                  </p:childTnLst>
                                </p:cTn>
                              </p:par>
                              <p:par>
                                <p:cTn id="76" presetID="10" presetClass="entr" presetSubtype="0" fill="hold"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fade">
                                      <p:cBhvr>
                                        <p:cTn id="78" dur="450"/>
                                        <p:tgtEl>
                                          <p:spTgt spid="44"/>
                                        </p:tgtEl>
                                      </p:cBhvr>
                                    </p:animEffect>
                                  </p:childTnLst>
                                </p:cTn>
                              </p:par>
                              <p:par>
                                <p:cTn id="79" presetID="10" presetClass="entr" presetSubtype="0" fill="hold" nodeType="withEffect">
                                  <p:stCondLst>
                                    <p:cond delay="0"/>
                                  </p:stCondLst>
                                  <p:childTnLst>
                                    <p:set>
                                      <p:cBhvr>
                                        <p:cTn id="80" dur="1" fill="hold">
                                          <p:stCondLst>
                                            <p:cond delay="0"/>
                                          </p:stCondLst>
                                        </p:cTn>
                                        <p:tgtEl>
                                          <p:spTgt spid="56"/>
                                        </p:tgtEl>
                                        <p:attrNameLst>
                                          <p:attrName>style.visibility</p:attrName>
                                        </p:attrNameLst>
                                      </p:cBhvr>
                                      <p:to>
                                        <p:strVal val="visible"/>
                                      </p:to>
                                    </p:set>
                                    <p:animEffect transition="in" filter="fade">
                                      <p:cBhvr>
                                        <p:cTn id="81" dur="450"/>
                                        <p:tgtEl>
                                          <p:spTgt spid="56"/>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45"/>
                                        </p:tgtEl>
                                        <p:attrNameLst>
                                          <p:attrName>style.visibility</p:attrName>
                                        </p:attrNameLst>
                                      </p:cBhvr>
                                      <p:to>
                                        <p:strVal val="visible"/>
                                      </p:to>
                                    </p:set>
                                    <p:animEffect transition="in" filter="fade">
                                      <p:cBhvr>
                                        <p:cTn id="86" dur="450"/>
                                        <p:tgtEl>
                                          <p:spTgt spid="45"/>
                                        </p:tgtEl>
                                      </p:cBhvr>
                                    </p:animEffect>
                                  </p:childTnLst>
                                </p:cTn>
                              </p:par>
                              <p:par>
                                <p:cTn id="87" presetID="10" presetClass="entr" presetSubtype="0" fill="hold" nodeType="withEffect">
                                  <p:stCondLst>
                                    <p:cond delay="0"/>
                                  </p:stCondLst>
                                  <p:childTnLst>
                                    <p:set>
                                      <p:cBhvr>
                                        <p:cTn id="88" dur="1" fill="hold">
                                          <p:stCondLst>
                                            <p:cond delay="0"/>
                                          </p:stCondLst>
                                        </p:cTn>
                                        <p:tgtEl>
                                          <p:spTgt spid="46"/>
                                        </p:tgtEl>
                                        <p:attrNameLst>
                                          <p:attrName>style.visibility</p:attrName>
                                        </p:attrNameLst>
                                      </p:cBhvr>
                                      <p:to>
                                        <p:strVal val="visible"/>
                                      </p:to>
                                    </p:set>
                                    <p:animEffect transition="in" filter="fade">
                                      <p:cBhvr>
                                        <p:cTn id="89" dur="450"/>
                                        <p:tgtEl>
                                          <p:spTgt spid="46"/>
                                        </p:tgtEl>
                                      </p:cBhvr>
                                    </p:animEffect>
                                  </p:childTnLst>
                                </p:cTn>
                              </p:par>
                            </p:childTnLst>
                          </p:cTn>
                        </p:par>
                        <p:par>
                          <p:cTn id="90" fill="hold">
                            <p:stCondLst>
                              <p:cond delay="450"/>
                            </p:stCondLst>
                            <p:childTnLst>
                              <p:par>
                                <p:cTn id="91" presetID="22" presetClass="entr" presetSubtype="8" fill="hold" nodeType="afterEffect">
                                  <p:stCondLst>
                                    <p:cond delay="0"/>
                                  </p:stCondLst>
                                  <p:childTnLst>
                                    <p:set>
                                      <p:cBhvr>
                                        <p:cTn id="92" dur="1" fill="hold">
                                          <p:stCondLst>
                                            <p:cond delay="0"/>
                                          </p:stCondLst>
                                        </p:cTn>
                                        <p:tgtEl>
                                          <p:spTgt spid="47"/>
                                        </p:tgtEl>
                                        <p:attrNameLst>
                                          <p:attrName>style.visibility</p:attrName>
                                        </p:attrNameLst>
                                      </p:cBhvr>
                                      <p:to>
                                        <p:strVal val="visible"/>
                                      </p:to>
                                    </p:set>
                                    <p:animEffect transition="in" filter="wipe(left)">
                                      <p:cBhvr>
                                        <p:cTn id="93" dur="450"/>
                                        <p:tgtEl>
                                          <p:spTgt spid="47"/>
                                        </p:tgtEl>
                                      </p:cBhvr>
                                    </p:animEffect>
                                  </p:childTnLst>
                                </p:cTn>
                              </p:par>
                              <p:par>
                                <p:cTn id="94" presetID="22" presetClass="entr" presetSubtype="8" fill="hold" nodeType="withEffect">
                                  <p:stCondLst>
                                    <p:cond delay="0"/>
                                  </p:stCondLst>
                                  <p:childTnLst>
                                    <p:set>
                                      <p:cBhvr>
                                        <p:cTn id="95" dur="1" fill="hold">
                                          <p:stCondLst>
                                            <p:cond delay="0"/>
                                          </p:stCondLst>
                                        </p:cTn>
                                        <p:tgtEl>
                                          <p:spTgt spid="48"/>
                                        </p:tgtEl>
                                        <p:attrNameLst>
                                          <p:attrName>style.visibility</p:attrName>
                                        </p:attrNameLst>
                                      </p:cBhvr>
                                      <p:to>
                                        <p:strVal val="visible"/>
                                      </p:to>
                                    </p:set>
                                    <p:animEffect transition="in" filter="wipe(left)">
                                      <p:cBhvr>
                                        <p:cTn id="96" dur="450"/>
                                        <p:tgtEl>
                                          <p:spTgt spid="48"/>
                                        </p:tgtEl>
                                      </p:cBhvr>
                                    </p:animEffect>
                                  </p:childTnLst>
                                </p:cTn>
                              </p:par>
                              <p:par>
                                <p:cTn id="97" presetID="22" presetClass="entr" presetSubtype="8" fill="hold" nodeType="withEffect">
                                  <p:stCondLst>
                                    <p:cond delay="0"/>
                                  </p:stCondLst>
                                  <p:childTnLst>
                                    <p:set>
                                      <p:cBhvr>
                                        <p:cTn id="98" dur="1" fill="hold">
                                          <p:stCondLst>
                                            <p:cond delay="0"/>
                                          </p:stCondLst>
                                        </p:cTn>
                                        <p:tgtEl>
                                          <p:spTgt spid="49"/>
                                        </p:tgtEl>
                                        <p:attrNameLst>
                                          <p:attrName>style.visibility</p:attrName>
                                        </p:attrNameLst>
                                      </p:cBhvr>
                                      <p:to>
                                        <p:strVal val="visible"/>
                                      </p:to>
                                    </p:set>
                                    <p:animEffect transition="in" filter="wipe(left)">
                                      <p:cBhvr>
                                        <p:cTn id="99" dur="450"/>
                                        <p:tgtEl>
                                          <p:spTgt spid="49"/>
                                        </p:tgtEl>
                                      </p:cBhvr>
                                    </p:animEffect>
                                  </p:childTnLst>
                                </p:cTn>
                              </p:par>
                            </p:childTnLst>
                          </p:cTn>
                        </p:par>
                        <p:par>
                          <p:cTn id="100" fill="hold">
                            <p:stCondLst>
                              <p:cond delay="750"/>
                            </p:stCondLst>
                            <p:childTnLst>
                              <p:par>
                                <p:cTn id="101" presetID="22" presetClass="entr" presetSubtype="8" fill="hold" nodeType="afterEffect">
                                  <p:stCondLst>
                                    <p:cond delay="0"/>
                                  </p:stCondLst>
                                  <p:childTnLst>
                                    <p:set>
                                      <p:cBhvr>
                                        <p:cTn id="102" dur="1" fill="hold">
                                          <p:stCondLst>
                                            <p:cond delay="0"/>
                                          </p:stCondLst>
                                        </p:cTn>
                                        <p:tgtEl>
                                          <p:spTgt spid="50"/>
                                        </p:tgtEl>
                                        <p:attrNameLst>
                                          <p:attrName>style.visibility</p:attrName>
                                        </p:attrNameLst>
                                      </p:cBhvr>
                                      <p:to>
                                        <p:strVal val="visible"/>
                                      </p:to>
                                    </p:set>
                                    <p:animEffect transition="in" filter="wipe(left)">
                                      <p:cBhvr>
                                        <p:cTn id="103" dur="450"/>
                                        <p:tgtEl>
                                          <p:spTgt spid="50"/>
                                        </p:tgtEl>
                                      </p:cBhvr>
                                    </p:animEffect>
                                  </p:childTnLst>
                                </p:cTn>
                              </p:par>
                              <p:par>
                                <p:cTn id="104" presetID="22" presetClass="entr" presetSubtype="8" fill="hold" nodeType="withEffect">
                                  <p:stCondLst>
                                    <p:cond delay="0"/>
                                  </p:stCondLst>
                                  <p:childTnLst>
                                    <p:set>
                                      <p:cBhvr>
                                        <p:cTn id="105" dur="1" fill="hold">
                                          <p:stCondLst>
                                            <p:cond delay="0"/>
                                          </p:stCondLst>
                                        </p:cTn>
                                        <p:tgtEl>
                                          <p:spTgt spid="51"/>
                                        </p:tgtEl>
                                        <p:attrNameLst>
                                          <p:attrName>style.visibility</p:attrName>
                                        </p:attrNameLst>
                                      </p:cBhvr>
                                      <p:to>
                                        <p:strVal val="visible"/>
                                      </p:to>
                                    </p:set>
                                    <p:animEffect transition="in" filter="wipe(left)">
                                      <p:cBhvr>
                                        <p:cTn id="106" dur="450"/>
                                        <p:tgtEl>
                                          <p:spTgt spid="51"/>
                                        </p:tgtEl>
                                      </p:cBhvr>
                                    </p:animEffect>
                                  </p:childTnLst>
                                </p:cTn>
                              </p:par>
                              <p:par>
                                <p:cTn id="107" presetID="22" presetClass="entr" presetSubtype="8" fill="hold" nodeType="withEffect">
                                  <p:stCondLst>
                                    <p:cond delay="0"/>
                                  </p:stCondLst>
                                  <p:childTnLst>
                                    <p:set>
                                      <p:cBhvr>
                                        <p:cTn id="108" dur="1" fill="hold">
                                          <p:stCondLst>
                                            <p:cond delay="0"/>
                                          </p:stCondLst>
                                        </p:cTn>
                                        <p:tgtEl>
                                          <p:spTgt spid="52"/>
                                        </p:tgtEl>
                                        <p:attrNameLst>
                                          <p:attrName>style.visibility</p:attrName>
                                        </p:attrNameLst>
                                      </p:cBhvr>
                                      <p:to>
                                        <p:strVal val="visible"/>
                                      </p:to>
                                    </p:set>
                                    <p:animEffect transition="in" filter="wipe(left)">
                                      <p:cBhvr>
                                        <p:cTn id="109" dur="450"/>
                                        <p:tgtEl>
                                          <p:spTgt spid="52"/>
                                        </p:tgtEl>
                                      </p:cBhvr>
                                    </p:animEffect>
                                  </p:childTnLst>
                                </p:cTn>
                              </p:par>
                            </p:childTnLst>
                          </p:cTn>
                        </p:par>
                        <p:par>
                          <p:cTn id="110" fill="hold">
                            <p:stCondLst>
                              <p:cond delay="1050"/>
                            </p:stCondLst>
                            <p:childTnLst>
                              <p:par>
                                <p:cTn id="111" presetID="22" presetClass="entr" presetSubtype="8" fill="hold" nodeType="afterEffect">
                                  <p:stCondLst>
                                    <p:cond delay="0"/>
                                  </p:stCondLst>
                                  <p:childTnLst>
                                    <p:set>
                                      <p:cBhvr>
                                        <p:cTn id="112" dur="1" fill="hold">
                                          <p:stCondLst>
                                            <p:cond delay="0"/>
                                          </p:stCondLst>
                                        </p:cTn>
                                        <p:tgtEl>
                                          <p:spTgt spid="53"/>
                                        </p:tgtEl>
                                        <p:attrNameLst>
                                          <p:attrName>style.visibility</p:attrName>
                                        </p:attrNameLst>
                                      </p:cBhvr>
                                      <p:to>
                                        <p:strVal val="visible"/>
                                      </p:to>
                                    </p:set>
                                    <p:animEffect transition="in" filter="wipe(left)">
                                      <p:cBhvr>
                                        <p:cTn id="113" dur="450"/>
                                        <p:tgtEl>
                                          <p:spTgt spid="53"/>
                                        </p:tgtEl>
                                      </p:cBhvr>
                                    </p:animEffect>
                                  </p:childTnLst>
                                </p:cTn>
                              </p:par>
                              <p:par>
                                <p:cTn id="114" presetID="22" presetClass="entr" presetSubtype="8" fill="hold" nodeType="withEffect">
                                  <p:stCondLst>
                                    <p:cond delay="0"/>
                                  </p:stCondLst>
                                  <p:childTnLst>
                                    <p:set>
                                      <p:cBhvr>
                                        <p:cTn id="115" dur="1" fill="hold">
                                          <p:stCondLst>
                                            <p:cond delay="0"/>
                                          </p:stCondLst>
                                        </p:cTn>
                                        <p:tgtEl>
                                          <p:spTgt spid="54"/>
                                        </p:tgtEl>
                                        <p:attrNameLst>
                                          <p:attrName>style.visibility</p:attrName>
                                        </p:attrNameLst>
                                      </p:cBhvr>
                                      <p:to>
                                        <p:strVal val="visible"/>
                                      </p:to>
                                    </p:set>
                                    <p:animEffect transition="in" filter="wipe(left)">
                                      <p:cBhvr>
                                        <p:cTn id="116" dur="450"/>
                                        <p:tgtEl>
                                          <p:spTgt spid="54"/>
                                        </p:tgtEl>
                                      </p:cBhvr>
                                    </p:animEffect>
                                  </p:childTnLst>
                                </p:cTn>
                              </p:par>
                              <p:par>
                                <p:cTn id="117" presetID="22" presetClass="entr" presetSubtype="8" fill="hold" nodeType="withEffect">
                                  <p:stCondLst>
                                    <p:cond delay="0"/>
                                  </p:stCondLst>
                                  <p:childTnLst>
                                    <p:set>
                                      <p:cBhvr>
                                        <p:cTn id="118" dur="1" fill="hold">
                                          <p:stCondLst>
                                            <p:cond delay="0"/>
                                          </p:stCondLst>
                                        </p:cTn>
                                        <p:tgtEl>
                                          <p:spTgt spid="55"/>
                                        </p:tgtEl>
                                        <p:attrNameLst>
                                          <p:attrName>style.visibility</p:attrName>
                                        </p:attrNameLst>
                                      </p:cBhvr>
                                      <p:to>
                                        <p:strVal val="visible"/>
                                      </p:to>
                                    </p:set>
                                    <p:animEffect transition="in" filter="wipe(left)">
                                      <p:cBhvr>
                                        <p:cTn id="119" dur="45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56"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kicker"/>
          <p:cNvSpPr txBox="1"/>
          <p:nvPr/>
        </p:nvSpPr>
        <p:spPr>
          <a:xfrm>
            <a:off x="502920" y="274320"/>
            <a:ext cx="7315200" cy="256032"/>
          </a:xfrm>
          <a:prstGeom prst="rect">
            <a:avLst/>
          </a:prstGeom>
          <a:noFill/>
          <a:ln/>
        </p:spPr>
        <p:txBody>
          <a:bodyPr wrap="square" lIns="0" tIns="0" rIns="0" bIns="0" rtlCol="0" anchor="t"/>
          <a:lstStyle/>
          <a:p>
            <a:pPr indent="0" marL="0">
              <a:buNone/>
            </a:pPr>
            <a:r>
              <a:rPr lang="en-US" sz="1100" b="1" spc="300" kern="0" dirty="0">
                <a:solidFill>
                  <a:srgbClr val="06B6D4"/>
                </a:solidFill>
                <a:latin typeface="Calibri" pitchFamily="34" charset="0"/>
                <a:ea typeface="Calibri" pitchFamily="34" charset="-122"/>
                <a:cs typeface="Calibri" pitchFamily="34" charset="-120"/>
              </a:rPr>
              <a:t>09 · PRICING &amp; UNIT ECONOMICS</a:t>
            </a:r>
            <a:endParaRPr lang="en-US" sz="1100" dirty="0"/>
          </a:p>
        </p:txBody>
      </p:sp>
      <p:sp>
        <p:nvSpPr>
          <p:cNvPr id="3" name="!!title"/>
          <p:cNvSpPr txBox="1"/>
          <p:nvPr/>
        </p:nvSpPr>
        <p:spPr>
          <a:xfrm>
            <a:off x="502920" y="530352"/>
            <a:ext cx="10241280" cy="64008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₹9,999 keeps a 31% contribution margin at small-batch cost</a:t>
            </a:r>
            <a:endParaRPr lang="en-US" sz="2800" dirty="0"/>
          </a:p>
        </p:txBody>
      </p:sp>
      <p:pic>
        <p:nvPicPr>
          <p:cNvPr id="4" name="!!mark" descr="../public/brand/averra-mark-white.png">    </p:cNvPr>
          <p:cNvPicPr>
            <a:picLocks noChangeAspect="1"/>
          </p:cNvPicPr>
          <p:nvPr/>
        </p:nvPicPr>
        <p:blipFill>
          <a:blip r:embed="rId1"/>
          <a:stretch>
            <a:fillRect/>
          </a:stretch>
        </p:blipFill>
        <p:spPr>
          <a:xfrm>
            <a:off x="11201400" y="292608"/>
            <a:ext cx="502920" cy="502920"/>
          </a:xfrm>
          <a:prstGeom prst="rect">
            <a:avLst/>
          </a:prstGeom>
        </p:spPr>
      </p:pic>
      <p:sp>
        <p:nvSpPr>
          <p:cNvPr id="5" name="!!dot1"/>
          <p:cNvSpPr/>
          <p:nvPr/>
        </p:nvSpPr>
        <p:spPr>
          <a:xfrm>
            <a:off x="9692640" y="6510528"/>
            <a:ext cx="54864" cy="54864"/>
          </a:xfrm>
          <a:prstGeom prst="ellipse">
            <a:avLst/>
          </a:prstGeom>
          <a:solidFill>
            <a:srgbClr val="2B3A5C"/>
          </a:solidFill>
          <a:ln w="12700">
            <a:solidFill>
              <a:srgbClr val="2B3A5C"/>
            </a:solidFill>
            <a:prstDash val="solid"/>
          </a:ln>
        </p:spPr>
      </p:sp>
      <p:sp>
        <p:nvSpPr>
          <p:cNvPr id="6" name="!!dot2"/>
          <p:cNvSpPr/>
          <p:nvPr/>
        </p:nvSpPr>
        <p:spPr>
          <a:xfrm>
            <a:off x="9838944" y="6510528"/>
            <a:ext cx="54864" cy="54864"/>
          </a:xfrm>
          <a:prstGeom prst="ellipse">
            <a:avLst/>
          </a:prstGeom>
          <a:solidFill>
            <a:srgbClr val="2B3A5C"/>
          </a:solidFill>
          <a:ln w="12700">
            <a:solidFill>
              <a:srgbClr val="2B3A5C"/>
            </a:solidFill>
            <a:prstDash val="solid"/>
          </a:ln>
        </p:spPr>
      </p:sp>
      <p:sp>
        <p:nvSpPr>
          <p:cNvPr id="7" name="!!dot3"/>
          <p:cNvSpPr/>
          <p:nvPr/>
        </p:nvSpPr>
        <p:spPr>
          <a:xfrm>
            <a:off x="9985248" y="6510528"/>
            <a:ext cx="54864" cy="54864"/>
          </a:xfrm>
          <a:prstGeom prst="ellipse">
            <a:avLst/>
          </a:prstGeom>
          <a:solidFill>
            <a:srgbClr val="2B3A5C"/>
          </a:solidFill>
          <a:ln w="12700">
            <a:solidFill>
              <a:srgbClr val="2B3A5C"/>
            </a:solidFill>
            <a:prstDash val="solid"/>
          </a:ln>
        </p:spPr>
      </p:sp>
      <p:sp>
        <p:nvSpPr>
          <p:cNvPr id="8" name="!!dot4"/>
          <p:cNvSpPr/>
          <p:nvPr/>
        </p:nvSpPr>
        <p:spPr>
          <a:xfrm>
            <a:off x="10131552" y="6510528"/>
            <a:ext cx="54864" cy="54864"/>
          </a:xfrm>
          <a:prstGeom prst="ellipse">
            <a:avLst/>
          </a:prstGeom>
          <a:solidFill>
            <a:srgbClr val="2B3A5C"/>
          </a:solidFill>
          <a:ln w="12700">
            <a:solidFill>
              <a:srgbClr val="2B3A5C"/>
            </a:solidFill>
            <a:prstDash val="solid"/>
          </a:ln>
        </p:spPr>
      </p:sp>
      <p:sp>
        <p:nvSpPr>
          <p:cNvPr id="9" name="!!dot5"/>
          <p:cNvSpPr/>
          <p:nvPr/>
        </p:nvSpPr>
        <p:spPr>
          <a:xfrm>
            <a:off x="10277856" y="6510528"/>
            <a:ext cx="54864" cy="54864"/>
          </a:xfrm>
          <a:prstGeom prst="ellipse">
            <a:avLst/>
          </a:prstGeom>
          <a:solidFill>
            <a:srgbClr val="2B3A5C"/>
          </a:solidFill>
          <a:ln w="12700">
            <a:solidFill>
              <a:srgbClr val="2B3A5C"/>
            </a:solidFill>
            <a:prstDash val="solid"/>
          </a:ln>
        </p:spPr>
      </p:sp>
      <p:sp>
        <p:nvSpPr>
          <p:cNvPr id="10" name="!!dot6"/>
          <p:cNvSpPr/>
          <p:nvPr/>
        </p:nvSpPr>
        <p:spPr>
          <a:xfrm>
            <a:off x="10424160" y="6510528"/>
            <a:ext cx="54864" cy="54864"/>
          </a:xfrm>
          <a:prstGeom prst="ellipse">
            <a:avLst/>
          </a:prstGeom>
          <a:solidFill>
            <a:srgbClr val="2B3A5C"/>
          </a:solidFill>
          <a:ln w="12700">
            <a:solidFill>
              <a:srgbClr val="2B3A5C"/>
            </a:solidFill>
            <a:prstDash val="solid"/>
          </a:ln>
        </p:spPr>
      </p:sp>
      <p:sp>
        <p:nvSpPr>
          <p:cNvPr id="11" name="!!dot7"/>
          <p:cNvSpPr/>
          <p:nvPr/>
        </p:nvSpPr>
        <p:spPr>
          <a:xfrm>
            <a:off x="10570464" y="6510528"/>
            <a:ext cx="54864" cy="54864"/>
          </a:xfrm>
          <a:prstGeom prst="ellipse">
            <a:avLst/>
          </a:prstGeom>
          <a:solidFill>
            <a:srgbClr val="2B3A5C"/>
          </a:solidFill>
          <a:ln w="12700">
            <a:solidFill>
              <a:srgbClr val="2B3A5C"/>
            </a:solidFill>
            <a:prstDash val="solid"/>
          </a:ln>
        </p:spPr>
      </p:sp>
      <p:sp>
        <p:nvSpPr>
          <p:cNvPr id="12" name="!!dot8"/>
          <p:cNvSpPr/>
          <p:nvPr/>
        </p:nvSpPr>
        <p:spPr>
          <a:xfrm>
            <a:off x="10716768" y="6510528"/>
            <a:ext cx="54864" cy="54864"/>
          </a:xfrm>
          <a:prstGeom prst="ellipse">
            <a:avLst/>
          </a:prstGeom>
          <a:solidFill>
            <a:srgbClr val="2B3A5C"/>
          </a:solidFill>
          <a:ln w="12700">
            <a:solidFill>
              <a:srgbClr val="2B3A5C"/>
            </a:solidFill>
            <a:prstDash val="solid"/>
          </a:ln>
        </p:spPr>
      </p:sp>
      <p:sp>
        <p:nvSpPr>
          <p:cNvPr id="13" name="!!dot9"/>
          <p:cNvSpPr/>
          <p:nvPr/>
        </p:nvSpPr>
        <p:spPr>
          <a:xfrm>
            <a:off x="10863072" y="6510528"/>
            <a:ext cx="54864" cy="54864"/>
          </a:xfrm>
          <a:prstGeom prst="ellipse">
            <a:avLst/>
          </a:prstGeom>
          <a:solidFill>
            <a:srgbClr val="2B3A5C"/>
          </a:solidFill>
          <a:ln w="12700">
            <a:solidFill>
              <a:srgbClr val="2B3A5C"/>
            </a:solidFill>
            <a:prstDash val="solid"/>
          </a:ln>
        </p:spPr>
      </p:sp>
      <p:sp>
        <p:nvSpPr>
          <p:cNvPr id="14" name="!!dot10"/>
          <p:cNvSpPr/>
          <p:nvPr/>
        </p:nvSpPr>
        <p:spPr>
          <a:xfrm>
            <a:off x="11009376" y="6510528"/>
            <a:ext cx="100584" cy="100584"/>
          </a:xfrm>
          <a:prstGeom prst="ellipse">
            <a:avLst/>
          </a:prstGeom>
          <a:solidFill>
            <a:srgbClr val="06B6D4"/>
          </a:solidFill>
          <a:ln w="12700">
            <a:solidFill>
              <a:srgbClr val="06B6D4"/>
            </a:solidFill>
            <a:prstDash val="solid"/>
          </a:ln>
        </p:spPr>
      </p:sp>
      <p:sp>
        <p:nvSpPr>
          <p:cNvPr id="15" name="!!dot11"/>
          <p:cNvSpPr/>
          <p:nvPr/>
        </p:nvSpPr>
        <p:spPr>
          <a:xfrm>
            <a:off x="11155680" y="6510528"/>
            <a:ext cx="54864" cy="54864"/>
          </a:xfrm>
          <a:prstGeom prst="ellipse">
            <a:avLst/>
          </a:prstGeom>
          <a:solidFill>
            <a:srgbClr val="2B3A5C"/>
          </a:solidFill>
          <a:ln w="12700">
            <a:solidFill>
              <a:srgbClr val="2B3A5C"/>
            </a:solidFill>
            <a:prstDash val="solid"/>
          </a:ln>
        </p:spPr>
      </p:sp>
      <p:sp>
        <p:nvSpPr>
          <p:cNvPr id="16" name="!!dot12"/>
          <p:cNvSpPr/>
          <p:nvPr/>
        </p:nvSpPr>
        <p:spPr>
          <a:xfrm>
            <a:off x="11301984" y="6510528"/>
            <a:ext cx="54864" cy="54864"/>
          </a:xfrm>
          <a:prstGeom prst="ellipse">
            <a:avLst/>
          </a:prstGeom>
          <a:solidFill>
            <a:srgbClr val="2B3A5C"/>
          </a:solidFill>
          <a:ln w="12700">
            <a:solidFill>
              <a:srgbClr val="2B3A5C"/>
            </a:solidFill>
            <a:prstDash val="solid"/>
          </a:ln>
        </p:spPr>
      </p:sp>
      <p:sp>
        <p:nvSpPr>
          <p:cNvPr id="17" name="!!dot13"/>
          <p:cNvSpPr/>
          <p:nvPr/>
        </p:nvSpPr>
        <p:spPr>
          <a:xfrm>
            <a:off x="11448288" y="6510528"/>
            <a:ext cx="54864" cy="54864"/>
          </a:xfrm>
          <a:prstGeom prst="ellipse">
            <a:avLst/>
          </a:prstGeom>
          <a:solidFill>
            <a:srgbClr val="2B3A5C"/>
          </a:solidFill>
          <a:ln w="12700">
            <a:solidFill>
              <a:srgbClr val="2B3A5C"/>
            </a:solidFill>
            <a:prstDash val="solid"/>
          </a:ln>
        </p:spPr>
      </p:sp>
      <p:sp>
        <p:nvSpPr>
          <p:cNvPr id="18" name="!!dot14"/>
          <p:cNvSpPr/>
          <p:nvPr/>
        </p:nvSpPr>
        <p:spPr>
          <a:xfrm>
            <a:off x="11594592" y="6510528"/>
            <a:ext cx="54864" cy="54864"/>
          </a:xfrm>
          <a:prstGeom prst="ellipse">
            <a:avLst/>
          </a:prstGeom>
          <a:solidFill>
            <a:srgbClr val="2B3A5C"/>
          </a:solidFill>
          <a:ln w="12700">
            <a:solidFill>
              <a:srgbClr val="2B3A5C"/>
            </a:solidFill>
            <a:prstDash val="solid"/>
          </a:ln>
        </p:spPr>
      </p:sp>
      <p:sp>
        <p:nvSpPr>
          <p:cNvPr id="19" name="!!brand"/>
          <p:cNvSpPr txBox="1"/>
          <p:nvPr/>
        </p:nvSpPr>
        <p:spPr>
          <a:xfrm>
            <a:off x="502920" y="6446520"/>
            <a:ext cx="1828800" cy="201168"/>
          </a:xfrm>
          <a:prstGeom prst="rect">
            <a:avLst/>
          </a:prstGeom>
          <a:noFill/>
          <a:ln/>
        </p:spPr>
        <p:txBody>
          <a:bodyPr wrap="square" lIns="0" tIns="0" rIns="0" bIns="0" rtlCol="0" anchor="t"/>
          <a:lstStyle/>
          <a:p>
            <a:pPr indent="0" marL="0">
              <a:buNone/>
            </a:pPr>
            <a:r>
              <a:rPr lang="en-US" sz="900" b="1" spc="500" kern="0" dirty="0">
                <a:solidFill>
                  <a:srgbClr val="94A3B8"/>
                </a:solidFill>
                <a:latin typeface="Calibri" pitchFamily="34" charset="0"/>
                <a:ea typeface="Calibri" pitchFamily="34" charset="-122"/>
                <a:cs typeface="Calibri" pitchFamily="34" charset="-120"/>
              </a:rPr>
              <a:t>AVERRA</a:t>
            </a:r>
            <a:endParaRPr lang="en-US" sz="900" dirty="0"/>
          </a:p>
        </p:txBody>
      </p:sp>
      <p:graphicFrame>
        <p:nvGraphicFramePr>
          <p:cNvPr id="21" name="cost_chart" descr=""/>
          <p:cNvGraphicFramePr/>
          <p:nvPr/>
        </p:nvGraphicFramePr>
        <p:xfrm>
          <a:off x="411480" y="1325880"/>
          <a:ext cx="5120640" cy="3291840"/>
        </p:xfrm>
        <a:graphic xmlns:a="http://schemas.openxmlformats.org/drawingml/2006/main">
          <a:graphicData uri="http://schemas.openxmlformats.org/drawingml/2006/chart">
            <c:chart xmlns:c="http://schemas.openxmlformats.org/drawingml/2006/chart" r:id="rId2"/>
          </a:graphicData>
        </a:graphic>
      </p:graphicFrame>
      <p:sp>
        <p:nvSpPr>
          <p:cNvPr id="22" name="cost_note"/>
          <p:cNvSpPr txBox="1"/>
          <p:nvPr/>
        </p:nvSpPr>
        <p:spPr>
          <a:xfrm>
            <a:off x="502920" y="4663440"/>
            <a:ext cx="5029200" cy="685800"/>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A ₹4,862 · B ₹4,830 · C ₹2,720</a:t>
            </a:r>
            <a:endParaRPr lang="en-US" sz="1050" dirty="0"/>
          </a:p>
          <a:p>
            <a:pPr indent="0" marL="0">
              <a:buNone/>
            </a:pPr>
            <a:r>
              <a:rPr lang="en-US" sz="1050" dirty="0">
                <a:solidFill>
                  <a:srgbClr val="F59E0B"/>
                </a:solidFill>
                <a:latin typeface="Calibri" pitchFamily="34" charset="0"/>
                <a:ea typeface="Calibri" pitchFamily="34" charset="-122"/>
                <a:cs typeface="Calibri" pitchFamily="34" charset="-120"/>
              </a:rPr>
              <a:t>Prototype parts today ≈ ₹4,062. ₹2,000 = volume electronics TARGET (C: ₹1,950), needs quotes.</a:t>
            </a:r>
            <a:endParaRPr lang="en-US" sz="1050" dirty="0"/>
          </a:p>
        </p:txBody>
      </p:sp>
      <p:graphicFrame>
        <p:nvGraphicFramePr>
          <p:cNvPr id="11" name="price_table"/>
          <p:cNvGraphicFramePr>
            <a:graphicFrameLocks noGrp="1"/>
          </p:cNvGraphicFramePr>
          <p:nvPr>
            <p:extLst>
              <p:ext uri="{D42A27DB-BD31-4B8C-83A1-F6EECF244321}">
                <p14:modId xmlns:p14="http://schemas.microsoft.com/office/powerpoint/2010/main" val="1579011935"/>
              </p:ext>
            </p:extLst>
          </p:nvPr>
        </p:nvGraphicFramePr>
        <p:xfrm>
          <a:off x="5806440" y="1371600"/>
          <a:ext cx="3291840" cy="914400"/>
        </p:xfrm>
        <a:graphic>
          <a:graphicData uri="http://schemas.openxmlformats.org/drawingml/2006/table">
            <a:tbl>
              <a:tblPr/>
              <a:tblGrid>
                <a:gridCol w="1234440"/>
                <a:gridCol w="1051560"/>
                <a:gridCol w="1005840"/>
              </a:tblGrid>
              <a:tr h="384048">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Price</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 contribution</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 contribution</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r h="384048">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₹5,999</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00" dirty="0">
                          <a:solidFill>
                            <a:srgbClr val="F87171"/>
                          </a:solidFill>
                          <a:latin typeface="Calibri" pitchFamily="34" charset="0"/>
                          <a:ea typeface="Calibri" pitchFamily="34" charset="-122"/>
                          <a:cs typeface="Calibri" pitchFamily="34" charset="-120"/>
                        </a:rPr>
                        <a:t>-₹510 (-11%)</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₹1,601 (33%)</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r h="384048">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₹6,999</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00" dirty="0">
                          <a:solidFill>
                            <a:srgbClr val="F87171"/>
                          </a:solidFill>
                          <a:latin typeface="Calibri" pitchFamily="34" charset="0"/>
                          <a:ea typeface="Calibri" pitchFamily="34" charset="-122"/>
                          <a:cs typeface="Calibri" pitchFamily="34" charset="-120"/>
                        </a:rPr>
                        <a:t>₹252 (4%)</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₹2,363 (42%)</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r h="384048">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₹7,999</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₹1,014 (16%)</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₹3,124 (48%)</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r h="384048">
                <a:tc>
                  <a:txBody>
                    <a:bodyPr/>
                    <a:lstStyle/>
                    <a:p>
                      <a:pPr indent="0" marL="0">
                        <a:buNone/>
                      </a:pPr>
                      <a:r>
                        <a:rPr lang="en-US" sz="1000" b="1" dirty="0">
                          <a:solidFill>
                            <a:srgbClr val="8B5CF6"/>
                          </a:solidFill>
                          <a:latin typeface="Calibri" pitchFamily="34" charset="0"/>
                          <a:ea typeface="Calibri" pitchFamily="34" charset="-122"/>
                          <a:cs typeface="Calibri" pitchFamily="34" charset="-120"/>
                        </a:rPr>
                        <a:t>₹8,999  from M19 (C)</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₹1,776 (24%)</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₹3,886 (53%)</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r h="384048">
                <a:tc>
                  <a:txBody>
                    <a:bodyPr/>
                    <a:lstStyle/>
                    <a:p>
                      <a:pPr indent="0" marL="0">
                        <a:buNone/>
                      </a:pPr>
                      <a:r>
                        <a:rPr lang="en-US" sz="1000" b="1" dirty="0">
                          <a:solidFill>
                            <a:srgbClr val="06B6D4"/>
                          </a:solidFill>
                          <a:latin typeface="Calibri" pitchFamily="34" charset="0"/>
                          <a:ea typeface="Calibri" pitchFamily="34" charset="-122"/>
                          <a:cs typeface="Calibri" pitchFamily="34" charset="-120"/>
                        </a:rPr>
                        <a:t>₹9,999  launch (B)</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₹2,538 (31%)</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₹4,648 (57%)</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bl>
          </a:graphicData>
        </a:graphic>
      </p:graphicFrame>
      <p:sp>
        <p:nvSpPr>
          <p:cNvPr id="24" name="gm_note"/>
          <p:cNvSpPr txBox="1"/>
          <p:nvPr/>
        </p:nvSpPr>
        <p:spPr>
          <a:xfrm>
            <a:off x="5806440" y="3767328"/>
            <a:ext cx="3291840" cy="54864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Gross margin 40% · contribution 31% at B. Below ₹9,999 needs verified C cost.</a:t>
            </a:r>
            <a:endParaRPr lang="en-US" sz="1000" dirty="0"/>
          </a:p>
        </p:txBody>
      </p:sp>
      <p:graphicFrame>
        <p:nvGraphicFramePr>
          <p:cNvPr id="21" name="ltv_table"/>
          <p:cNvGraphicFramePr>
            <a:graphicFrameLocks noGrp="1"/>
          </p:cNvGraphicFramePr>
          <p:nvPr>
            <p:extLst>
              <p:ext uri="{D42A27DB-BD31-4B8C-83A1-F6EECF244321}">
                <p14:modId xmlns:p14="http://schemas.microsoft.com/office/powerpoint/2010/main" val="1579011935"/>
              </p:ext>
            </p:extLst>
          </p:nvPr>
        </p:nvGraphicFramePr>
        <p:xfrm>
          <a:off x="9326880" y="1371600"/>
          <a:ext cx="2377440" cy="914400"/>
        </p:xfrm>
        <a:graphic>
          <a:graphicData uri="http://schemas.openxmlformats.org/drawingml/2006/table">
            <a:tbl>
              <a:tblPr/>
              <a:tblGrid>
                <a:gridCol w="777240"/>
                <a:gridCol w="822960"/>
                <a:gridCol w="777240"/>
              </a:tblGrid>
              <a:tr h="384048">
                <a:tc>
                  <a:txBody>
                    <a:bodyPr/>
                    <a:lstStyle/>
                    <a:p>
                      <a:pPr indent="0" marL="0">
                        <a:buNone/>
                      </a:pP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1B2847"/>
                    </a:solidFill>
                  </a:tcPr>
                </a:tc>
                <a:tc>
                  <a:txBody>
                    <a:bodyPr/>
                    <a:lstStyle/>
                    <a:p>
                      <a:pPr indent="0" marL="0">
                        <a:buNone/>
                      </a:pPr>
                      <a:r>
                        <a:rPr lang="en-US" sz="1000" b="1" dirty="0">
                          <a:solidFill>
                            <a:srgbClr val="8B5CF6"/>
                          </a:solidFill>
                          <a:latin typeface="Calibri" pitchFamily="34" charset="0"/>
                          <a:ea typeface="Calibri" pitchFamily="34" charset="-122"/>
                          <a:cs typeface="Calibri" pitchFamily="34" charset="-120"/>
                        </a:rPr>
                        <a:t>TremoSense</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1B2847"/>
                    </a:solidFill>
                  </a:tcPr>
                </a:tc>
                <a:tc>
                  <a:txBody>
                    <a:bodyPr/>
                    <a:lstStyle/>
                    <a:p>
                      <a:pPr indent="0" marL="0">
                        <a:buNone/>
                      </a:pPr>
                      <a:r>
                        <a:rPr lang="en-US" sz="1000" b="1" dirty="0">
                          <a:solidFill>
                            <a:srgbClr val="06B6D4"/>
                          </a:solidFill>
                          <a:latin typeface="Calibri" pitchFamily="34" charset="0"/>
                          <a:ea typeface="Calibri" pitchFamily="34" charset="-122"/>
                          <a:cs typeface="Calibri" pitchFamily="34" charset="-120"/>
                        </a:rPr>
                        <a:t>ParkinSense</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1B2847"/>
                    </a:solidFill>
                  </a:tcPr>
                </a:tc>
              </a:tr>
              <a:tr h="384048">
                <a:tc>
                  <a:txBody>
                    <a:bodyPr/>
                    <a:lstStyle/>
                    <a:p>
                      <a:pPr indent="0" marL="0">
                        <a:buNone/>
                      </a:pPr>
                      <a:r>
                        <a:rPr lang="en-US" sz="1000" b="1" dirty="0">
                          <a:solidFill>
                            <a:srgbClr val="94A3B8"/>
                          </a:solidFill>
                          <a:latin typeface="Calibri" pitchFamily="34" charset="0"/>
                          <a:ea typeface="Calibri" pitchFamily="34" charset="-122"/>
                          <a:cs typeface="Calibri" pitchFamily="34" charset="-120"/>
                        </a:rPr>
                        <a:t>CAC</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₹1,079</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₹1,500</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r h="384048">
                <a:tc>
                  <a:txBody>
                    <a:bodyPr/>
                    <a:lstStyle/>
                    <a:p>
                      <a:pPr indent="0" marL="0">
                        <a:buNone/>
                      </a:pPr>
                      <a:r>
                        <a:rPr lang="en-US" sz="1000" b="1" dirty="0">
                          <a:solidFill>
                            <a:srgbClr val="94A3B8"/>
                          </a:solidFill>
                          <a:latin typeface="Calibri" pitchFamily="34" charset="0"/>
                          <a:ea typeface="Calibri" pitchFamily="34" charset="-122"/>
                          <a:cs typeface="Calibri" pitchFamily="34" charset="-120"/>
                        </a:rPr>
                        <a:t>LTV</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₹3,553</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₹3,011</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r h="384048">
                <a:tc>
                  <a:txBody>
                    <a:bodyPr/>
                    <a:lstStyle/>
                    <a:p>
                      <a:pPr indent="0" marL="0">
                        <a:buNone/>
                      </a:pPr>
                      <a:r>
                        <a:rPr lang="en-US" sz="1000" b="1" dirty="0">
                          <a:solidFill>
                            <a:srgbClr val="94A3B8"/>
                          </a:solidFill>
                          <a:latin typeface="Calibri" pitchFamily="34" charset="0"/>
                          <a:ea typeface="Calibri" pitchFamily="34" charset="-122"/>
                          <a:cs typeface="Calibri" pitchFamily="34" charset="-120"/>
                        </a:rPr>
                        <a:t>LTV : CAC</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3.3×</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r h="384048">
                <a:tc>
                  <a:txBody>
                    <a:bodyPr/>
                    <a:lstStyle/>
                    <a:p>
                      <a:pPr indent="0" marL="0">
                        <a:buNone/>
                      </a:pPr>
                      <a:r>
                        <a:rPr lang="en-US" sz="1000" b="1" dirty="0">
                          <a:solidFill>
                            <a:srgbClr val="94A3B8"/>
                          </a:solidFill>
                          <a:latin typeface="Calibri" pitchFamily="34" charset="0"/>
                          <a:ea typeface="Calibri" pitchFamily="34" charset="-122"/>
                          <a:cs typeface="Calibri" pitchFamily="34" charset="-120"/>
                        </a:rPr>
                        <a:t>Payback</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first sale</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first sale</a:t>
                      </a:r>
                      <a:endParaRPr lang="en-US" sz="1000" dirty="0">
                        <a:latin typeface="Calibri" charset="0"/>
                        <a:ea typeface="Calibri" charset="0"/>
                        <a:cs typeface="Calibri" charset="0"/>
                      </a:endParaRPr>
                    </a:p>
                  </a:txBody>
                  <a:tcPr marL="36576" marR="36576" marT="36576" marB="36576"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bl>
          </a:graphicData>
        </a:graphic>
      </p:graphicFrame>
      <p:sp>
        <p:nvSpPr>
          <p:cNvPr id="26" name="ltv_note"/>
          <p:cNvSpPr txBox="1"/>
          <p:nvPr/>
        </p:nvSpPr>
        <p:spPr>
          <a:xfrm>
            <a:off x="9326880" y="3429000"/>
            <a:ext cx="2377440" cy="91440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All estimates — no customers yet. ParkinSense launches at M25, after the wellness beta.</a:t>
            </a:r>
            <a:endParaRPr lang="en-US" sz="950" dirty="0"/>
          </a:p>
        </p:txBody>
      </p:sp>
      <p:sp>
        <p:nvSpPr>
          <p:cNvPr id="27" name="channels"/>
          <p:cNvSpPr/>
          <p:nvPr/>
        </p:nvSpPr>
        <p:spPr>
          <a:xfrm>
            <a:off x="5806440" y="4434840"/>
            <a:ext cx="5897880" cy="1051560"/>
          </a:xfrm>
          <a:prstGeom prst="roundRect">
            <a:avLst>
              <a:gd name="adj" fmla="val 6087"/>
            </a:avLst>
          </a:prstGeom>
          <a:solidFill>
            <a:srgbClr val="16213A"/>
          </a:solidFill>
          <a:ln w="9525">
            <a:solidFill>
              <a:srgbClr val="2B3A5C"/>
            </a:solidFill>
            <a:prstDash val="solid"/>
          </a:ln>
        </p:spPr>
      </p:sp>
      <p:sp>
        <p:nvSpPr>
          <p:cNvPr id="28" name="channels_t"/>
          <p:cNvSpPr txBox="1"/>
          <p:nvPr/>
        </p:nvSpPr>
        <p:spPr>
          <a:xfrm>
            <a:off x="5943600" y="4507992"/>
            <a:ext cx="5669280" cy="914400"/>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Channels at launch price (none validated): </a:t>
            </a:r>
            <a:pPr indent="0" marL="0">
              <a:buNone/>
            </a:pPr>
            <a:r>
              <a:rPr lang="en-US" sz="1000" dirty="0">
                <a:solidFill>
                  <a:srgbClr val="CBD5E1"/>
                </a:solidFill>
                <a:latin typeface="Calibri" pitchFamily="34" charset="0"/>
                <a:ea typeface="Calibri" pitchFamily="34" charset="-122"/>
                <a:cs typeface="Calibri" pitchFamily="34" charset="-120"/>
              </a:rPr>
              <a:t>Direct online ₹3,966 · Clinic partnership ₹2,538 · Occupational-therapy centres ₹2,538 · Institutional procurement ₹3,014 · No-cost EMI (direct) ₹3,566 · rental ₹576/mo, device recovered in 9.3 mo</a:t>
            </a:r>
            <a:endParaRPr lang="en-US" sz="1000" dirty="0"/>
          </a:p>
        </p:txBody>
      </p:sp>
      <p:sp>
        <p:nvSpPr>
          <p:cNvPr id="29" name="sources"/>
          <p:cNvSpPr txBox="1"/>
          <p:nvPr/>
        </p:nvSpPr>
        <p:spPr>
          <a:xfrm>
            <a:off x="502920" y="6199632"/>
            <a:ext cx="8778240" cy="274320"/>
          </a:xfrm>
          <a:prstGeom prst="rect">
            <a:avLst/>
          </a:prstGeom>
          <a:noFill/>
          <a:ln/>
        </p:spPr>
        <p:txBody>
          <a:bodyPr wrap="square" lIns="0" tIns="0" rIns="0" bIns="0" rtlCol="0" anchor="t"/>
          <a:lstStyle/>
          <a:p>
            <a:pPr indent="0" marL="0">
              <a:buNone/>
            </a:pPr>
            <a:r>
              <a:rPr lang="en-US" sz="850" dirty="0">
                <a:solidFill>
                  <a:srgbClr val="94A3B8"/>
                </a:solidFill>
                <a:latin typeface="Calibri" pitchFamily="34" charset="0"/>
                <a:ea typeface="Calibri" pitchFamily="34" charset="-122"/>
                <a:cs typeface="Calibri" pitchFamily="34" charset="-120"/>
              </a:rPr>
              <a:t>GST 5% device / 18% wearable &amp; software (verify HSN). Clinic margin 15%. Warranty 5% (8% in A). Model › TremoSense Costs, Price Matrix, Unit Economics.</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5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45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5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5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50"/>
                                        <p:tgtEl>
                                          <p:spTgt spid="27"/>
                                        </p:tgtEl>
                                      </p:cBhvr>
                                    </p:animEffect>
                                  </p:childTnLst>
                                </p:cTn>
                              </p:par>
                              <p:par>
                                <p:cTn id="33" presetID="10" presetClass="entr" presetSubtype="0" fill="hold"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animBg="1"/>
      <p:bldP spid="26" grpId="0" animBg="1"/>
      <p:bldP spid="27" grpId="0" animBg="1"/>
      <p:bldP spid="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kicker"/>
          <p:cNvSpPr txBox="1"/>
          <p:nvPr/>
        </p:nvSpPr>
        <p:spPr>
          <a:xfrm>
            <a:off x="502920" y="274320"/>
            <a:ext cx="7315200" cy="256032"/>
          </a:xfrm>
          <a:prstGeom prst="rect">
            <a:avLst/>
          </a:prstGeom>
          <a:noFill/>
          <a:ln/>
        </p:spPr>
        <p:txBody>
          <a:bodyPr wrap="square" lIns="0" tIns="0" rIns="0" bIns="0" rtlCol="0" anchor="t"/>
          <a:lstStyle/>
          <a:p>
            <a:pPr indent="0" marL="0">
              <a:buNone/>
            </a:pPr>
            <a:r>
              <a:rPr lang="en-US" sz="1100" b="1" spc="300" kern="0" dirty="0">
                <a:solidFill>
                  <a:srgbClr val="06B6D4"/>
                </a:solidFill>
                <a:latin typeface="Calibri" pitchFamily="34" charset="0"/>
                <a:ea typeface="Calibri" pitchFamily="34" charset="-122"/>
                <a:cs typeface="Calibri" pitchFamily="34" charset="-120"/>
              </a:rPr>
              <a:t>10 · FINANCIAL FORECAST</a:t>
            </a:r>
            <a:endParaRPr lang="en-US" sz="1100" dirty="0"/>
          </a:p>
        </p:txBody>
      </p:sp>
      <p:sp>
        <p:nvSpPr>
          <p:cNvPr id="3" name="!!title"/>
          <p:cNvSpPr txBox="1"/>
          <p:nvPr/>
        </p:nvSpPr>
        <p:spPr>
          <a:xfrm>
            <a:off x="502920" y="530352"/>
            <a:ext cx="10241280" cy="64008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Profitable from Aug 2029 — break-even in month 26</a:t>
            </a:r>
            <a:endParaRPr lang="en-US" sz="2800" dirty="0"/>
          </a:p>
        </p:txBody>
      </p:sp>
      <p:pic>
        <p:nvPicPr>
          <p:cNvPr id="4" name="!!mark" descr="../public/brand/averra-mark-white.png">    </p:cNvPr>
          <p:cNvPicPr>
            <a:picLocks noChangeAspect="1"/>
          </p:cNvPicPr>
          <p:nvPr/>
        </p:nvPicPr>
        <p:blipFill>
          <a:blip r:embed="rId1"/>
          <a:stretch>
            <a:fillRect/>
          </a:stretch>
        </p:blipFill>
        <p:spPr>
          <a:xfrm>
            <a:off x="11201400" y="292608"/>
            <a:ext cx="502920" cy="502920"/>
          </a:xfrm>
          <a:prstGeom prst="rect">
            <a:avLst/>
          </a:prstGeom>
        </p:spPr>
      </p:pic>
      <p:sp>
        <p:nvSpPr>
          <p:cNvPr id="5" name="!!dot1"/>
          <p:cNvSpPr/>
          <p:nvPr/>
        </p:nvSpPr>
        <p:spPr>
          <a:xfrm>
            <a:off x="9692640" y="6510528"/>
            <a:ext cx="54864" cy="54864"/>
          </a:xfrm>
          <a:prstGeom prst="ellipse">
            <a:avLst/>
          </a:prstGeom>
          <a:solidFill>
            <a:srgbClr val="2B3A5C"/>
          </a:solidFill>
          <a:ln w="12700">
            <a:solidFill>
              <a:srgbClr val="2B3A5C"/>
            </a:solidFill>
            <a:prstDash val="solid"/>
          </a:ln>
        </p:spPr>
      </p:sp>
      <p:sp>
        <p:nvSpPr>
          <p:cNvPr id="6" name="!!dot2"/>
          <p:cNvSpPr/>
          <p:nvPr/>
        </p:nvSpPr>
        <p:spPr>
          <a:xfrm>
            <a:off x="9838944" y="6510528"/>
            <a:ext cx="54864" cy="54864"/>
          </a:xfrm>
          <a:prstGeom prst="ellipse">
            <a:avLst/>
          </a:prstGeom>
          <a:solidFill>
            <a:srgbClr val="2B3A5C"/>
          </a:solidFill>
          <a:ln w="12700">
            <a:solidFill>
              <a:srgbClr val="2B3A5C"/>
            </a:solidFill>
            <a:prstDash val="solid"/>
          </a:ln>
        </p:spPr>
      </p:sp>
      <p:sp>
        <p:nvSpPr>
          <p:cNvPr id="7" name="!!dot3"/>
          <p:cNvSpPr/>
          <p:nvPr/>
        </p:nvSpPr>
        <p:spPr>
          <a:xfrm>
            <a:off x="9985248" y="6510528"/>
            <a:ext cx="54864" cy="54864"/>
          </a:xfrm>
          <a:prstGeom prst="ellipse">
            <a:avLst/>
          </a:prstGeom>
          <a:solidFill>
            <a:srgbClr val="2B3A5C"/>
          </a:solidFill>
          <a:ln w="12700">
            <a:solidFill>
              <a:srgbClr val="2B3A5C"/>
            </a:solidFill>
            <a:prstDash val="solid"/>
          </a:ln>
        </p:spPr>
      </p:sp>
      <p:sp>
        <p:nvSpPr>
          <p:cNvPr id="8" name="!!dot4"/>
          <p:cNvSpPr/>
          <p:nvPr/>
        </p:nvSpPr>
        <p:spPr>
          <a:xfrm>
            <a:off x="10131552" y="6510528"/>
            <a:ext cx="54864" cy="54864"/>
          </a:xfrm>
          <a:prstGeom prst="ellipse">
            <a:avLst/>
          </a:prstGeom>
          <a:solidFill>
            <a:srgbClr val="2B3A5C"/>
          </a:solidFill>
          <a:ln w="12700">
            <a:solidFill>
              <a:srgbClr val="2B3A5C"/>
            </a:solidFill>
            <a:prstDash val="solid"/>
          </a:ln>
        </p:spPr>
      </p:sp>
      <p:sp>
        <p:nvSpPr>
          <p:cNvPr id="9" name="!!dot5"/>
          <p:cNvSpPr/>
          <p:nvPr/>
        </p:nvSpPr>
        <p:spPr>
          <a:xfrm>
            <a:off x="10277856" y="6510528"/>
            <a:ext cx="54864" cy="54864"/>
          </a:xfrm>
          <a:prstGeom prst="ellipse">
            <a:avLst/>
          </a:prstGeom>
          <a:solidFill>
            <a:srgbClr val="2B3A5C"/>
          </a:solidFill>
          <a:ln w="12700">
            <a:solidFill>
              <a:srgbClr val="2B3A5C"/>
            </a:solidFill>
            <a:prstDash val="solid"/>
          </a:ln>
        </p:spPr>
      </p:sp>
      <p:sp>
        <p:nvSpPr>
          <p:cNvPr id="10" name="!!dot6"/>
          <p:cNvSpPr/>
          <p:nvPr/>
        </p:nvSpPr>
        <p:spPr>
          <a:xfrm>
            <a:off x="10424160" y="6510528"/>
            <a:ext cx="54864" cy="54864"/>
          </a:xfrm>
          <a:prstGeom prst="ellipse">
            <a:avLst/>
          </a:prstGeom>
          <a:solidFill>
            <a:srgbClr val="2B3A5C"/>
          </a:solidFill>
          <a:ln w="12700">
            <a:solidFill>
              <a:srgbClr val="2B3A5C"/>
            </a:solidFill>
            <a:prstDash val="solid"/>
          </a:ln>
        </p:spPr>
      </p:sp>
      <p:sp>
        <p:nvSpPr>
          <p:cNvPr id="11" name="!!dot7"/>
          <p:cNvSpPr/>
          <p:nvPr/>
        </p:nvSpPr>
        <p:spPr>
          <a:xfrm>
            <a:off x="10570464" y="6510528"/>
            <a:ext cx="54864" cy="54864"/>
          </a:xfrm>
          <a:prstGeom prst="ellipse">
            <a:avLst/>
          </a:prstGeom>
          <a:solidFill>
            <a:srgbClr val="2B3A5C"/>
          </a:solidFill>
          <a:ln w="12700">
            <a:solidFill>
              <a:srgbClr val="2B3A5C"/>
            </a:solidFill>
            <a:prstDash val="solid"/>
          </a:ln>
        </p:spPr>
      </p:sp>
      <p:sp>
        <p:nvSpPr>
          <p:cNvPr id="12" name="!!dot8"/>
          <p:cNvSpPr/>
          <p:nvPr/>
        </p:nvSpPr>
        <p:spPr>
          <a:xfrm>
            <a:off x="10716768" y="6510528"/>
            <a:ext cx="54864" cy="54864"/>
          </a:xfrm>
          <a:prstGeom prst="ellipse">
            <a:avLst/>
          </a:prstGeom>
          <a:solidFill>
            <a:srgbClr val="2B3A5C"/>
          </a:solidFill>
          <a:ln w="12700">
            <a:solidFill>
              <a:srgbClr val="2B3A5C"/>
            </a:solidFill>
            <a:prstDash val="solid"/>
          </a:ln>
        </p:spPr>
      </p:sp>
      <p:sp>
        <p:nvSpPr>
          <p:cNvPr id="13" name="!!dot9"/>
          <p:cNvSpPr/>
          <p:nvPr/>
        </p:nvSpPr>
        <p:spPr>
          <a:xfrm>
            <a:off x="10863072" y="6510528"/>
            <a:ext cx="54864" cy="54864"/>
          </a:xfrm>
          <a:prstGeom prst="ellipse">
            <a:avLst/>
          </a:prstGeom>
          <a:solidFill>
            <a:srgbClr val="2B3A5C"/>
          </a:solidFill>
          <a:ln w="12700">
            <a:solidFill>
              <a:srgbClr val="2B3A5C"/>
            </a:solidFill>
            <a:prstDash val="solid"/>
          </a:ln>
        </p:spPr>
      </p:sp>
      <p:sp>
        <p:nvSpPr>
          <p:cNvPr id="14" name="!!dot10"/>
          <p:cNvSpPr/>
          <p:nvPr/>
        </p:nvSpPr>
        <p:spPr>
          <a:xfrm>
            <a:off x="11009376" y="6510528"/>
            <a:ext cx="54864" cy="54864"/>
          </a:xfrm>
          <a:prstGeom prst="ellipse">
            <a:avLst/>
          </a:prstGeom>
          <a:solidFill>
            <a:srgbClr val="2B3A5C"/>
          </a:solidFill>
          <a:ln w="12700">
            <a:solidFill>
              <a:srgbClr val="2B3A5C"/>
            </a:solidFill>
            <a:prstDash val="solid"/>
          </a:ln>
        </p:spPr>
      </p:sp>
      <p:sp>
        <p:nvSpPr>
          <p:cNvPr id="15" name="!!dot11"/>
          <p:cNvSpPr/>
          <p:nvPr/>
        </p:nvSpPr>
        <p:spPr>
          <a:xfrm>
            <a:off x="11155680" y="6510528"/>
            <a:ext cx="100584" cy="100584"/>
          </a:xfrm>
          <a:prstGeom prst="ellipse">
            <a:avLst/>
          </a:prstGeom>
          <a:solidFill>
            <a:srgbClr val="06B6D4"/>
          </a:solidFill>
          <a:ln w="12700">
            <a:solidFill>
              <a:srgbClr val="06B6D4"/>
            </a:solidFill>
            <a:prstDash val="solid"/>
          </a:ln>
        </p:spPr>
      </p:sp>
      <p:sp>
        <p:nvSpPr>
          <p:cNvPr id="16" name="!!dot12"/>
          <p:cNvSpPr/>
          <p:nvPr/>
        </p:nvSpPr>
        <p:spPr>
          <a:xfrm>
            <a:off x="11301984" y="6510528"/>
            <a:ext cx="54864" cy="54864"/>
          </a:xfrm>
          <a:prstGeom prst="ellipse">
            <a:avLst/>
          </a:prstGeom>
          <a:solidFill>
            <a:srgbClr val="2B3A5C"/>
          </a:solidFill>
          <a:ln w="12700">
            <a:solidFill>
              <a:srgbClr val="2B3A5C"/>
            </a:solidFill>
            <a:prstDash val="solid"/>
          </a:ln>
        </p:spPr>
      </p:sp>
      <p:sp>
        <p:nvSpPr>
          <p:cNvPr id="17" name="!!dot13"/>
          <p:cNvSpPr/>
          <p:nvPr/>
        </p:nvSpPr>
        <p:spPr>
          <a:xfrm>
            <a:off x="11448288" y="6510528"/>
            <a:ext cx="54864" cy="54864"/>
          </a:xfrm>
          <a:prstGeom prst="ellipse">
            <a:avLst/>
          </a:prstGeom>
          <a:solidFill>
            <a:srgbClr val="2B3A5C"/>
          </a:solidFill>
          <a:ln w="12700">
            <a:solidFill>
              <a:srgbClr val="2B3A5C"/>
            </a:solidFill>
            <a:prstDash val="solid"/>
          </a:ln>
        </p:spPr>
      </p:sp>
      <p:sp>
        <p:nvSpPr>
          <p:cNvPr id="18" name="!!dot14"/>
          <p:cNvSpPr/>
          <p:nvPr/>
        </p:nvSpPr>
        <p:spPr>
          <a:xfrm>
            <a:off x="11594592" y="6510528"/>
            <a:ext cx="54864" cy="54864"/>
          </a:xfrm>
          <a:prstGeom prst="ellipse">
            <a:avLst/>
          </a:prstGeom>
          <a:solidFill>
            <a:srgbClr val="2B3A5C"/>
          </a:solidFill>
          <a:ln w="12700">
            <a:solidFill>
              <a:srgbClr val="2B3A5C"/>
            </a:solidFill>
            <a:prstDash val="solid"/>
          </a:ln>
        </p:spPr>
      </p:sp>
      <p:sp>
        <p:nvSpPr>
          <p:cNvPr id="19" name="!!brand"/>
          <p:cNvSpPr txBox="1"/>
          <p:nvPr/>
        </p:nvSpPr>
        <p:spPr>
          <a:xfrm>
            <a:off x="502920" y="6446520"/>
            <a:ext cx="1828800" cy="201168"/>
          </a:xfrm>
          <a:prstGeom prst="rect">
            <a:avLst/>
          </a:prstGeom>
          <a:noFill/>
          <a:ln/>
        </p:spPr>
        <p:txBody>
          <a:bodyPr wrap="square" lIns="0" tIns="0" rIns="0" bIns="0" rtlCol="0" anchor="t"/>
          <a:lstStyle/>
          <a:p>
            <a:pPr indent="0" marL="0">
              <a:buNone/>
            </a:pPr>
            <a:r>
              <a:rPr lang="en-US" sz="900" b="1" spc="500" kern="0" dirty="0">
                <a:solidFill>
                  <a:srgbClr val="94A3B8"/>
                </a:solidFill>
                <a:latin typeface="Calibri" pitchFamily="34" charset="0"/>
                <a:ea typeface="Calibri" pitchFamily="34" charset="-122"/>
                <a:cs typeface="Calibri" pitchFamily="34" charset="-120"/>
              </a:rPr>
              <a:t>AVERRA</a:t>
            </a:r>
            <a:endParaRPr lang="en-US" sz="900" dirty="0"/>
          </a:p>
        </p:txBody>
      </p:sp>
      <p:graphicFrame>
        <p:nvGraphicFramePr>
          <p:cNvPr id="21" name="fc_chart" descr=""/>
          <p:cNvGraphicFramePr/>
          <p:nvPr/>
        </p:nvGraphicFramePr>
        <p:xfrm>
          <a:off x="411480" y="1325880"/>
          <a:ext cx="7498080" cy="4617720"/>
        </p:xfrm>
        <a:graphic xmlns:a="http://schemas.openxmlformats.org/drawingml/2006/main">
          <a:graphicData uri="http://schemas.openxmlformats.org/drawingml/2006/chart">
            <c:chart xmlns:c="http://schemas.openxmlformats.org/drawingml/2006/chart" r:id="rId2"/>
          </a:graphicData>
        </a:graphic>
      </p:graphicFrame>
      <p:sp>
        <p:nvSpPr>
          <p:cNvPr id="22" name="kpi0"/>
          <p:cNvSpPr/>
          <p:nvPr/>
        </p:nvSpPr>
        <p:spPr>
          <a:xfrm>
            <a:off x="8183880" y="1325880"/>
            <a:ext cx="3520440" cy="676656"/>
          </a:xfrm>
          <a:prstGeom prst="roundRect">
            <a:avLst>
              <a:gd name="adj" fmla="val 9459"/>
            </a:avLst>
          </a:prstGeom>
          <a:solidFill>
            <a:srgbClr val="16213A"/>
          </a:solidFill>
          <a:ln w="9525">
            <a:solidFill>
              <a:srgbClr val="2B3A5C"/>
            </a:solidFill>
            <a:prstDash val="solid"/>
          </a:ln>
        </p:spPr>
      </p:sp>
      <p:sp>
        <p:nvSpPr>
          <p:cNvPr id="23" name="Text 18"/>
          <p:cNvSpPr txBox="1"/>
          <p:nvPr/>
        </p:nvSpPr>
        <p:spPr>
          <a:xfrm>
            <a:off x="8339328" y="1417320"/>
            <a:ext cx="1463040" cy="5029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Year 1: costs · burn</a:t>
            </a:r>
            <a:endParaRPr lang="en-US" sz="1050" dirty="0"/>
          </a:p>
        </p:txBody>
      </p:sp>
      <p:sp>
        <p:nvSpPr>
          <p:cNvPr id="24" name="kpi_v0"/>
          <p:cNvSpPr txBox="1"/>
          <p:nvPr/>
        </p:nvSpPr>
        <p:spPr>
          <a:xfrm>
            <a:off x="9692640" y="1417320"/>
            <a:ext cx="1920240" cy="502920"/>
          </a:xfrm>
          <a:prstGeom prst="rect">
            <a:avLst/>
          </a:prstGeom>
          <a:noFill/>
          <a:ln/>
        </p:spPr>
        <p:txBody>
          <a:bodyPr wrap="square" lIns="0" tIns="0" rIns="0" bIns="0" rtlCol="0" anchor="ctr"/>
          <a:lstStyle/>
          <a:p>
            <a:pPr algn="r" indent="0" marL="0">
              <a:buNone/>
            </a:pPr>
            <a:r>
              <a:rPr lang="en-US" sz="1450" b="1" dirty="0">
                <a:solidFill>
                  <a:srgbClr val="FFFFFF"/>
                </a:solidFill>
                <a:latin typeface="Calibri" pitchFamily="34" charset="0"/>
                <a:ea typeface="Calibri" pitchFamily="34" charset="-122"/>
                <a:cs typeface="Calibri" pitchFamily="34" charset="-120"/>
              </a:rPr>
              <a:t>₹35.2 L · ₹2.93 L/mo</a:t>
            </a:r>
            <a:endParaRPr lang="en-US" sz="1450" dirty="0"/>
          </a:p>
        </p:txBody>
      </p:sp>
      <p:sp>
        <p:nvSpPr>
          <p:cNvPr id="25" name="kpi1"/>
          <p:cNvSpPr/>
          <p:nvPr/>
        </p:nvSpPr>
        <p:spPr>
          <a:xfrm>
            <a:off x="8183880" y="2093976"/>
            <a:ext cx="3520440" cy="676656"/>
          </a:xfrm>
          <a:prstGeom prst="roundRect">
            <a:avLst>
              <a:gd name="adj" fmla="val 9459"/>
            </a:avLst>
          </a:prstGeom>
          <a:solidFill>
            <a:srgbClr val="16213A"/>
          </a:solidFill>
          <a:ln w="9525">
            <a:solidFill>
              <a:srgbClr val="2B3A5C"/>
            </a:solidFill>
            <a:prstDash val="solid"/>
          </a:ln>
        </p:spPr>
      </p:sp>
      <p:sp>
        <p:nvSpPr>
          <p:cNvPr id="26" name="Text 21"/>
          <p:cNvSpPr txBox="1"/>
          <p:nvPr/>
        </p:nvSpPr>
        <p:spPr>
          <a:xfrm>
            <a:off x="8339328" y="2185416"/>
            <a:ext cx="1463040" cy="5029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Year 2: cash in · result</a:t>
            </a:r>
            <a:endParaRPr lang="en-US" sz="1050" dirty="0"/>
          </a:p>
        </p:txBody>
      </p:sp>
      <p:sp>
        <p:nvSpPr>
          <p:cNvPr id="27" name="kpi_v1"/>
          <p:cNvSpPr txBox="1"/>
          <p:nvPr/>
        </p:nvSpPr>
        <p:spPr>
          <a:xfrm>
            <a:off x="9692640" y="2185416"/>
            <a:ext cx="1920240" cy="502920"/>
          </a:xfrm>
          <a:prstGeom prst="rect">
            <a:avLst/>
          </a:prstGeom>
          <a:noFill/>
          <a:ln/>
        </p:spPr>
        <p:txBody>
          <a:bodyPr wrap="square" lIns="0" tIns="0" rIns="0" bIns="0" rtlCol="0" anchor="ctr"/>
          <a:lstStyle/>
          <a:p>
            <a:pPr algn="r" indent="0" marL="0">
              <a:buNone/>
            </a:pPr>
            <a:r>
              <a:rPr lang="en-US" sz="1450" b="1" dirty="0">
                <a:solidFill>
                  <a:srgbClr val="FFFFFF"/>
                </a:solidFill>
                <a:latin typeface="Calibri" pitchFamily="34" charset="0"/>
                <a:ea typeface="Calibri" pitchFamily="34" charset="-122"/>
                <a:cs typeface="Calibri" pitchFamily="34" charset="-120"/>
              </a:rPr>
              <a:t>₹53.1 L · -₹17.7 L</a:t>
            </a:r>
            <a:endParaRPr lang="en-US" sz="1450" dirty="0"/>
          </a:p>
        </p:txBody>
      </p:sp>
      <p:sp>
        <p:nvSpPr>
          <p:cNvPr id="28" name="kpi2"/>
          <p:cNvSpPr/>
          <p:nvPr/>
        </p:nvSpPr>
        <p:spPr>
          <a:xfrm>
            <a:off x="8183880" y="2862072"/>
            <a:ext cx="3520440" cy="676656"/>
          </a:xfrm>
          <a:prstGeom prst="roundRect">
            <a:avLst>
              <a:gd name="adj" fmla="val 9459"/>
            </a:avLst>
          </a:prstGeom>
          <a:solidFill>
            <a:srgbClr val="16213A"/>
          </a:solidFill>
          <a:ln w="9525">
            <a:solidFill>
              <a:srgbClr val="2B3A5C"/>
            </a:solidFill>
            <a:prstDash val="solid"/>
          </a:ln>
        </p:spPr>
      </p:sp>
      <p:sp>
        <p:nvSpPr>
          <p:cNvPr id="29" name="Text 24"/>
          <p:cNvSpPr txBox="1"/>
          <p:nvPr/>
        </p:nvSpPr>
        <p:spPr>
          <a:xfrm>
            <a:off x="8339328" y="2953512"/>
            <a:ext cx="1463040" cy="5029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Sustained break-even</a:t>
            </a:r>
            <a:endParaRPr lang="en-US" sz="1050" dirty="0"/>
          </a:p>
        </p:txBody>
      </p:sp>
      <p:sp>
        <p:nvSpPr>
          <p:cNvPr id="30" name="kpi_v2"/>
          <p:cNvSpPr txBox="1"/>
          <p:nvPr/>
        </p:nvSpPr>
        <p:spPr>
          <a:xfrm>
            <a:off x="9692640" y="2953512"/>
            <a:ext cx="1920240" cy="502920"/>
          </a:xfrm>
          <a:prstGeom prst="rect">
            <a:avLst/>
          </a:prstGeom>
          <a:noFill/>
          <a:ln/>
        </p:spPr>
        <p:txBody>
          <a:bodyPr wrap="square" lIns="0" tIns="0" rIns="0" bIns="0" rtlCol="0" anchor="ctr"/>
          <a:lstStyle/>
          <a:p>
            <a:pPr algn="r" indent="0" marL="0">
              <a:buNone/>
            </a:pPr>
            <a:r>
              <a:rPr lang="en-US" sz="1450" b="1" dirty="0">
                <a:solidFill>
                  <a:srgbClr val="34D399"/>
                </a:solidFill>
                <a:latin typeface="Calibri" pitchFamily="34" charset="0"/>
                <a:ea typeface="Calibri" pitchFamily="34" charset="-122"/>
                <a:cs typeface="Calibri" pitchFamily="34" charset="-120"/>
              </a:rPr>
              <a:t>M26 · Aug-29</a:t>
            </a:r>
            <a:endParaRPr lang="en-US" sz="1450" dirty="0"/>
          </a:p>
        </p:txBody>
      </p:sp>
      <p:sp>
        <p:nvSpPr>
          <p:cNvPr id="31" name="kpi3"/>
          <p:cNvSpPr/>
          <p:nvPr/>
        </p:nvSpPr>
        <p:spPr>
          <a:xfrm>
            <a:off x="8183880" y="3630168"/>
            <a:ext cx="3520440" cy="676656"/>
          </a:xfrm>
          <a:prstGeom prst="roundRect">
            <a:avLst>
              <a:gd name="adj" fmla="val 9459"/>
            </a:avLst>
          </a:prstGeom>
          <a:solidFill>
            <a:srgbClr val="16213A"/>
          </a:solidFill>
          <a:ln w="9525">
            <a:solidFill>
              <a:srgbClr val="2B3A5C"/>
            </a:solidFill>
            <a:prstDash val="solid"/>
          </a:ln>
        </p:spPr>
      </p:sp>
      <p:sp>
        <p:nvSpPr>
          <p:cNvPr id="32" name="Text 27"/>
          <p:cNvSpPr txBox="1"/>
          <p:nvPr/>
        </p:nvSpPr>
        <p:spPr>
          <a:xfrm>
            <a:off x="8339328" y="3721608"/>
            <a:ext cx="1463040" cy="5029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Year 3: cash in</a:t>
            </a:r>
            <a:endParaRPr lang="en-US" sz="1050" dirty="0"/>
          </a:p>
        </p:txBody>
      </p:sp>
      <p:sp>
        <p:nvSpPr>
          <p:cNvPr id="33" name="kpi_v3"/>
          <p:cNvSpPr txBox="1"/>
          <p:nvPr/>
        </p:nvSpPr>
        <p:spPr>
          <a:xfrm>
            <a:off x="9692640" y="3721608"/>
            <a:ext cx="1920240" cy="502920"/>
          </a:xfrm>
          <a:prstGeom prst="rect">
            <a:avLst/>
          </a:prstGeom>
          <a:noFill/>
          <a:ln/>
        </p:spPr>
        <p:txBody>
          <a:bodyPr wrap="square" lIns="0" tIns="0" rIns="0" bIns="0" rtlCol="0" anchor="ctr"/>
          <a:lstStyle/>
          <a:p>
            <a:pPr algn="r" indent="0" marL="0">
              <a:buNone/>
            </a:pPr>
            <a:r>
              <a:rPr lang="en-US" sz="1450" b="1" dirty="0">
                <a:solidFill>
                  <a:srgbClr val="06B6D4"/>
                </a:solidFill>
                <a:latin typeface="Calibri" pitchFamily="34" charset="0"/>
                <a:ea typeface="Calibri" pitchFamily="34" charset="-122"/>
                <a:cs typeface="Calibri" pitchFamily="34" charset="-120"/>
              </a:rPr>
              <a:t>₹2.12 Cr</a:t>
            </a:r>
            <a:endParaRPr lang="en-US" sz="1450" dirty="0"/>
          </a:p>
        </p:txBody>
      </p:sp>
      <p:sp>
        <p:nvSpPr>
          <p:cNvPr id="34" name="kpi4"/>
          <p:cNvSpPr/>
          <p:nvPr/>
        </p:nvSpPr>
        <p:spPr>
          <a:xfrm>
            <a:off x="8183880" y="4398264"/>
            <a:ext cx="3520440" cy="676656"/>
          </a:xfrm>
          <a:prstGeom prst="roundRect">
            <a:avLst>
              <a:gd name="adj" fmla="val 9459"/>
            </a:avLst>
          </a:prstGeom>
          <a:solidFill>
            <a:srgbClr val="16213A"/>
          </a:solidFill>
          <a:ln w="9525">
            <a:solidFill>
              <a:srgbClr val="2B3A5C"/>
            </a:solidFill>
            <a:prstDash val="solid"/>
          </a:ln>
        </p:spPr>
      </p:sp>
      <p:sp>
        <p:nvSpPr>
          <p:cNvPr id="35" name="Text 30"/>
          <p:cNvSpPr txBox="1"/>
          <p:nvPr/>
        </p:nvSpPr>
        <p:spPr>
          <a:xfrm>
            <a:off x="8339328" y="4489704"/>
            <a:ext cx="1463040" cy="5029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Year 3: operating profit</a:t>
            </a:r>
            <a:endParaRPr lang="en-US" sz="1050" dirty="0"/>
          </a:p>
        </p:txBody>
      </p:sp>
      <p:sp>
        <p:nvSpPr>
          <p:cNvPr id="36" name="kpi_v4"/>
          <p:cNvSpPr txBox="1"/>
          <p:nvPr/>
        </p:nvSpPr>
        <p:spPr>
          <a:xfrm>
            <a:off x="9692640" y="4489704"/>
            <a:ext cx="1920240" cy="502920"/>
          </a:xfrm>
          <a:prstGeom prst="rect">
            <a:avLst/>
          </a:prstGeom>
          <a:noFill/>
          <a:ln/>
        </p:spPr>
        <p:txBody>
          <a:bodyPr wrap="square" lIns="0" tIns="0" rIns="0" bIns="0" rtlCol="0" anchor="ctr"/>
          <a:lstStyle/>
          <a:p>
            <a:pPr algn="r" indent="0" marL="0">
              <a:buNone/>
            </a:pPr>
            <a:r>
              <a:rPr lang="en-US" sz="1450" b="1" dirty="0">
                <a:solidFill>
                  <a:srgbClr val="34D399"/>
                </a:solidFill>
                <a:latin typeface="Calibri" pitchFamily="34" charset="0"/>
                <a:ea typeface="Calibri" pitchFamily="34" charset="-122"/>
                <a:cs typeface="Calibri" pitchFamily="34" charset="-120"/>
              </a:rPr>
              <a:t>₹11.7 L (5.5%)</a:t>
            </a:r>
            <a:endParaRPr lang="en-US" sz="1450" dirty="0"/>
          </a:p>
        </p:txBody>
      </p:sp>
      <p:sp>
        <p:nvSpPr>
          <p:cNvPr id="37" name="kpi5"/>
          <p:cNvSpPr/>
          <p:nvPr/>
        </p:nvSpPr>
        <p:spPr>
          <a:xfrm>
            <a:off x="8183880" y="5166360"/>
            <a:ext cx="3520440" cy="676656"/>
          </a:xfrm>
          <a:prstGeom prst="roundRect">
            <a:avLst>
              <a:gd name="adj" fmla="val 9459"/>
            </a:avLst>
          </a:prstGeom>
          <a:solidFill>
            <a:srgbClr val="16213A"/>
          </a:solidFill>
          <a:ln w="9525">
            <a:solidFill>
              <a:srgbClr val="2B3A5C"/>
            </a:solidFill>
            <a:prstDash val="solid"/>
          </a:ln>
        </p:spPr>
      </p:sp>
      <p:sp>
        <p:nvSpPr>
          <p:cNvPr id="38" name="Text 33"/>
          <p:cNvSpPr txBox="1"/>
          <p:nvPr/>
        </p:nvSpPr>
        <p:spPr>
          <a:xfrm>
            <a:off x="8339328" y="5257800"/>
            <a:ext cx="1463040" cy="5029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Needed to reach profit</a:t>
            </a:r>
            <a:endParaRPr lang="en-US" sz="1050" dirty="0"/>
          </a:p>
        </p:txBody>
      </p:sp>
      <p:sp>
        <p:nvSpPr>
          <p:cNvPr id="39" name="kpi_v5"/>
          <p:cNvSpPr txBox="1"/>
          <p:nvPr/>
        </p:nvSpPr>
        <p:spPr>
          <a:xfrm>
            <a:off x="9692640" y="5257800"/>
            <a:ext cx="1920240" cy="502920"/>
          </a:xfrm>
          <a:prstGeom prst="rect">
            <a:avLst/>
          </a:prstGeom>
          <a:noFill/>
          <a:ln/>
        </p:spPr>
        <p:txBody>
          <a:bodyPr wrap="square" lIns="0" tIns="0" rIns="0" bIns="0" rtlCol="0" anchor="ctr"/>
          <a:lstStyle/>
          <a:p>
            <a:pPr algn="r" indent="0" marL="0">
              <a:buNone/>
            </a:pPr>
            <a:r>
              <a:rPr lang="en-US" sz="1450" b="1" dirty="0">
                <a:solidFill>
                  <a:srgbClr val="8B5CF6"/>
                </a:solidFill>
                <a:latin typeface="Calibri" pitchFamily="34" charset="0"/>
                <a:ea typeface="Calibri" pitchFamily="34" charset="-122"/>
                <a:cs typeface="Calibri" pitchFamily="34" charset="-120"/>
              </a:rPr>
              <a:t>₹60.9 L</a:t>
            </a:r>
            <a:endParaRPr lang="en-US" sz="1450" dirty="0"/>
          </a:p>
        </p:txBody>
      </p:sp>
      <p:sp>
        <p:nvSpPr>
          <p:cNvPr id="40" name="sources"/>
          <p:cNvSpPr txBox="1"/>
          <p:nvPr/>
        </p:nvSpPr>
        <p:spPr>
          <a:xfrm>
            <a:off x="502920" y="6199632"/>
            <a:ext cx="8778240" cy="274320"/>
          </a:xfrm>
          <a:prstGeom prst="rect">
            <a:avLst/>
          </a:prstGeom>
          <a:noFill/>
          <a:ln/>
        </p:spPr>
        <p:txBody>
          <a:bodyPr wrap="square" lIns="0" tIns="0" rIns="0" bIns="0" rtlCol="0" anchor="t"/>
          <a:lstStyle/>
          <a:p>
            <a:pPr indent="0" marL="0">
              <a:buNone/>
            </a:pPr>
            <a:r>
              <a:rPr lang="en-US" sz="850" dirty="0">
                <a:solidFill>
                  <a:srgbClr val="94A3B8"/>
                </a:solidFill>
                <a:latin typeface="Calibri" pitchFamily="34" charset="0"/>
                <a:ea typeface="Calibri" pitchFamily="34" charset="-122"/>
                <a:cs typeface="Calibri" pitchFamily="34" charset="-120"/>
              </a:rPr>
              <a:t>Cash basis. TremoSense 695 units (Y2), 1890 (Y3, SOM 2040/yr); ParkinSense 1380 (Y3). Requirement = peak gap × 1.2.</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5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450"/>
                                        <p:tgtEl>
                                          <p:spTgt spid="22"/>
                                        </p:tgtEl>
                                      </p:cBhvr>
                                    </p:animEffect>
                                  </p:childTnLst>
                                </p:cTn>
                              </p:par>
                              <p:par>
                                <p:cTn id="13" presetID="10"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5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450"/>
                                        <p:tgtEl>
                                          <p:spTgt spid="24"/>
                                        </p:tgtEl>
                                      </p:cBhvr>
                                    </p:animEffect>
                                  </p:childTnLst>
                                </p:cTn>
                              </p:par>
                            </p:childTnLst>
                          </p:cTn>
                        </p:par>
                        <p:par>
                          <p:cTn id="19" fill="hold">
                            <p:stCondLst>
                              <p:cond delay="450"/>
                            </p:stCondLst>
                            <p:childTnLst>
                              <p:par>
                                <p:cTn id="20" presetID="10" presetClass="entr" presetSubtype="0" fill="hold" nodeType="after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50"/>
                                        <p:tgtEl>
                                          <p:spTgt spid="25"/>
                                        </p:tgtEl>
                                      </p:cBhvr>
                                    </p:animEffect>
                                  </p:childTnLst>
                                </p:cTn>
                              </p:par>
                              <p:par>
                                <p:cTn id="23" presetID="10" presetClass="entr" presetSubtype="0" fill="hold"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450"/>
                                        <p:tgtEl>
                                          <p:spTgt spid="26"/>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450"/>
                                        <p:tgtEl>
                                          <p:spTgt spid="27"/>
                                        </p:tgtEl>
                                      </p:cBhvr>
                                    </p:animEffect>
                                  </p:childTnLst>
                                </p:cTn>
                              </p:par>
                            </p:childTnLst>
                          </p:cTn>
                        </p:par>
                        <p:par>
                          <p:cTn id="29" fill="hold">
                            <p:stCondLst>
                              <p:cond delay="750"/>
                            </p:stCondLst>
                            <p:childTnLst>
                              <p:par>
                                <p:cTn id="30" presetID="10" presetClass="entr" presetSubtype="0" fill="hold" nodeType="after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50"/>
                                        <p:tgtEl>
                                          <p:spTgt spid="28"/>
                                        </p:tgtEl>
                                      </p:cBhvr>
                                    </p:animEffect>
                                  </p:childTnLst>
                                </p:cTn>
                              </p:par>
                              <p:par>
                                <p:cTn id="33" presetID="10" presetClass="entr" presetSubtype="0"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450"/>
                                        <p:tgtEl>
                                          <p:spTgt spid="29"/>
                                        </p:tgtEl>
                                      </p:cBhvr>
                                    </p:animEffect>
                                  </p:childTnLst>
                                </p:cTn>
                              </p:par>
                              <p:par>
                                <p:cTn id="36" presetID="10" presetClass="entr" presetSubtype="0" fill="hold" nodeType="with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450"/>
                                        <p:tgtEl>
                                          <p:spTgt spid="30"/>
                                        </p:tgtEl>
                                      </p:cBhvr>
                                    </p:animEffect>
                                  </p:childTnLst>
                                </p:cTn>
                              </p:par>
                            </p:childTnLst>
                          </p:cTn>
                        </p:par>
                        <p:par>
                          <p:cTn id="39" fill="hold">
                            <p:stCondLst>
                              <p:cond delay="1050"/>
                            </p:stCondLst>
                            <p:childTnLst>
                              <p:par>
                                <p:cTn id="40" presetID="10" presetClass="entr" presetSubtype="0" fill="hold" nodeType="after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450"/>
                                        <p:tgtEl>
                                          <p:spTgt spid="31"/>
                                        </p:tgtEl>
                                      </p:cBhvr>
                                    </p:animEffect>
                                  </p:childTnLst>
                                </p:cTn>
                              </p:par>
                              <p:par>
                                <p:cTn id="43" presetID="10" presetClass="entr" presetSubtype="0" fill="hold" nodeType="with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450"/>
                                        <p:tgtEl>
                                          <p:spTgt spid="32"/>
                                        </p:tgtEl>
                                      </p:cBhvr>
                                    </p:animEffect>
                                  </p:childTnLst>
                                </p:cTn>
                              </p:par>
                              <p:par>
                                <p:cTn id="46" presetID="10" presetClass="entr" presetSubtype="0" fill="hold" nodeType="with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fade">
                                      <p:cBhvr>
                                        <p:cTn id="48" dur="450"/>
                                        <p:tgtEl>
                                          <p:spTgt spid="33"/>
                                        </p:tgtEl>
                                      </p:cBhvr>
                                    </p:animEffect>
                                  </p:childTnLst>
                                </p:cTn>
                              </p:par>
                              <p:par>
                                <p:cTn id="49" presetID="10" presetClass="entr" presetSubtype="0" fill="hold" nodeType="with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fade">
                                      <p:cBhvr>
                                        <p:cTn id="51" dur="450"/>
                                        <p:tgtEl>
                                          <p:spTgt spid="34"/>
                                        </p:tgtEl>
                                      </p:cBhvr>
                                    </p:animEffect>
                                  </p:childTnLst>
                                </p:cTn>
                              </p:par>
                            </p:childTnLst>
                          </p:cTn>
                        </p:par>
                        <p:par>
                          <p:cTn id="52" fill="hold">
                            <p:stCondLst>
                              <p:cond delay="1350"/>
                            </p:stCondLst>
                            <p:childTnLst>
                              <p:par>
                                <p:cTn id="53" presetID="10" presetClass="entr" presetSubtype="0" fill="hold" nodeType="after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fade">
                                      <p:cBhvr>
                                        <p:cTn id="55" dur="450"/>
                                        <p:tgtEl>
                                          <p:spTgt spid="35"/>
                                        </p:tgtEl>
                                      </p:cBhvr>
                                    </p:animEffect>
                                  </p:childTnLst>
                                </p:cTn>
                              </p:par>
                              <p:par>
                                <p:cTn id="56" presetID="10" presetClass="entr" presetSubtype="0" fill="hold" nodeType="with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fade">
                                      <p:cBhvr>
                                        <p:cTn id="58" dur="450"/>
                                        <p:tgtEl>
                                          <p:spTgt spid="36"/>
                                        </p:tgtEl>
                                      </p:cBhvr>
                                    </p:animEffect>
                                  </p:childTnLst>
                                </p:cTn>
                              </p:par>
                            </p:childTnLst>
                          </p:cTn>
                        </p:par>
                        <p:par>
                          <p:cTn id="59" fill="hold">
                            <p:stCondLst>
                              <p:cond delay="1650"/>
                            </p:stCondLst>
                            <p:childTnLst>
                              <p:par>
                                <p:cTn id="60" presetID="10" presetClass="entr" presetSubtype="0" fill="hold" nodeType="after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fade">
                                      <p:cBhvr>
                                        <p:cTn id="62" dur="450"/>
                                        <p:tgtEl>
                                          <p:spTgt spid="37"/>
                                        </p:tgtEl>
                                      </p:cBhvr>
                                    </p:animEffect>
                                  </p:childTnLst>
                                </p:cTn>
                              </p:par>
                              <p:par>
                                <p:cTn id="63" presetID="10" presetClass="entr" presetSubtype="0" fill="hold" nodeType="withEffect">
                                  <p:stCondLst>
                                    <p:cond delay="0"/>
                                  </p:stCondLst>
                                  <p:childTnLst>
                                    <p:set>
                                      <p:cBhvr>
                                        <p:cTn id="64" dur="1" fill="hold">
                                          <p:stCondLst>
                                            <p:cond delay="0"/>
                                          </p:stCondLst>
                                        </p:cTn>
                                        <p:tgtEl>
                                          <p:spTgt spid="38"/>
                                        </p:tgtEl>
                                        <p:attrNameLst>
                                          <p:attrName>style.visibility</p:attrName>
                                        </p:attrNameLst>
                                      </p:cBhvr>
                                      <p:to>
                                        <p:strVal val="visible"/>
                                      </p:to>
                                    </p:set>
                                    <p:animEffect transition="in" filter="fade">
                                      <p:cBhvr>
                                        <p:cTn id="65" dur="450"/>
                                        <p:tgtEl>
                                          <p:spTgt spid="38"/>
                                        </p:tgtEl>
                                      </p:cBhvr>
                                    </p:animEffect>
                                  </p:childTnLst>
                                </p:cTn>
                              </p:par>
                              <p:par>
                                <p:cTn id="66" presetID="10" presetClass="entr" presetSubtype="0" fill="hold" nodeType="withEffect">
                                  <p:stCondLst>
                                    <p:cond delay="0"/>
                                  </p:stCondLst>
                                  <p:childTnLst>
                                    <p:set>
                                      <p:cBhvr>
                                        <p:cTn id="67" dur="1" fill="hold">
                                          <p:stCondLst>
                                            <p:cond delay="0"/>
                                          </p:stCondLst>
                                        </p:cTn>
                                        <p:tgtEl>
                                          <p:spTgt spid="39"/>
                                        </p:tgtEl>
                                        <p:attrNameLst>
                                          <p:attrName>style.visibility</p:attrName>
                                        </p:attrNameLst>
                                      </p:cBhvr>
                                      <p:to>
                                        <p:strVal val="visible"/>
                                      </p:to>
                                    </p:set>
                                    <p:animEffect transition="in" filter="fade">
                                      <p:cBhvr>
                                        <p:cTn id="68" dur="4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kicker"/>
          <p:cNvSpPr txBox="1"/>
          <p:nvPr/>
        </p:nvSpPr>
        <p:spPr>
          <a:xfrm>
            <a:off x="502920" y="274320"/>
            <a:ext cx="7315200" cy="256032"/>
          </a:xfrm>
          <a:prstGeom prst="rect">
            <a:avLst/>
          </a:prstGeom>
          <a:noFill/>
          <a:ln/>
        </p:spPr>
        <p:txBody>
          <a:bodyPr wrap="square" lIns="0" tIns="0" rIns="0" bIns="0" rtlCol="0" anchor="t"/>
          <a:lstStyle/>
          <a:p>
            <a:pPr indent="0" marL="0">
              <a:buNone/>
            </a:pPr>
            <a:r>
              <a:rPr lang="en-US" sz="1100" b="1" spc="300" kern="0" dirty="0">
                <a:solidFill>
                  <a:srgbClr val="06B6D4"/>
                </a:solidFill>
                <a:latin typeface="Calibri" pitchFamily="34" charset="0"/>
                <a:ea typeface="Calibri" pitchFamily="34" charset="-122"/>
                <a:cs typeface="Calibri" pitchFamily="34" charset="-120"/>
              </a:rPr>
              <a:t>11 · TEAM &amp; GROWTH</a:t>
            </a:r>
            <a:endParaRPr lang="en-US" sz="1100" dirty="0"/>
          </a:p>
        </p:txBody>
      </p:sp>
      <p:sp>
        <p:nvSpPr>
          <p:cNvPr id="3" name="!!title"/>
          <p:cNvSpPr txBox="1"/>
          <p:nvPr/>
        </p:nvSpPr>
        <p:spPr>
          <a:xfrm>
            <a:off x="502920" y="530352"/>
            <a:ext cx="10241280" cy="64008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A builder team, growing through clinics</a:t>
            </a:r>
            <a:endParaRPr lang="en-US" sz="2800" dirty="0"/>
          </a:p>
        </p:txBody>
      </p:sp>
      <p:pic>
        <p:nvPicPr>
          <p:cNvPr id="4" name="!!mark" descr="../public/brand/averra-mark-white.png">    </p:cNvPr>
          <p:cNvPicPr>
            <a:picLocks noChangeAspect="1"/>
          </p:cNvPicPr>
          <p:nvPr/>
        </p:nvPicPr>
        <p:blipFill>
          <a:blip r:embed="rId1"/>
          <a:stretch>
            <a:fillRect/>
          </a:stretch>
        </p:blipFill>
        <p:spPr>
          <a:xfrm>
            <a:off x="11201400" y="292608"/>
            <a:ext cx="502920" cy="502920"/>
          </a:xfrm>
          <a:prstGeom prst="rect">
            <a:avLst/>
          </a:prstGeom>
        </p:spPr>
      </p:pic>
      <p:sp>
        <p:nvSpPr>
          <p:cNvPr id="5" name="!!dot1"/>
          <p:cNvSpPr/>
          <p:nvPr/>
        </p:nvSpPr>
        <p:spPr>
          <a:xfrm>
            <a:off x="9692640" y="6510528"/>
            <a:ext cx="54864" cy="54864"/>
          </a:xfrm>
          <a:prstGeom prst="ellipse">
            <a:avLst/>
          </a:prstGeom>
          <a:solidFill>
            <a:srgbClr val="2B3A5C"/>
          </a:solidFill>
          <a:ln w="12700">
            <a:solidFill>
              <a:srgbClr val="2B3A5C"/>
            </a:solidFill>
            <a:prstDash val="solid"/>
          </a:ln>
        </p:spPr>
      </p:sp>
      <p:sp>
        <p:nvSpPr>
          <p:cNvPr id="6" name="!!dot2"/>
          <p:cNvSpPr/>
          <p:nvPr/>
        </p:nvSpPr>
        <p:spPr>
          <a:xfrm>
            <a:off x="9838944" y="6510528"/>
            <a:ext cx="54864" cy="54864"/>
          </a:xfrm>
          <a:prstGeom prst="ellipse">
            <a:avLst/>
          </a:prstGeom>
          <a:solidFill>
            <a:srgbClr val="2B3A5C"/>
          </a:solidFill>
          <a:ln w="12700">
            <a:solidFill>
              <a:srgbClr val="2B3A5C"/>
            </a:solidFill>
            <a:prstDash val="solid"/>
          </a:ln>
        </p:spPr>
      </p:sp>
      <p:sp>
        <p:nvSpPr>
          <p:cNvPr id="7" name="!!dot3"/>
          <p:cNvSpPr/>
          <p:nvPr/>
        </p:nvSpPr>
        <p:spPr>
          <a:xfrm>
            <a:off x="9985248" y="6510528"/>
            <a:ext cx="54864" cy="54864"/>
          </a:xfrm>
          <a:prstGeom prst="ellipse">
            <a:avLst/>
          </a:prstGeom>
          <a:solidFill>
            <a:srgbClr val="2B3A5C"/>
          </a:solidFill>
          <a:ln w="12700">
            <a:solidFill>
              <a:srgbClr val="2B3A5C"/>
            </a:solidFill>
            <a:prstDash val="solid"/>
          </a:ln>
        </p:spPr>
      </p:sp>
      <p:sp>
        <p:nvSpPr>
          <p:cNvPr id="8" name="!!dot4"/>
          <p:cNvSpPr/>
          <p:nvPr/>
        </p:nvSpPr>
        <p:spPr>
          <a:xfrm>
            <a:off x="10131552" y="6510528"/>
            <a:ext cx="54864" cy="54864"/>
          </a:xfrm>
          <a:prstGeom prst="ellipse">
            <a:avLst/>
          </a:prstGeom>
          <a:solidFill>
            <a:srgbClr val="2B3A5C"/>
          </a:solidFill>
          <a:ln w="12700">
            <a:solidFill>
              <a:srgbClr val="2B3A5C"/>
            </a:solidFill>
            <a:prstDash val="solid"/>
          </a:ln>
        </p:spPr>
      </p:sp>
      <p:sp>
        <p:nvSpPr>
          <p:cNvPr id="9" name="!!dot5"/>
          <p:cNvSpPr/>
          <p:nvPr/>
        </p:nvSpPr>
        <p:spPr>
          <a:xfrm>
            <a:off x="10277856" y="6510528"/>
            <a:ext cx="54864" cy="54864"/>
          </a:xfrm>
          <a:prstGeom prst="ellipse">
            <a:avLst/>
          </a:prstGeom>
          <a:solidFill>
            <a:srgbClr val="2B3A5C"/>
          </a:solidFill>
          <a:ln w="12700">
            <a:solidFill>
              <a:srgbClr val="2B3A5C"/>
            </a:solidFill>
            <a:prstDash val="solid"/>
          </a:ln>
        </p:spPr>
      </p:sp>
      <p:sp>
        <p:nvSpPr>
          <p:cNvPr id="10" name="!!dot6"/>
          <p:cNvSpPr/>
          <p:nvPr/>
        </p:nvSpPr>
        <p:spPr>
          <a:xfrm>
            <a:off x="10424160" y="6510528"/>
            <a:ext cx="54864" cy="54864"/>
          </a:xfrm>
          <a:prstGeom prst="ellipse">
            <a:avLst/>
          </a:prstGeom>
          <a:solidFill>
            <a:srgbClr val="2B3A5C"/>
          </a:solidFill>
          <a:ln w="12700">
            <a:solidFill>
              <a:srgbClr val="2B3A5C"/>
            </a:solidFill>
            <a:prstDash val="solid"/>
          </a:ln>
        </p:spPr>
      </p:sp>
      <p:sp>
        <p:nvSpPr>
          <p:cNvPr id="11" name="!!dot7"/>
          <p:cNvSpPr/>
          <p:nvPr/>
        </p:nvSpPr>
        <p:spPr>
          <a:xfrm>
            <a:off x="10570464" y="6510528"/>
            <a:ext cx="54864" cy="54864"/>
          </a:xfrm>
          <a:prstGeom prst="ellipse">
            <a:avLst/>
          </a:prstGeom>
          <a:solidFill>
            <a:srgbClr val="2B3A5C"/>
          </a:solidFill>
          <a:ln w="12700">
            <a:solidFill>
              <a:srgbClr val="2B3A5C"/>
            </a:solidFill>
            <a:prstDash val="solid"/>
          </a:ln>
        </p:spPr>
      </p:sp>
      <p:sp>
        <p:nvSpPr>
          <p:cNvPr id="12" name="!!dot8"/>
          <p:cNvSpPr/>
          <p:nvPr/>
        </p:nvSpPr>
        <p:spPr>
          <a:xfrm>
            <a:off x="10716768" y="6510528"/>
            <a:ext cx="54864" cy="54864"/>
          </a:xfrm>
          <a:prstGeom prst="ellipse">
            <a:avLst/>
          </a:prstGeom>
          <a:solidFill>
            <a:srgbClr val="2B3A5C"/>
          </a:solidFill>
          <a:ln w="12700">
            <a:solidFill>
              <a:srgbClr val="2B3A5C"/>
            </a:solidFill>
            <a:prstDash val="solid"/>
          </a:ln>
        </p:spPr>
      </p:sp>
      <p:sp>
        <p:nvSpPr>
          <p:cNvPr id="13" name="!!dot9"/>
          <p:cNvSpPr/>
          <p:nvPr/>
        </p:nvSpPr>
        <p:spPr>
          <a:xfrm>
            <a:off x="10863072" y="6510528"/>
            <a:ext cx="54864" cy="54864"/>
          </a:xfrm>
          <a:prstGeom prst="ellipse">
            <a:avLst/>
          </a:prstGeom>
          <a:solidFill>
            <a:srgbClr val="2B3A5C"/>
          </a:solidFill>
          <a:ln w="12700">
            <a:solidFill>
              <a:srgbClr val="2B3A5C"/>
            </a:solidFill>
            <a:prstDash val="solid"/>
          </a:ln>
        </p:spPr>
      </p:sp>
      <p:sp>
        <p:nvSpPr>
          <p:cNvPr id="14" name="!!dot10"/>
          <p:cNvSpPr/>
          <p:nvPr/>
        </p:nvSpPr>
        <p:spPr>
          <a:xfrm>
            <a:off x="11009376" y="6510528"/>
            <a:ext cx="54864" cy="54864"/>
          </a:xfrm>
          <a:prstGeom prst="ellipse">
            <a:avLst/>
          </a:prstGeom>
          <a:solidFill>
            <a:srgbClr val="2B3A5C"/>
          </a:solidFill>
          <a:ln w="12700">
            <a:solidFill>
              <a:srgbClr val="2B3A5C"/>
            </a:solidFill>
            <a:prstDash val="solid"/>
          </a:ln>
        </p:spPr>
      </p:sp>
      <p:sp>
        <p:nvSpPr>
          <p:cNvPr id="15" name="!!dot11"/>
          <p:cNvSpPr/>
          <p:nvPr/>
        </p:nvSpPr>
        <p:spPr>
          <a:xfrm>
            <a:off x="11155680" y="6510528"/>
            <a:ext cx="54864" cy="54864"/>
          </a:xfrm>
          <a:prstGeom prst="ellipse">
            <a:avLst/>
          </a:prstGeom>
          <a:solidFill>
            <a:srgbClr val="2B3A5C"/>
          </a:solidFill>
          <a:ln w="12700">
            <a:solidFill>
              <a:srgbClr val="2B3A5C"/>
            </a:solidFill>
            <a:prstDash val="solid"/>
          </a:ln>
        </p:spPr>
      </p:sp>
      <p:sp>
        <p:nvSpPr>
          <p:cNvPr id="16" name="!!dot12"/>
          <p:cNvSpPr/>
          <p:nvPr/>
        </p:nvSpPr>
        <p:spPr>
          <a:xfrm>
            <a:off x="11301984" y="6510528"/>
            <a:ext cx="100584" cy="100584"/>
          </a:xfrm>
          <a:prstGeom prst="ellipse">
            <a:avLst/>
          </a:prstGeom>
          <a:solidFill>
            <a:srgbClr val="06B6D4"/>
          </a:solidFill>
          <a:ln w="12700">
            <a:solidFill>
              <a:srgbClr val="06B6D4"/>
            </a:solidFill>
            <a:prstDash val="solid"/>
          </a:ln>
        </p:spPr>
      </p:sp>
      <p:sp>
        <p:nvSpPr>
          <p:cNvPr id="17" name="!!dot13"/>
          <p:cNvSpPr/>
          <p:nvPr/>
        </p:nvSpPr>
        <p:spPr>
          <a:xfrm>
            <a:off x="11448288" y="6510528"/>
            <a:ext cx="54864" cy="54864"/>
          </a:xfrm>
          <a:prstGeom prst="ellipse">
            <a:avLst/>
          </a:prstGeom>
          <a:solidFill>
            <a:srgbClr val="2B3A5C"/>
          </a:solidFill>
          <a:ln w="12700">
            <a:solidFill>
              <a:srgbClr val="2B3A5C"/>
            </a:solidFill>
            <a:prstDash val="solid"/>
          </a:ln>
        </p:spPr>
      </p:sp>
      <p:sp>
        <p:nvSpPr>
          <p:cNvPr id="18" name="!!dot14"/>
          <p:cNvSpPr/>
          <p:nvPr/>
        </p:nvSpPr>
        <p:spPr>
          <a:xfrm>
            <a:off x="11594592" y="6510528"/>
            <a:ext cx="54864" cy="54864"/>
          </a:xfrm>
          <a:prstGeom prst="ellipse">
            <a:avLst/>
          </a:prstGeom>
          <a:solidFill>
            <a:srgbClr val="2B3A5C"/>
          </a:solidFill>
          <a:ln w="12700">
            <a:solidFill>
              <a:srgbClr val="2B3A5C"/>
            </a:solidFill>
            <a:prstDash val="solid"/>
          </a:ln>
        </p:spPr>
      </p:sp>
      <p:sp>
        <p:nvSpPr>
          <p:cNvPr id="19" name="!!brand"/>
          <p:cNvSpPr txBox="1"/>
          <p:nvPr/>
        </p:nvSpPr>
        <p:spPr>
          <a:xfrm>
            <a:off x="502920" y="6446520"/>
            <a:ext cx="1828800" cy="201168"/>
          </a:xfrm>
          <a:prstGeom prst="rect">
            <a:avLst/>
          </a:prstGeom>
          <a:noFill/>
          <a:ln/>
        </p:spPr>
        <p:txBody>
          <a:bodyPr wrap="square" lIns="0" tIns="0" rIns="0" bIns="0" rtlCol="0" anchor="t"/>
          <a:lstStyle/>
          <a:p>
            <a:pPr indent="0" marL="0">
              <a:buNone/>
            </a:pPr>
            <a:r>
              <a:rPr lang="en-US" sz="900" b="1" spc="500" kern="0" dirty="0">
                <a:solidFill>
                  <a:srgbClr val="94A3B8"/>
                </a:solidFill>
                <a:latin typeface="Calibri" pitchFamily="34" charset="0"/>
                <a:ea typeface="Calibri" pitchFamily="34" charset="-122"/>
                <a:cs typeface="Calibri" pitchFamily="34" charset="-120"/>
              </a:rPr>
              <a:t>AVERRA</a:t>
            </a:r>
            <a:endParaRPr lang="en-US" sz="900" dirty="0"/>
          </a:p>
        </p:txBody>
      </p:sp>
      <p:sp>
        <p:nvSpPr>
          <p:cNvPr id="21" name="founder0"/>
          <p:cNvSpPr/>
          <p:nvPr/>
        </p:nvSpPr>
        <p:spPr>
          <a:xfrm>
            <a:off x="502920" y="1371600"/>
            <a:ext cx="2651760" cy="2331720"/>
          </a:xfrm>
          <a:prstGeom prst="roundRect">
            <a:avLst>
              <a:gd name="adj" fmla="val 2745"/>
            </a:avLst>
          </a:prstGeom>
          <a:solidFill>
            <a:srgbClr val="1B2847"/>
          </a:solidFill>
          <a:ln w="9525">
            <a:solidFill>
              <a:srgbClr val="06B6D4"/>
            </a:solidFill>
            <a:prstDash val="solid"/>
          </a:ln>
        </p:spPr>
      </p:sp>
      <p:sp>
        <p:nvSpPr>
          <p:cNvPr id="22" name="Text 18"/>
          <p:cNvSpPr txBox="1"/>
          <p:nvPr/>
        </p:nvSpPr>
        <p:spPr>
          <a:xfrm>
            <a:off x="667512" y="1481328"/>
            <a:ext cx="2377440" cy="10058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Pranshu Kumar</a:t>
            </a:r>
            <a:endParaRPr lang="en-US" sz="1400" dirty="0"/>
          </a:p>
          <a:p>
            <a:pPr indent="0" marL="0">
              <a:buNone/>
            </a:pPr>
            <a:r>
              <a:rPr lang="en-US" sz="1100" b="1" dirty="0">
                <a:solidFill>
                  <a:srgbClr val="06B6D4"/>
                </a:solidFill>
                <a:latin typeface="Calibri" pitchFamily="34" charset="0"/>
                <a:ea typeface="Calibri" pitchFamily="34" charset="-122"/>
                <a:cs typeface="Calibri" pitchFamily="34" charset="-120"/>
              </a:rPr>
              <a:t>Co-founder · CEO</a:t>
            </a:r>
            <a:endParaRPr lang="en-US" sz="1400" dirty="0"/>
          </a:p>
          <a:p>
            <a:pPr indent="0" marL="0">
              <a:buNone/>
            </a:pPr>
            <a:r>
              <a:rPr lang="en-US" sz="1100" dirty="0">
                <a:solidFill>
                  <a:srgbClr val="CBD5E1"/>
                </a:solidFill>
                <a:latin typeface="Calibri" pitchFamily="34" charset="0"/>
                <a:ea typeface="Calibri" pitchFamily="34" charset="-122"/>
                <a:cs typeface="Calibri" pitchFamily="34" charset="-120"/>
              </a:rPr>
              <a:t>Wearables, DSP &amp; firmware</a:t>
            </a:r>
            <a:endParaRPr lang="en-US" sz="1400" dirty="0"/>
          </a:p>
        </p:txBody>
      </p:sp>
      <p:sp>
        <p:nvSpPr>
          <p:cNvPr id="23" name="Text 19"/>
          <p:cNvSpPr txBox="1"/>
          <p:nvPr/>
        </p:nvSpPr>
        <p:spPr>
          <a:xfrm>
            <a:off x="667512" y="2606040"/>
            <a:ext cx="2377440" cy="100584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ParkinSense lead author · TremoSense co-author · EXTC GPA 9.17 · minor in AI/ML</a:t>
            </a:r>
            <a:endParaRPr lang="en-US" sz="950" dirty="0"/>
          </a:p>
        </p:txBody>
      </p:sp>
      <p:sp>
        <p:nvSpPr>
          <p:cNvPr id="24" name="founder1"/>
          <p:cNvSpPr/>
          <p:nvPr/>
        </p:nvSpPr>
        <p:spPr>
          <a:xfrm>
            <a:off x="3291840" y="1371600"/>
            <a:ext cx="2651760" cy="2331720"/>
          </a:xfrm>
          <a:prstGeom prst="roundRect">
            <a:avLst>
              <a:gd name="adj" fmla="val 2745"/>
            </a:avLst>
          </a:prstGeom>
          <a:solidFill>
            <a:srgbClr val="1B2847"/>
          </a:solidFill>
          <a:ln w="9525">
            <a:solidFill>
              <a:srgbClr val="8B5CF6"/>
            </a:solidFill>
            <a:prstDash val="solid"/>
          </a:ln>
        </p:spPr>
      </p:sp>
      <p:sp>
        <p:nvSpPr>
          <p:cNvPr id="25" name="Text 21"/>
          <p:cNvSpPr txBox="1"/>
          <p:nvPr/>
        </p:nvSpPr>
        <p:spPr>
          <a:xfrm>
            <a:off x="3456432" y="1481328"/>
            <a:ext cx="2377440" cy="10058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Pawan Shinde</a:t>
            </a:r>
            <a:endParaRPr lang="en-US" sz="1400" dirty="0"/>
          </a:p>
          <a:p>
            <a:pPr indent="0" marL="0">
              <a:buNone/>
            </a:pPr>
            <a:r>
              <a:rPr lang="en-US" sz="1100" b="1" dirty="0">
                <a:solidFill>
                  <a:srgbClr val="8B5CF6"/>
                </a:solidFill>
                <a:latin typeface="Calibri" pitchFamily="34" charset="0"/>
                <a:ea typeface="Calibri" pitchFamily="34" charset="-122"/>
                <a:cs typeface="Calibri" pitchFamily="34" charset="-120"/>
              </a:rPr>
              <a:t>Co-founder · CTO</a:t>
            </a:r>
            <a:endParaRPr lang="en-US" sz="1400" dirty="0"/>
          </a:p>
          <a:p>
            <a:pPr indent="0" marL="0">
              <a:buNone/>
            </a:pPr>
            <a:r>
              <a:rPr lang="en-US" sz="1100" dirty="0">
                <a:solidFill>
                  <a:srgbClr val="CBD5E1"/>
                </a:solidFill>
                <a:latin typeface="Calibri" pitchFamily="34" charset="0"/>
                <a:ea typeface="Calibri" pitchFamily="34" charset="-122"/>
                <a:cs typeface="Calibri" pitchFamily="34" charset="-120"/>
              </a:rPr>
              <a:t>Control, gimbal &amp; power</a:t>
            </a:r>
            <a:endParaRPr lang="en-US" sz="1400" dirty="0"/>
          </a:p>
        </p:txBody>
      </p:sp>
      <p:sp>
        <p:nvSpPr>
          <p:cNvPr id="26" name="Text 22"/>
          <p:cNvSpPr txBox="1"/>
          <p:nvPr/>
        </p:nvSpPr>
        <p:spPr>
          <a:xfrm>
            <a:off x="3456432" y="2606040"/>
            <a:ext cx="2377440" cy="1005840"/>
          </a:xfrm>
          <a:prstGeom prst="rect">
            <a:avLst/>
          </a:prstGeom>
          <a:noFill/>
          <a:ln/>
        </p:spPr>
        <p:txBody>
          <a:bodyPr wrap="square" lIns="0" tIns="0" rIns="0" bIns="0" rtlCol="0" anchor="t"/>
          <a:lstStyle/>
          <a:p>
            <a:pPr indent="0" marL="0">
              <a:buNone/>
            </a:pPr>
            <a:r>
              <a:rPr lang="en-US" sz="950" dirty="0">
                <a:solidFill>
                  <a:srgbClr val="94A3B8"/>
                </a:solidFill>
                <a:latin typeface="Calibri" pitchFamily="34" charset="0"/>
                <a:ea typeface="Calibri" pitchFamily="34" charset="-122"/>
                <a:cs typeface="Calibri" pitchFamily="34" charset="-120"/>
              </a:rPr>
              <a:t>TremoSense co-author (EKF + LQR platform) · EXTC, VJTI</a:t>
            </a:r>
            <a:endParaRPr lang="en-US" sz="950" dirty="0"/>
          </a:p>
        </p:txBody>
      </p:sp>
      <p:sp>
        <p:nvSpPr>
          <p:cNvPr id="27" name="org_l"/>
          <p:cNvSpPr/>
          <p:nvPr/>
        </p:nvSpPr>
        <p:spPr>
          <a:xfrm>
            <a:off x="2990088" y="3703320"/>
            <a:ext cx="0" cy="320040"/>
          </a:xfrm>
          <a:prstGeom prst="line">
            <a:avLst/>
          </a:prstGeom>
          <a:noFill/>
          <a:ln w="15875">
            <a:solidFill>
              <a:srgbClr val="2B3A5C"/>
            </a:solidFill>
            <a:prstDash val="solid"/>
          </a:ln>
        </p:spPr>
      </p:sp>
      <p:sp>
        <p:nvSpPr>
          <p:cNvPr id="28" name="hire"/>
          <p:cNvSpPr/>
          <p:nvPr/>
        </p:nvSpPr>
        <p:spPr>
          <a:xfrm>
            <a:off x="1737360" y="4023360"/>
            <a:ext cx="2514600" cy="685800"/>
          </a:xfrm>
          <a:prstGeom prst="roundRect">
            <a:avLst>
              <a:gd name="adj" fmla="val 9333"/>
            </a:avLst>
          </a:prstGeom>
          <a:solidFill>
            <a:srgbClr val="16213A"/>
          </a:solidFill>
          <a:ln w="9525">
            <a:solidFill>
              <a:srgbClr val="2B3A5C"/>
            </a:solidFill>
            <a:prstDash val="solid"/>
          </a:ln>
        </p:spPr>
      </p:sp>
      <p:sp>
        <p:nvSpPr>
          <p:cNvPr id="29" name="Text 25"/>
          <p:cNvSpPr txBox="1"/>
          <p:nvPr/>
        </p:nvSpPr>
        <p:spPr>
          <a:xfrm>
            <a:off x="1874520" y="4087368"/>
            <a:ext cx="2286000" cy="566928"/>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Hardware &amp; test engineer</a:t>
            </a:r>
            <a:endParaRPr lang="en-US" sz="1200" dirty="0"/>
          </a:p>
          <a:p>
            <a:pPr indent="0" marL="0">
              <a:buNone/>
            </a:pPr>
            <a:r>
              <a:rPr lang="en-US" sz="1000" dirty="0">
                <a:solidFill>
                  <a:srgbClr val="94A3B8"/>
                </a:solidFill>
                <a:latin typeface="Calibri" pitchFamily="34" charset="0"/>
                <a:ea typeface="Calibri" pitchFamily="34" charset="-122"/>
                <a:cs typeface="Calibri" pitchFamily="34" charset="-120"/>
              </a:rPr>
              <a:t>Hire at M7 (Phase 2)</a:t>
            </a:r>
            <a:endParaRPr lang="en-US" sz="1200" dirty="0"/>
          </a:p>
        </p:txBody>
      </p:sp>
      <p:sp>
        <p:nvSpPr>
          <p:cNvPr id="30" name="collab"/>
          <p:cNvSpPr txBox="1"/>
          <p:nvPr/>
        </p:nvSpPr>
        <p:spPr>
          <a:xfrm>
            <a:off x="502920" y="4846320"/>
            <a:ext cx="5440680" cy="685800"/>
          </a:xfrm>
          <a:prstGeom prst="rect">
            <a:avLst/>
          </a:prstGeom>
          <a:noFill/>
          <a:ln/>
        </p:spPr>
        <p:txBody>
          <a:bodyPr wrap="square" lIns="0" tIns="0" rIns="0" bIns="0" rtlCol="0" anchor="t"/>
          <a:lstStyle/>
          <a:p>
            <a:pPr indent="0" marL="0">
              <a:buNone/>
            </a:pPr>
            <a:r>
              <a:rPr lang="en-US" sz="950" dirty="0">
                <a:solidFill>
                  <a:srgbClr val="CBD5E1"/>
                </a:solidFill>
                <a:latin typeface="Calibri" pitchFamily="34" charset="0"/>
                <a:ea typeface="Calibri" pitchFamily="34" charset="-122"/>
                <a:cs typeface="Calibri" pitchFamily="34" charset="-120"/>
              </a:rPr>
              <a:t>Contract: regulatory consultant, industrial designer. Advisors: none agreed. Collaborators (not founders): Prithvi Tambewagh; ParkinSense co-authors; VJTI supervisors.</a:t>
            </a:r>
            <a:endParaRPr lang="en-US" sz="950" dirty="0"/>
          </a:p>
        </p:txBody>
      </p:sp>
      <p:sp>
        <p:nvSpPr>
          <p:cNvPr id="31" name="eq_note"/>
          <p:cNvSpPr txBox="1"/>
          <p:nvPr/>
        </p:nvSpPr>
        <p:spPr>
          <a:xfrm>
            <a:off x="502920" y="5577840"/>
            <a:ext cx="5440680" cy="457200"/>
          </a:xfrm>
          <a:prstGeom prst="rect">
            <a:avLst/>
          </a:prstGeom>
          <a:noFill/>
          <a:ln/>
        </p:spPr>
        <p:txBody>
          <a:bodyPr wrap="square" lIns="0" tIns="0" rIns="0" bIns="0" rtlCol="0" anchor="t"/>
          <a:lstStyle/>
          <a:p>
            <a:pPr indent="0" marL="0">
              <a:buNone/>
            </a:pPr>
            <a:r>
              <a:rPr lang="en-US" sz="1000" dirty="0">
                <a:solidFill>
                  <a:srgbClr val="F59E0B"/>
                </a:solidFill>
                <a:latin typeface="Calibri" pitchFamily="34" charset="0"/>
                <a:ea typeface="Calibri" pitchFamily="34" charset="-122"/>
                <a:cs typeface="Calibri" pitchFamily="34" charset="-120"/>
              </a:rPr>
              <a:t>Equity split: founders' agreement (not set) · ESOP 5% · inventor assignments before filing</a:t>
            </a:r>
            <a:endParaRPr lang="en-US" sz="1000" dirty="0"/>
          </a:p>
        </p:txBody>
      </p:sp>
      <p:sp>
        <p:nvSpPr>
          <p:cNvPr id="32" name="aarrr0"/>
          <p:cNvSpPr/>
          <p:nvPr/>
        </p:nvSpPr>
        <p:spPr>
          <a:xfrm>
            <a:off x="6172200" y="1371600"/>
            <a:ext cx="3291840" cy="530352"/>
          </a:xfrm>
          <a:prstGeom prst="roundRect">
            <a:avLst>
              <a:gd name="adj" fmla="val 10345"/>
            </a:avLst>
          </a:prstGeom>
          <a:solidFill>
            <a:srgbClr val="3B82F6">
              <a:alpha val="28000"/>
            </a:srgbClr>
          </a:solidFill>
          <a:ln w="12700">
            <a:solidFill>
              <a:srgbClr val="3B82F6"/>
            </a:solidFill>
            <a:prstDash val="solid"/>
          </a:ln>
        </p:spPr>
      </p:sp>
      <p:sp>
        <p:nvSpPr>
          <p:cNvPr id="33" name="Text 29"/>
          <p:cNvSpPr txBox="1"/>
          <p:nvPr/>
        </p:nvSpPr>
        <p:spPr>
          <a:xfrm>
            <a:off x="6263640" y="1417320"/>
            <a:ext cx="3108960" cy="256032"/>
          </a:xfrm>
          <a:prstGeom prst="rect">
            <a:avLst/>
          </a:prstGeom>
          <a:noFill/>
          <a:ln/>
        </p:spPr>
        <p:txBody>
          <a:bodyPr wrap="square" lIns="0" tIns="0" rIns="0" bIns="0" rtlCol="0" anchor="t"/>
          <a:lstStyle/>
          <a:p>
            <a:pPr algn="ctr" indent="0" marL="0">
              <a:buNone/>
            </a:pPr>
            <a:r>
              <a:rPr lang="en-US" sz="950" b="1" dirty="0">
                <a:solidFill>
                  <a:srgbClr val="FFFFFF"/>
                </a:solidFill>
                <a:latin typeface="Calibri" pitchFamily="34" charset="0"/>
                <a:ea typeface="Calibri" pitchFamily="34" charset="-122"/>
                <a:cs typeface="Calibri" pitchFamily="34" charset="-120"/>
              </a:rPr>
              <a:t>ACQUISITION  </a:t>
            </a:r>
            <a:pPr algn="ctr" indent="0" marL="0">
              <a:buNone/>
            </a:pPr>
            <a:r>
              <a:rPr lang="en-US" sz="1200" b="1" dirty="0">
                <a:solidFill>
                  <a:srgbClr val="06B6D4"/>
                </a:solidFill>
                <a:latin typeface="Calibri" pitchFamily="34" charset="0"/>
                <a:ea typeface="Calibri" pitchFamily="34" charset="-122"/>
                <a:cs typeface="Calibri" pitchFamily="34" charset="-120"/>
              </a:rPr>
              <a:t>100%</a:t>
            </a:r>
            <a:endParaRPr lang="en-US" sz="1400" dirty="0"/>
          </a:p>
        </p:txBody>
      </p:sp>
      <p:sp>
        <p:nvSpPr>
          <p:cNvPr id="34" name="Text 30"/>
          <p:cNvSpPr txBox="1"/>
          <p:nvPr/>
        </p:nvSpPr>
        <p:spPr>
          <a:xfrm>
            <a:off x="6263640" y="1645920"/>
            <a:ext cx="3108960" cy="228600"/>
          </a:xfrm>
          <a:prstGeom prst="rect">
            <a:avLst/>
          </a:prstGeom>
          <a:noFill/>
          <a:ln/>
        </p:spPr>
        <p:txBody>
          <a:bodyPr wrap="square" lIns="0" tIns="0" rIns="0" bIns="0" rtlCol="0" anchor="t"/>
          <a:lstStyle/>
          <a:p>
            <a:pPr algn="ctr" indent="0" marL="0">
              <a:buNone/>
            </a:pPr>
            <a:r>
              <a:rPr lang="en-US" sz="850" dirty="0">
                <a:solidFill>
                  <a:srgbClr val="CBD5E1"/>
                </a:solidFill>
                <a:latin typeface="Calibri" pitchFamily="34" charset="0"/>
                <a:ea typeface="Calibri" pitchFamily="34" charset="-122"/>
                <a:cs typeface="Calibri" pitchFamily="34" charset="-120"/>
              </a:rPr>
              <a:t>1,000 caregivers via 10 clinics</a:t>
            </a:r>
            <a:endParaRPr lang="en-US" sz="850" dirty="0"/>
          </a:p>
        </p:txBody>
      </p:sp>
      <p:sp>
        <p:nvSpPr>
          <p:cNvPr id="35" name="aarrr1"/>
          <p:cNvSpPr/>
          <p:nvPr/>
        </p:nvSpPr>
        <p:spPr>
          <a:xfrm>
            <a:off x="6364224" y="1975104"/>
            <a:ext cx="2907792" cy="530352"/>
          </a:xfrm>
          <a:prstGeom prst="roundRect">
            <a:avLst>
              <a:gd name="adj" fmla="val 10345"/>
            </a:avLst>
          </a:prstGeom>
          <a:solidFill>
            <a:srgbClr val="8B5CF6">
              <a:alpha val="28000"/>
            </a:srgbClr>
          </a:solidFill>
          <a:ln w="12700">
            <a:solidFill>
              <a:srgbClr val="8B5CF6"/>
            </a:solidFill>
            <a:prstDash val="solid"/>
          </a:ln>
        </p:spPr>
      </p:sp>
      <p:sp>
        <p:nvSpPr>
          <p:cNvPr id="36" name="Text 32"/>
          <p:cNvSpPr txBox="1"/>
          <p:nvPr/>
        </p:nvSpPr>
        <p:spPr>
          <a:xfrm>
            <a:off x="6455664" y="2020824"/>
            <a:ext cx="2724912" cy="256032"/>
          </a:xfrm>
          <a:prstGeom prst="rect">
            <a:avLst/>
          </a:prstGeom>
          <a:noFill/>
          <a:ln/>
        </p:spPr>
        <p:txBody>
          <a:bodyPr wrap="square" lIns="0" tIns="0" rIns="0" bIns="0" rtlCol="0" anchor="t"/>
          <a:lstStyle/>
          <a:p>
            <a:pPr algn="ctr" indent="0" marL="0">
              <a:buNone/>
            </a:pPr>
            <a:r>
              <a:rPr lang="en-US" sz="950" b="1" dirty="0">
                <a:solidFill>
                  <a:srgbClr val="FFFFFF"/>
                </a:solidFill>
                <a:latin typeface="Calibri" pitchFamily="34" charset="0"/>
                <a:ea typeface="Calibri" pitchFamily="34" charset="-122"/>
                <a:cs typeface="Calibri" pitchFamily="34" charset="-120"/>
              </a:rPr>
              <a:t>ACTIVATION  </a:t>
            </a:r>
            <a:pPr algn="ctr" indent="0" marL="0">
              <a:buNone/>
            </a:pPr>
            <a:r>
              <a:rPr lang="en-US" sz="1200" b="1" dirty="0">
                <a:solidFill>
                  <a:srgbClr val="06B6D4"/>
                </a:solidFill>
                <a:latin typeface="Calibri" pitchFamily="34" charset="0"/>
                <a:ea typeface="Calibri" pitchFamily="34" charset="-122"/>
                <a:cs typeface="Calibri" pitchFamily="34" charset="-120"/>
              </a:rPr>
              <a:t>25%</a:t>
            </a:r>
            <a:endParaRPr lang="en-US" sz="1400" dirty="0"/>
          </a:p>
        </p:txBody>
      </p:sp>
      <p:sp>
        <p:nvSpPr>
          <p:cNvPr id="37" name="Text 33"/>
          <p:cNvSpPr txBox="1"/>
          <p:nvPr/>
        </p:nvSpPr>
        <p:spPr>
          <a:xfrm>
            <a:off x="6455664" y="2249424"/>
            <a:ext cx="2724912" cy="228600"/>
          </a:xfrm>
          <a:prstGeom prst="rect">
            <a:avLst/>
          </a:prstGeom>
          <a:noFill/>
          <a:ln/>
        </p:spPr>
        <p:txBody>
          <a:bodyPr wrap="square" lIns="0" tIns="0" rIns="0" bIns="0" rtlCol="0" anchor="t"/>
          <a:lstStyle/>
          <a:p>
            <a:pPr algn="ctr" indent="0" marL="0">
              <a:buNone/>
            </a:pPr>
            <a:r>
              <a:rPr lang="en-US" sz="850" dirty="0">
                <a:solidFill>
                  <a:srgbClr val="CBD5E1"/>
                </a:solidFill>
                <a:latin typeface="Calibri" pitchFamily="34" charset="0"/>
                <a:ea typeface="Calibri" pitchFamily="34" charset="-122"/>
                <a:cs typeface="Calibri" pitchFamily="34" charset="-120"/>
              </a:rPr>
              <a:t>In-clinic TremoSense trial</a:t>
            </a:r>
            <a:endParaRPr lang="en-US" sz="850" dirty="0"/>
          </a:p>
        </p:txBody>
      </p:sp>
      <p:sp>
        <p:nvSpPr>
          <p:cNvPr id="38" name="aarrr2"/>
          <p:cNvSpPr/>
          <p:nvPr/>
        </p:nvSpPr>
        <p:spPr>
          <a:xfrm>
            <a:off x="6556248" y="2578608"/>
            <a:ext cx="2523744" cy="530352"/>
          </a:xfrm>
          <a:prstGeom prst="roundRect">
            <a:avLst>
              <a:gd name="adj" fmla="val 10345"/>
            </a:avLst>
          </a:prstGeom>
          <a:solidFill>
            <a:srgbClr val="3B82F6">
              <a:alpha val="28000"/>
            </a:srgbClr>
          </a:solidFill>
          <a:ln w="12700">
            <a:solidFill>
              <a:srgbClr val="3B82F6"/>
            </a:solidFill>
            <a:prstDash val="solid"/>
          </a:ln>
        </p:spPr>
      </p:sp>
      <p:sp>
        <p:nvSpPr>
          <p:cNvPr id="39" name="Text 35"/>
          <p:cNvSpPr txBox="1"/>
          <p:nvPr/>
        </p:nvSpPr>
        <p:spPr>
          <a:xfrm>
            <a:off x="6647688" y="2624328"/>
            <a:ext cx="2340864" cy="256032"/>
          </a:xfrm>
          <a:prstGeom prst="rect">
            <a:avLst/>
          </a:prstGeom>
          <a:noFill/>
          <a:ln/>
        </p:spPr>
        <p:txBody>
          <a:bodyPr wrap="square" lIns="0" tIns="0" rIns="0" bIns="0" rtlCol="0" anchor="t"/>
          <a:lstStyle/>
          <a:p>
            <a:pPr algn="ctr" indent="0" marL="0">
              <a:buNone/>
            </a:pPr>
            <a:r>
              <a:rPr lang="en-US" sz="950" b="1" dirty="0">
                <a:solidFill>
                  <a:srgbClr val="FFFFFF"/>
                </a:solidFill>
                <a:latin typeface="Calibri" pitchFamily="34" charset="0"/>
                <a:ea typeface="Calibri" pitchFamily="34" charset="-122"/>
                <a:cs typeface="Calibri" pitchFamily="34" charset="-120"/>
              </a:rPr>
              <a:t>REVENUE  </a:t>
            </a:r>
            <a:pPr algn="ctr" indent="0" marL="0">
              <a:buNone/>
            </a:pPr>
            <a:r>
              <a:rPr lang="en-US" sz="1200" b="1" dirty="0">
                <a:solidFill>
                  <a:srgbClr val="06B6D4"/>
                </a:solidFill>
                <a:latin typeface="Calibri" pitchFamily="34" charset="0"/>
                <a:ea typeface="Calibri" pitchFamily="34" charset="-122"/>
                <a:cs typeface="Calibri" pitchFamily="34" charset="-120"/>
              </a:rPr>
              <a:t>40% of trials</a:t>
            </a:r>
            <a:endParaRPr lang="en-US" sz="1400" dirty="0"/>
          </a:p>
        </p:txBody>
      </p:sp>
      <p:sp>
        <p:nvSpPr>
          <p:cNvPr id="40" name="Text 36"/>
          <p:cNvSpPr txBox="1"/>
          <p:nvPr/>
        </p:nvSpPr>
        <p:spPr>
          <a:xfrm>
            <a:off x="6647688" y="2852928"/>
            <a:ext cx="2340864" cy="228600"/>
          </a:xfrm>
          <a:prstGeom prst="rect">
            <a:avLst/>
          </a:prstGeom>
          <a:noFill/>
          <a:ln/>
        </p:spPr>
        <p:txBody>
          <a:bodyPr wrap="square" lIns="0" tIns="0" rIns="0" bIns="0" rtlCol="0" anchor="t"/>
          <a:lstStyle/>
          <a:p>
            <a:pPr algn="ctr" indent="0" marL="0">
              <a:buNone/>
            </a:pPr>
            <a:r>
              <a:rPr lang="en-US" sz="850" dirty="0">
                <a:solidFill>
                  <a:srgbClr val="CBD5E1"/>
                </a:solidFill>
                <a:latin typeface="Calibri" pitchFamily="34" charset="0"/>
                <a:ea typeface="Calibri" pitchFamily="34" charset="-122"/>
                <a:cs typeface="Calibri" pitchFamily="34" charset="-120"/>
              </a:rPr>
              <a:t>Buys at launch price</a:t>
            </a:r>
            <a:endParaRPr lang="en-US" sz="850" dirty="0"/>
          </a:p>
        </p:txBody>
      </p:sp>
      <p:sp>
        <p:nvSpPr>
          <p:cNvPr id="41" name="aarrr3"/>
          <p:cNvSpPr/>
          <p:nvPr/>
        </p:nvSpPr>
        <p:spPr>
          <a:xfrm>
            <a:off x="6748272" y="3182112"/>
            <a:ext cx="2139696" cy="530352"/>
          </a:xfrm>
          <a:prstGeom prst="roundRect">
            <a:avLst>
              <a:gd name="adj" fmla="val 10345"/>
            </a:avLst>
          </a:prstGeom>
          <a:solidFill>
            <a:srgbClr val="8B5CF6">
              <a:alpha val="28000"/>
            </a:srgbClr>
          </a:solidFill>
          <a:ln w="12700">
            <a:solidFill>
              <a:srgbClr val="8B5CF6"/>
            </a:solidFill>
            <a:prstDash val="solid"/>
          </a:ln>
        </p:spPr>
      </p:sp>
      <p:sp>
        <p:nvSpPr>
          <p:cNvPr id="42" name="Text 38"/>
          <p:cNvSpPr txBox="1"/>
          <p:nvPr/>
        </p:nvSpPr>
        <p:spPr>
          <a:xfrm>
            <a:off x="6839712" y="3227832"/>
            <a:ext cx="1956816" cy="256032"/>
          </a:xfrm>
          <a:prstGeom prst="rect">
            <a:avLst/>
          </a:prstGeom>
          <a:noFill/>
          <a:ln/>
        </p:spPr>
        <p:txBody>
          <a:bodyPr wrap="square" lIns="0" tIns="0" rIns="0" bIns="0" rtlCol="0" anchor="t"/>
          <a:lstStyle/>
          <a:p>
            <a:pPr algn="ctr" indent="0" marL="0">
              <a:buNone/>
            </a:pPr>
            <a:r>
              <a:rPr lang="en-US" sz="950" b="1" dirty="0">
                <a:solidFill>
                  <a:srgbClr val="FFFFFF"/>
                </a:solidFill>
                <a:latin typeface="Calibri" pitchFamily="34" charset="0"/>
                <a:ea typeface="Calibri" pitchFamily="34" charset="-122"/>
                <a:cs typeface="Calibri" pitchFamily="34" charset="-120"/>
              </a:rPr>
              <a:t>RETENTION  </a:t>
            </a:r>
            <a:pPr algn="ctr" indent="0" marL="0">
              <a:buNone/>
            </a:pPr>
            <a:r>
              <a:rPr lang="en-US" sz="1200" b="1" dirty="0">
                <a:solidFill>
                  <a:srgbClr val="06B6D4"/>
                </a:solidFill>
                <a:latin typeface="Calibri" pitchFamily="34" charset="0"/>
                <a:ea typeface="Calibri" pitchFamily="34" charset="-122"/>
                <a:cs typeface="Calibri" pitchFamily="34" charset="-120"/>
              </a:rPr>
              <a:t>≥70%</a:t>
            </a:r>
            <a:endParaRPr lang="en-US" sz="1400" dirty="0"/>
          </a:p>
        </p:txBody>
      </p:sp>
      <p:sp>
        <p:nvSpPr>
          <p:cNvPr id="43" name="Text 39"/>
          <p:cNvSpPr txBox="1"/>
          <p:nvPr/>
        </p:nvSpPr>
        <p:spPr>
          <a:xfrm>
            <a:off x="6839712" y="3456432"/>
            <a:ext cx="1956816" cy="228600"/>
          </a:xfrm>
          <a:prstGeom prst="rect">
            <a:avLst/>
          </a:prstGeom>
          <a:noFill/>
          <a:ln/>
        </p:spPr>
        <p:txBody>
          <a:bodyPr wrap="square" lIns="0" tIns="0" rIns="0" bIns="0" rtlCol="0" anchor="t"/>
          <a:lstStyle/>
          <a:p>
            <a:pPr algn="ctr" indent="0" marL="0">
              <a:buNone/>
            </a:pPr>
            <a:r>
              <a:rPr lang="en-US" sz="850" dirty="0">
                <a:solidFill>
                  <a:srgbClr val="CBD5E1"/>
                </a:solidFill>
                <a:latin typeface="Calibri" pitchFamily="34" charset="0"/>
                <a:ea typeface="Calibri" pitchFamily="34" charset="-122"/>
                <a:cs typeface="Calibri" pitchFamily="34" charset="-120"/>
              </a:rPr>
              <a:t>Daily use at day 30</a:t>
            </a:r>
            <a:endParaRPr lang="en-US" sz="850" dirty="0"/>
          </a:p>
        </p:txBody>
      </p:sp>
      <p:sp>
        <p:nvSpPr>
          <p:cNvPr id="44" name="aarrr4"/>
          <p:cNvSpPr/>
          <p:nvPr/>
        </p:nvSpPr>
        <p:spPr>
          <a:xfrm>
            <a:off x="6940296" y="3785616"/>
            <a:ext cx="1755648" cy="530352"/>
          </a:xfrm>
          <a:prstGeom prst="roundRect">
            <a:avLst>
              <a:gd name="adj" fmla="val 10345"/>
            </a:avLst>
          </a:prstGeom>
          <a:solidFill>
            <a:srgbClr val="3B82F6">
              <a:alpha val="28000"/>
            </a:srgbClr>
          </a:solidFill>
          <a:ln w="12700">
            <a:solidFill>
              <a:srgbClr val="3B82F6"/>
            </a:solidFill>
            <a:prstDash val="solid"/>
          </a:ln>
        </p:spPr>
      </p:sp>
      <p:sp>
        <p:nvSpPr>
          <p:cNvPr id="45" name="Text 41"/>
          <p:cNvSpPr txBox="1"/>
          <p:nvPr/>
        </p:nvSpPr>
        <p:spPr>
          <a:xfrm>
            <a:off x="7031736" y="3831336"/>
            <a:ext cx="1572768" cy="256032"/>
          </a:xfrm>
          <a:prstGeom prst="rect">
            <a:avLst/>
          </a:prstGeom>
          <a:noFill/>
          <a:ln/>
        </p:spPr>
        <p:txBody>
          <a:bodyPr wrap="square" lIns="0" tIns="0" rIns="0" bIns="0" rtlCol="0" anchor="t"/>
          <a:lstStyle/>
          <a:p>
            <a:pPr algn="ctr" indent="0" marL="0">
              <a:buNone/>
            </a:pPr>
            <a:r>
              <a:rPr lang="en-US" sz="950" b="1" dirty="0">
                <a:solidFill>
                  <a:srgbClr val="FFFFFF"/>
                </a:solidFill>
                <a:latin typeface="Calibri" pitchFamily="34" charset="0"/>
                <a:ea typeface="Calibri" pitchFamily="34" charset="-122"/>
                <a:cs typeface="Calibri" pitchFamily="34" charset="-120"/>
              </a:rPr>
              <a:t>REFERRAL  </a:t>
            </a:r>
            <a:pPr algn="ctr" indent="0" marL="0">
              <a:buNone/>
            </a:pPr>
            <a:r>
              <a:rPr lang="en-US" sz="1200" b="1" dirty="0">
                <a:solidFill>
                  <a:srgbClr val="06B6D4"/>
                </a:solidFill>
                <a:latin typeface="Calibri" pitchFamily="34" charset="0"/>
                <a:ea typeface="Calibri" pitchFamily="34" charset="-122"/>
                <a:cs typeface="Calibri" pitchFamily="34" charset="-120"/>
              </a:rPr>
              <a:t>15%</a:t>
            </a:r>
            <a:endParaRPr lang="en-US" sz="1400" dirty="0"/>
          </a:p>
        </p:txBody>
      </p:sp>
      <p:sp>
        <p:nvSpPr>
          <p:cNvPr id="46" name="Text 42"/>
          <p:cNvSpPr txBox="1"/>
          <p:nvPr/>
        </p:nvSpPr>
        <p:spPr>
          <a:xfrm>
            <a:off x="7031736" y="4059936"/>
            <a:ext cx="1572768" cy="228600"/>
          </a:xfrm>
          <a:prstGeom prst="rect">
            <a:avLst/>
          </a:prstGeom>
          <a:noFill/>
          <a:ln/>
        </p:spPr>
        <p:txBody>
          <a:bodyPr wrap="square" lIns="0" tIns="0" rIns="0" bIns="0" rtlCol="0" anchor="t"/>
          <a:lstStyle/>
          <a:p>
            <a:pPr algn="ctr" indent="0" marL="0">
              <a:buNone/>
            </a:pPr>
            <a:r>
              <a:rPr lang="en-US" sz="850" dirty="0">
                <a:solidFill>
                  <a:srgbClr val="CBD5E1"/>
                </a:solidFill>
                <a:latin typeface="Calibri" pitchFamily="34" charset="0"/>
                <a:ea typeface="Calibri" pitchFamily="34" charset="-122"/>
                <a:cs typeface="Calibri" pitchFamily="34" charset="-120"/>
              </a:rPr>
              <a:t>Refers another family</a:t>
            </a:r>
            <a:endParaRPr lang="en-US" sz="850" dirty="0"/>
          </a:p>
        </p:txBody>
      </p:sp>
      <p:sp>
        <p:nvSpPr>
          <p:cNvPr id="47" name="Text 43"/>
          <p:cNvSpPr txBox="1"/>
          <p:nvPr/>
        </p:nvSpPr>
        <p:spPr>
          <a:xfrm>
            <a:off x="6172200" y="4434840"/>
            <a:ext cx="3291840" cy="228600"/>
          </a:xfrm>
          <a:prstGeom prst="rect">
            <a:avLst/>
          </a:prstGeom>
          <a:noFill/>
          <a:ln/>
        </p:spPr>
        <p:txBody>
          <a:bodyPr wrap="square" lIns="0" tIns="0" rIns="0" bIns="0" rtlCol="0" anchor="t"/>
          <a:lstStyle/>
          <a:p>
            <a:pPr algn="ctr" indent="0" marL="0">
              <a:buNone/>
            </a:pPr>
            <a:r>
              <a:rPr lang="en-US" sz="950" dirty="0">
                <a:solidFill>
                  <a:srgbClr val="94A3B8"/>
                </a:solidFill>
                <a:latin typeface="Calibri" pitchFamily="34" charset="0"/>
                <a:ea typeface="Calibri" pitchFamily="34" charset="-122"/>
                <a:cs typeface="Calibri" pitchFamily="34" charset="-120"/>
              </a:rPr>
              <a:t>Targets, not data</a:t>
            </a:r>
            <a:endParaRPr lang="en-US" sz="950" dirty="0"/>
          </a:p>
        </p:txBody>
      </p:sp>
      <p:sp>
        <p:nvSpPr>
          <p:cNvPr id="48" name="exp0"/>
          <p:cNvSpPr/>
          <p:nvPr/>
        </p:nvSpPr>
        <p:spPr>
          <a:xfrm>
            <a:off x="9646920" y="1371600"/>
            <a:ext cx="2057400" cy="1005840"/>
          </a:xfrm>
          <a:prstGeom prst="roundRect">
            <a:avLst>
              <a:gd name="adj" fmla="val 6364"/>
            </a:avLst>
          </a:prstGeom>
          <a:solidFill>
            <a:srgbClr val="1B2847"/>
          </a:solidFill>
          <a:ln w="9525">
            <a:solidFill>
              <a:srgbClr val="06B6D4"/>
            </a:solidFill>
            <a:prstDash val="solid"/>
          </a:ln>
        </p:spPr>
      </p:sp>
      <p:sp>
        <p:nvSpPr>
          <p:cNvPr id="49" name="Text 45"/>
          <p:cNvSpPr txBox="1"/>
          <p:nvPr/>
        </p:nvSpPr>
        <p:spPr>
          <a:xfrm>
            <a:off x="9738360" y="1435608"/>
            <a:ext cx="1901952" cy="896112"/>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1. In-clinic trial → purchase</a:t>
            </a:r>
            <a:endParaRPr lang="en-US" sz="1000" dirty="0"/>
          </a:p>
          <a:p>
            <a:pPr indent="0" marL="0">
              <a:buNone/>
            </a:pPr>
            <a:r>
              <a:rPr lang="en-US" sz="850" dirty="0">
                <a:solidFill>
                  <a:srgbClr val="94A3B8"/>
                </a:solidFill>
                <a:latin typeface="Calibri" pitchFamily="34" charset="0"/>
                <a:ea typeface="Calibri" pitchFamily="34" charset="-122"/>
                <a:cs typeface="Calibri" pitchFamily="34" charset="-120"/>
              </a:rPr>
              <a:t>10 clinics, 8 weeks</a:t>
            </a:r>
            <a:endParaRPr lang="en-US" sz="1000" dirty="0"/>
          </a:p>
          <a:p>
            <a:pPr indent="0" marL="0">
              <a:buNone/>
            </a:pPr>
            <a:r>
              <a:rPr lang="en-US" sz="850" dirty="0">
                <a:solidFill>
                  <a:srgbClr val="CBD5E1"/>
                </a:solidFill>
                <a:latin typeface="Calibri" pitchFamily="34" charset="0"/>
                <a:ea typeface="Calibri" pitchFamily="34" charset="-122"/>
                <a:cs typeface="Calibri" pitchFamily="34" charset="-120"/>
              </a:rPr>
              <a:t>Pass: ≥30% buy at ₹9,999, CAC ≤ ₹1,079</a:t>
            </a:r>
            <a:endParaRPr lang="en-US" sz="1000" dirty="0"/>
          </a:p>
        </p:txBody>
      </p:sp>
      <p:sp>
        <p:nvSpPr>
          <p:cNvPr id="50" name="exp1"/>
          <p:cNvSpPr/>
          <p:nvPr/>
        </p:nvSpPr>
        <p:spPr>
          <a:xfrm>
            <a:off x="9646920" y="2487168"/>
            <a:ext cx="2057400" cy="1005840"/>
          </a:xfrm>
          <a:prstGeom prst="roundRect">
            <a:avLst>
              <a:gd name="adj" fmla="val 6364"/>
            </a:avLst>
          </a:prstGeom>
          <a:solidFill>
            <a:srgbClr val="1B2847"/>
          </a:solidFill>
          <a:ln w="9525">
            <a:solidFill>
              <a:srgbClr val="2B3A5C"/>
            </a:solidFill>
            <a:prstDash val="solid"/>
          </a:ln>
        </p:spPr>
      </p:sp>
      <p:sp>
        <p:nvSpPr>
          <p:cNvPr id="51" name="Text 47"/>
          <p:cNvSpPr txBox="1"/>
          <p:nvPr/>
        </p:nvSpPr>
        <p:spPr>
          <a:xfrm>
            <a:off x="9738360" y="2551176"/>
            <a:ext cx="1901952" cy="896112"/>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2. Support-group referrals</a:t>
            </a:r>
            <a:endParaRPr lang="en-US" sz="1000" dirty="0"/>
          </a:p>
          <a:p>
            <a:pPr indent="0" marL="0">
              <a:buNone/>
            </a:pPr>
            <a:r>
              <a:rPr lang="en-US" sz="850" dirty="0">
                <a:solidFill>
                  <a:srgbClr val="94A3B8"/>
                </a:solidFill>
                <a:latin typeface="Calibri" pitchFamily="34" charset="0"/>
                <a:ea typeface="Calibri" pitchFamily="34" charset="-122"/>
                <a:cs typeface="Calibri" pitchFamily="34" charset="-120"/>
              </a:rPr>
              <a:t>PD / ET caregiver groups</a:t>
            </a:r>
            <a:endParaRPr lang="en-US" sz="1000" dirty="0"/>
          </a:p>
          <a:p>
            <a:pPr indent="0" marL="0">
              <a:buNone/>
            </a:pPr>
            <a:r>
              <a:rPr lang="en-US" sz="850" dirty="0">
                <a:solidFill>
                  <a:srgbClr val="CBD5E1"/>
                </a:solidFill>
                <a:latin typeface="Calibri" pitchFamily="34" charset="0"/>
                <a:ea typeface="Calibri" pitchFamily="34" charset="-122"/>
                <a:cs typeface="Calibri" pitchFamily="34" charset="-120"/>
              </a:rPr>
              <a:t>Pass: ≥15% refer; CAC ≤ ₹800</a:t>
            </a:r>
            <a:endParaRPr lang="en-US" sz="1000" dirty="0"/>
          </a:p>
        </p:txBody>
      </p:sp>
      <p:sp>
        <p:nvSpPr>
          <p:cNvPr id="52" name="exp2"/>
          <p:cNvSpPr/>
          <p:nvPr/>
        </p:nvSpPr>
        <p:spPr>
          <a:xfrm>
            <a:off x="9646920" y="3602736"/>
            <a:ext cx="2057400" cy="1005840"/>
          </a:xfrm>
          <a:prstGeom prst="roundRect">
            <a:avLst>
              <a:gd name="adj" fmla="val 6364"/>
            </a:avLst>
          </a:prstGeom>
          <a:solidFill>
            <a:srgbClr val="1B2847"/>
          </a:solidFill>
          <a:ln w="9525">
            <a:solidFill>
              <a:srgbClr val="2B3A5C"/>
            </a:solidFill>
            <a:prstDash val="solid"/>
          </a:ln>
        </p:spPr>
      </p:sp>
      <p:sp>
        <p:nvSpPr>
          <p:cNvPr id="53" name="Text 49"/>
          <p:cNvSpPr txBox="1"/>
          <p:nvPr/>
        </p:nvSpPr>
        <p:spPr>
          <a:xfrm>
            <a:off x="9738360" y="3666744"/>
            <a:ext cx="1901952" cy="896112"/>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3. ParkinSense wellness beta</a:t>
            </a:r>
            <a:endParaRPr lang="en-US" sz="1000" dirty="0"/>
          </a:p>
          <a:p>
            <a:pPr indent="0" marL="0">
              <a:buNone/>
            </a:pPr>
            <a:r>
              <a:rPr lang="en-US" sz="850" dirty="0">
                <a:solidFill>
                  <a:srgbClr val="94A3B8"/>
                </a:solidFill>
                <a:latin typeface="Calibri" pitchFamily="34" charset="0"/>
                <a:ea typeface="Calibri" pitchFamily="34" charset="-122"/>
                <a:cs typeface="Calibri" pitchFamily="34" charset="-120"/>
              </a:rPr>
              <a:t>100 users, 8 weeks</a:t>
            </a:r>
            <a:endParaRPr lang="en-US" sz="1000" dirty="0"/>
          </a:p>
          <a:p>
            <a:pPr indent="0" marL="0">
              <a:buNone/>
            </a:pPr>
            <a:r>
              <a:rPr lang="en-US" sz="850" dirty="0">
                <a:solidFill>
                  <a:srgbClr val="CBD5E1"/>
                </a:solidFill>
                <a:latin typeface="Calibri" pitchFamily="34" charset="0"/>
                <a:ea typeface="Calibri" pitchFamily="34" charset="-122"/>
                <a:cs typeface="Calibri" pitchFamily="34" charset="-120"/>
              </a:rPr>
              <a:t>Pass: ≥40% weekly active and ≥25% would subscribe</a:t>
            </a:r>
            <a:endParaRPr lang="en-US" sz="1000" dirty="0"/>
          </a:p>
        </p:txBody>
      </p:sp>
      <p:sp>
        <p:nvSpPr>
          <p:cNvPr id="54" name="sources"/>
          <p:cNvSpPr txBox="1"/>
          <p:nvPr/>
        </p:nvSpPr>
        <p:spPr>
          <a:xfrm>
            <a:off x="502920" y="6199632"/>
            <a:ext cx="8778240" cy="274320"/>
          </a:xfrm>
          <a:prstGeom prst="rect">
            <a:avLst/>
          </a:prstGeom>
          <a:noFill/>
          <a:ln/>
        </p:spPr>
        <p:txBody>
          <a:bodyPr wrap="square" lIns="0" tIns="0" rIns="0" bIns="0" rtlCol="0" anchor="t"/>
          <a:lstStyle/>
          <a:p>
            <a:pPr indent="0" marL="0">
              <a:buNone/>
            </a:pPr>
            <a:r>
              <a:rPr lang="en-US" sz="850" dirty="0">
                <a:solidFill>
                  <a:srgbClr val="94A3B8"/>
                </a:solidFill>
                <a:latin typeface="Calibri" pitchFamily="34" charset="0"/>
                <a:ea typeface="Calibri" pitchFamily="34" charset="-122"/>
                <a:cs typeface="Calibri" pitchFamily="34" charset="-120"/>
              </a:rPr>
              <a:t>Role evidence: paper author lists, repository history, academic record.</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5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50"/>
                                        <p:tgtEl>
                                          <p:spTgt spid="22"/>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450"/>
                                        <p:tgtEl>
                                          <p:spTgt spid="23"/>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450"/>
                                        <p:tgtEl>
                                          <p:spTgt spid="24"/>
                                        </p:tgtEl>
                                      </p:cBhvr>
                                    </p:animEffect>
                                  </p:childTnLst>
                                </p:cTn>
                              </p:par>
                              <p:par>
                                <p:cTn id="17" presetID="10"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50"/>
                                        <p:tgtEl>
                                          <p:spTgt spid="25"/>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45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50"/>
                                        <p:tgtEl>
                                          <p:spTgt spid="27"/>
                                        </p:tgtEl>
                                      </p:cBhvr>
                                    </p:animEffect>
                                  </p:childTnLst>
                                </p:cTn>
                              </p:par>
                              <p:par>
                                <p:cTn id="28" presetID="10" presetClass="entr" presetSubtype="0" fill="hold" nodeType="with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450"/>
                                        <p:tgtEl>
                                          <p:spTgt spid="28"/>
                                        </p:tgtEl>
                                      </p:cBhvr>
                                    </p:animEffect>
                                  </p:childTnLst>
                                </p:cTn>
                              </p:par>
                              <p:par>
                                <p:cTn id="31" presetID="10" presetClass="entr" presetSubtype="0" fill="hold" nodeType="with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45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450"/>
                                        <p:tgtEl>
                                          <p:spTgt spid="30"/>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450"/>
                                        <p:tgtEl>
                                          <p:spTgt spid="3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wipe(left)">
                                      <p:cBhvr>
                                        <p:cTn id="46" dur="450"/>
                                        <p:tgtEl>
                                          <p:spTgt spid="32"/>
                                        </p:tgtEl>
                                      </p:cBhvr>
                                    </p:animEffect>
                                  </p:childTnLst>
                                </p:cTn>
                              </p:par>
                              <p:par>
                                <p:cTn id="47" presetID="22" presetClass="entr" presetSubtype="8" fill="hold" nodeType="with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wipe(left)">
                                      <p:cBhvr>
                                        <p:cTn id="49" dur="450"/>
                                        <p:tgtEl>
                                          <p:spTgt spid="33"/>
                                        </p:tgtEl>
                                      </p:cBhvr>
                                    </p:animEffect>
                                  </p:childTnLst>
                                </p:cTn>
                              </p:par>
                              <p:par>
                                <p:cTn id="50" presetID="22" presetClass="entr" presetSubtype="8" fill="hold" nodeType="with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wipe(left)">
                                      <p:cBhvr>
                                        <p:cTn id="52" dur="450"/>
                                        <p:tgtEl>
                                          <p:spTgt spid="34"/>
                                        </p:tgtEl>
                                      </p:cBhvr>
                                    </p:animEffect>
                                  </p:childTnLst>
                                </p:cTn>
                              </p:par>
                            </p:childTnLst>
                          </p:cTn>
                        </p:par>
                        <p:par>
                          <p:cTn id="53" fill="hold">
                            <p:stCondLst>
                              <p:cond delay="450"/>
                            </p:stCondLst>
                            <p:childTnLst>
                              <p:par>
                                <p:cTn id="54" presetID="22" presetClass="entr" presetSubtype="8" fill="hold" nodeType="after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wipe(left)">
                                      <p:cBhvr>
                                        <p:cTn id="56" dur="450"/>
                                        <p:tgtEl>
                                          <p:spTgt spid="35"/>
                                        </p:tgtEl>
                                      </p:cBhvr>
                                    </p:animEffect>
                                  </p:childTnLst>
                                </p:cTn>
                              </p:par>
                              <p:par>
                                <p:cTn id="57" presetID="22" presetClass="entr" presetSubtype="8" fill="hold" nodeType="with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wipe(left)">
                                      <p:cBhvr>
                                        <p:cTn id="59" dur="450"/>
                                        <p:tgtEl>
                                          <p:spTgt spid="36"/>
                                        </p:tgtEl>
                                      </p:cBhvr>
                                    </p:animEffect>
                                  </p:childTnLst>
                                </p:cTn>
                              </p:par>
                              <p:par>
                                <p:cTn id="60" presetID="22" presetClass="entr" presetSubtype="8" fill="hold" nodeType="with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wipe(left)">
                                      <p:cBhvr>
                                        <p:cTn id="62" dur="450"/>
                                        <p:tgtEl>
                                          <p:spTgt spid="37"/>
                                        </p:tgtEl>
                                      </p:cBhvr>
                                    </p:animEffect>
                                  </p:childTnLst>
                                </p:cTn>
                              </p:par>
                            </p:childTnLst>
                          </p:cTn>
                        </p:par>
                        <p:par>
                          <p:cTn id="63" fill="hold">
                            <p:stCondLst>
                              <p:cond delay="750"/>
                            </p:stCondLst>
                            <p:childTnLst>
                              <p:par>
                                <p:cTn id="64" presetID="22" presetClass="entr" presetSubtype="8" fill="hold" nodeType="after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wipe(left)">
                                      <p:cBhvr>
                                        <p:cTn id="66" dur="450"/>
                                        <p:tgtEl>
                                          <p:spTgt spid="38"/>
                                        </p:tgtEl>
                                      </p:cBhvr>
                                    </p:animEffect>
                                  </p:childTnLst>
                                </p:cTn>
                              </p:par>
                              <p:par>
                                <p:cTn id="67" presetID="22" presetClass="entr" presetSubtype="8" fill="hold"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wipe(left)">
                                      <p:cBhvr>
                                        <p:cTn id="69" dur="450"/>
                                        <p:tgtEl>
                                          <p:spTgt spid="39"/>
                                        </p:tgtEl>
                                      </p:cBhvr>
                                    </p:animEffect>
                                  </p:childTnLst>
                                </p:cTn>
                              </p:par>
                              <p:par>
                                <p:cTn id="70" presetID="22" presetClass="entr" presetSubtype="8" fill="hold"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wipe(left)">
                                      <p:cBhvr>
                                        <p:cTn id="72" dur="450"/>
                                        <p:tgtEl>
                                          <p:spTgt spid="40"/>
                                        </p:tgtEl>
                                      </p:cBhvr>
                                    </p:animEffect>
                                  </p:childTnLst>
                                </p:cTn>
                              </p:par>
                            </p:childTnLst>
                          </p:cTn>
                        </p:par>
                        <p:par>
                          <p:cTn id="73" fill="hold">
                            <p:stCondLst>
                              <p:cond delay="1050"/>
                            </p:stCondLst>
                            <p:childTnLst>
                              <p:par>
                                <p:cTn id="74" presetID="22" presetClass="entr" presetSubtype="8" fill="hold" nodeType="afterEffect">
                                  <p:stCondLst>
                                    <p:cond delay="0"/>
                                  </p:stCondLst>
                                  <p:childTnLst>
                                    <p:set>
                                      <p:cBhvr>
                                        <p:cTn id="75" dur="1" fill="hold">
                                          <p:stCondLst>
                                            <p:cond delay="0"/>
                                          </p:stCondLst>
                                        </p:cTn>
                                        <p:tgtEl>
                                          <p:spTgt spid="41"/>
                                        </p:tgtEl>
                                        <p:attrNameLst>
                                          <p:attrName>style.visibility</p:attrName>
                                        </p:attrNameLst>
                                      </p:cBhvr>
                                      <p:to>
                                        <p:strVal val="visible"/>
                                      </p:to>
                                    </p:set>
                                    <p:animEffect transition="in" filter="wipe(left)">
                                      <p:cBhvr>
                                        <p:cTn id="76" dur="450"/>
                                        <p:tgtEl>
                                          <p:spTgt spid="41"/>
                                        </p:tgtEl>
                                      </p:cBhvr>
                                    </p:animEffect>
                                  </p:childTnLst>
                                </p:cTn>
                              </p:par>
                              <p:par>
                                <p:cTn id="77" presetID="22" presetClass="entr" presetSubtype="8" fill="hold" nodeType="withEffect">
                                  <p:stCondLst>
                                    <p:cond delay="0"/>
                                  </p:stCondLst>
                                  <p:childTnLst>
                                    <p:set>
                                      <p:cBhvr>
                                        <p:cTn id="78" dur="1" fill="hold">
                                          <p:stCondLst>
                                            <p:cond delay="0"/>
                                          </p:stCondLst>
                                        </p:cTn>
                                        <p:tgtEl>
                                          <p:spTgt spid="42"/>
                                        </p:tgtEl>
                                        <p:attrNameLst>
                                          <p:attrName>style.visibility</p:attrName>
                                        </p:attrNameLst>
                                      </p:cBhvr>
                                      <p:to>
                                        <p:strVal val="visible"/>
                                      </p:to>
                                    </p:set>
                                    <p:animEffect transition="in" filter="wipe(left)">
                                      <p:cBhvr>
                                        <p:cTn id="79" dur="450"/>
                                        <p:tgtEl>
                                          <p:spTgt spid="42"/>
                                        </p:tgtEl>
                                      </p:cBhvr>
                                    </p:animEffect>
                                  </p:childTnLst>
                                </p:cTn>
                              </p:par>
                              <p:par>
                                <p:cTn id="80" presetID="22" presetClass="entr" presetSubtype="8" fill="hold" nodeType="withEffect">
                                  <p:stCondLst>
                                    <p:cond delay="0"/>
                                  </p:stCondLst>
                                  <p:childTnLst>
                                    <p:set>
                                      <p:cBhvr>
                                        <p:cTn id="81" dur="1" fill="hold">
                                          <p:stCondLst>
                                            <p:cond delay="0"/>
                                          </p:stCondLst>
                                        </p:cTn>
                                        <p:tgtEl>
                                          <p:spTgt spid="43"/>
                                        </p:tgtEl>
                                        <p:attrNameLst>
                                          <p:attrName>style.visibility</p:attrName>
                                        </p:attrNameLst>
                                      </p:cBhvr>
                                      <p:to>
                                        <p:strVal val="visible"/>
                                      </p:to>
                                    </p:set>
                                    <p:animEffect transition="in" filter="wipe(left)">
                                      <p:cBhvr>
                                        <p:cTn id="82" dur="450"/>
                                        <p:tgtEl>
                                          <p:spTgt spid="43"/>
                                        </p:tgtEl>
                                      </p:cBhvr>
                                    </p:animEffect>
                                  </p:childTnLst>
                                </p:cTn>
                              </p:par>
                            </p:childTnLst>
                          </p:cTn>
                        </p:par>
                        <p:par>
                          <p:cTn id="83" fill="hold">
                            <p:stCondLst>
                              <p:cond delay="1350"/>
                            </p:stCondLst>
                            <p:childTnLst>
                              <p:par>
                                <p:cTn id="84" presetID="22" presetClass="entr" presetSubtype="8" fill="hold" nodeType="afterEffect">
                                  <p:stCondLst>
                                    <p:cond delay="0"/>
                                  </p:stCondLst>
                                  <p:childTnLst>
                                    <p:set>
                                      <p:cBhvr>
                                        <p:cTn id="85" dur="1" fill="hold">
                                          <p:stCondLst>
                                            <p:cond delay="0"/>
                                          </p:stCondLst>
                                        </p:cTn>
                                        <p:tgtEl>
                                          <p:spTgt spid="44"/>
                                        </p:tgtEl>
                                        <p:attrNameLst>
                                          <p:attrName>style.visibility</p:attrName>
                                        </p:attrNameLst>
                                      </p:cBhvr>
                                      <p:to>
                                        <p:strVal val="visible"/>
                                      </p:to>
                                    </p:set>
                                    <p:animEffect transition="in" filter="wipe(left)">
                                      <p:cBhvr>
                                        <p:cTn id="86" dur="450"/>
                                        <p:tgtEl>
                                          <p:spTgt spid="44"/>
                                        </p:tgtEl>
                                      </p:cBhvr>
                                    </p:animEffect>
                                  </p:childTnLst>
                                </p:cTn>
                              </p:par>
                              <p:par>
                                <p:cTn id="87" presetID="22" presetClass="entr" presetSubtype="8" fill="hold" nodeType="withEffect">
                                  <p:stCondLst>
                                    <p:cond delay="0"/>
                                  </p:stCondLst>
                                  <p:childTnLst>
                                    <p:set>
                                      <p:cBhvr>
                                        <p:cTn id="88" dur="1" fill="hold">
                                          <p:stCondLst>
                                            <p:cond delay="0"/>
                                          </p:stCondLst>
                                        </p:cTn>
                                        <p:tgtEl>
                                          <p:spTgt spid="45"/>
                                        </p:tgtEl>
                                        <p:attrNameLst>
                                          <p:attrName>style.visibility</p:attrName>
                                        </p:attrNameLst>
                                      </p:cBhvr>
                                      <p:to>
                                        <p:strVal val="visible"/>
                                      </p:to>
                                    </p:set>
                                    <p:animEffect transition="in" filter="wipe(left)">
                                      <p:cBhvr>
                                        <p:cTn id="89" dur="450"/>
                                        <p:tgtEl>
                                          <p:spTgt spid="45"/>
                                        </p:tgtEl>
                                      </p:cBhvr>
                                    </p:animEffect>
                                  </p:childTnLst>
                                </p:cTn>
                              </p:par>
                              <p:par>
                                <p:cTn id="90" presetID="22" presetClass="entr" presetSubtype="8" fill="hold" nodeType="withEffect">
                                  <p:stCondLst>
                                    <p:cond delay="0"/>
                                  </p:stCondLst>
                                  <p:childTnLst>
                                    <p:set>
                                      <p:cBhvr>
                                        <p:cTn id="91" dur="1" fill="hold">
                                          <p:stCondLst>
                                            <p:cond delay="0"/>
                                          </p:stCondLst>
                                        </p:cTn>
                                        <p:tgtEl>
                                          <p:spTgt spid="46"/>
                                        </p:tgtEl>
                                        <p:attrNameLst>
                                          <p:attrName>style.visibility</p:attrName>
                                        </p:attrNameLst>
                                      </p:cBhvr>
                                      <p:to>
                                        <p:strVal val="visible"/>
                                      </p:to>
                                    </p:set>
                                    <p:animEffect transition="in" filter="wipe(left)">
                                      <p:cBhvr>
                                        <p:cTn id="92" dur="450"/>
                                        <p:tgtEl>
                                          <p:spTgt spid="46"/>
                                        </p:tgtEl>
                                      </p:cBhvr>
                                    </p:animEffect>
                                  </p:childTnLst>
                                </p:cTn>
                              </p:par>
                            </p:childTnLst>
                          </p:cTn>
                        </p:par>
                        <p:par>
                          <p:cTn id="93" fill="hold">
                            <p:stCondLst>
                              <p:cond delay="1650"/>
                            </p:stCondLst>
                            <p:childTnLst>
                              <p:par>
                                <p:cTn id="94" presetID="10" presetClass="entr" presetSubtype="0" fill="hold" nodeType="afterEffect">
                                  <p:stCondLst>
                                    <p:cond delay="0"/>
                                  </p:stCondLst>
                                  <p:childTnLst>
                                    <p:set>
                                      <p:cBhvr>
                                        <p:cTn id="95" dur="1" fill="hold">
                                          <p:stCondLst>
                                            <p:cond delay="0"/>
                                          </p:stCondLst>
                                        </p:cTn>
                                        <p:tgtEl>
                                          <p:spTgt spid="47"/>
                                        </p:tgtEl>
                                        <p:attrNameLst>
                                          <p:attrName>style.visibility</p:attrName>
                                        </p:attrNameLst>
                                      </p:cBhvr>
                                      <p:to>
                                        <p:strVal val="visible"/>
                                      </p:to>
                                    </p:set>
                                    <p:animEffect transition="in" filter="fade">
                                      <p:cBhvr>
                                        <p:cTn id="96" dur="450"/>
                                        <p:tgtEl>
                                          <p:spTgt spid="47"/>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48"/>
                                        </p:tgtEl>
                                        <p:attrNameLst>
                                          <p:attrName>style.visibility</p:attrName>
                                        </p:attrNameLst>
                                      </p:cBhvr>
                                      <p:to>
                                        <p:strVal val="visible"/>
                                      </p:to>
                                    </p:set>
                                    <p:animEffect transition="in" filter="fade">
                                      <p:cBhvr>
                                        <p:cTn id="101" dur="450"/>
                                        <p:tgtEl>
                                          <p:spTgt spid="48"/>
                                        </p:tgtEl>
                                      </p:cBhvr>
                                    </p:animEffect>
                                  </p:childTnLst>
                                </p:cTn>
                              </p:par>
                              <p:par>
                                <p:cTn id="102" presetID="10" presetClass="entr" presetSubtype="0" fill="hold" nodeType="withEffect">
                                  <p:stCondLst>
                                    <p:cond delay="0"/>
                                  </p:stCondLst>
                                  <p:childTnLst>
                                    <p:set>
                                      <p:cBhvr>
                                        <p:cTn id="103" dur="1" fill="hold">
                                          <p:stCondLst>
                                            <p:cond delay="0"/>
                                          </p:stCondLst>
                                        </p:cTn>
                                        <p:tgtEl>
                                          <p:spTgt spid="49"/>
                                        </p:tgtEl>
                                        <p:attrNameLst>
                                          <p:attrName>style.visibility</p:attrName>
                                        </p:attrNameLst>
                                      </p:cBhvr>
                                      <p:to>
                                        <p:strVal val="visible"/>
                                      </p:to>
                                    </p:set>
                                    <p:animEffect transition="in" filter="fade">
                                      <p:cBhvr>
                                        <p:cTn id="104" dur="450"/>
                                        <p:tgtEl>
                                          <p:spTgt spid="49"/>
                                        </p:tgtEl>
                                      </p:cBhvr>
                                    </p:animEffect>
                                  </p:childTnLst>
                                </p:cTn>
                              </p:par>
                            </p:childTnLst>
                          </p:cTn>
                        </p:par>
                        <p:par>
                          <p:cTn id="105" fill="hold">
                            <p:stCondLst>
                              <p:cond delay="450"/>
                            </p:stCondLst>
                            <p:childTnLst>
                              <p:par>
                                <p:cTn id="106" presetID="10" presetClass="entr" presetSubtype="0" fill="hold" nodeType="afterEffect">
                                  <p:stCondLst>
                                    <p:cond delay="0"/>
                                  </p:stCondLst>
                                  <p:childTnLst>
                                    <p:set>
                                      <p:cBhvr>
                                        <p:cTn id="107" dur="1" fill="hold">
                                          <p:stCondLst>
                                            <p:cond delay="0"/>
                                          </p:stCondLst>
                                        </p:cTn>
                                        <p:tgtEl>
                                          <p:spTgt spid="50"/>
                                        </p:tgtEl>
                                        <p:attrNameLst>
                                          <p:attrName>style.visibility</p:attrName>
                                        </p:attrNameLst>
                                      </p:cBhvr>
                                      <p:to>
                                        <p:strVal val="visible"/>
                                      </p:to>
                                    </p:set>
                                    <p:animEffect transition="in" filter="fade">
                                      <p:cBhvr>
                                        <p:cTn id="108" dur="450"/>
                                        <p:tgtEl>
                                          <p:spTgt spid="50"/>
                                        </p:tgtEl>
                                      </p:cBhvr>
                                    </p:animEffect>
                                  </p:childTnLst>
                                </p:cTn>
                              </p:par>
                              <p:par>
                                <p:cTn id="109" presetID="10" presetClass="entr" presetSubtype="0" fill="hold" nodeType="withEffect">
                                  <p:stCondLst>
                                    <p:cond delay="0"/>
                                  </p:stCondLst>
                                  <p:childTnLst>
                                    <p:set>
                                      <p:cBhvr>
                                        <p:cTn id="110" dur="1" fill="hold">
                                          <p:stCondLst>
                                            <p:cond delay="0"/>
                                          </p:stCondLst>
                                        </p:cTn>
                                        <p:tgtEl>
                                          <p:spTgt spid="51"/>
                                        </p:tgtEl>
                                        <p:attrNameLst>
                                          <p:attrName>style.visibility</p:attrName>
                                        </p:attrNameLst>
                                      </p:cBhvr>
                                      <p:to>
                                        <p:strVal val="visible"/>
                                      </p:to>
                                    </p:set>
                                    <p:animEffect transition="in" filter="fade">
                                      <p:cBhvr>
                                        <p:cTn id="111" dur="450"/>
                                        <p:tgtEl>
                                          <p:spTgt spid="51"/>
                                        </p:tgtEl>
                                      </p:cBhvr>
                                    </p:animEffect>
                                  </p:childTnLst>
                                </p:cTn>
                              </p:par>
                            </p:childTnLst>
                          </p:cTn>
                        </p:par>
                        <p:par>
                          <p:cTn id="112" fill="hold">
                            <p:stCondLst>
                              <p:cond delay="750"/>
                            </p:stCondLst>
                            <p:childTnLst>
                              <p:par>
                                <p:cTn id="113" presetID="10" presetClass="entr" presetSubtype="0" fill="hold" nodeType="afterEffect">
                                  <p:stCondLst>
                                    <p:cond delay="0"/>
                                  </p:stCondLst>
                                  <p:childTnLst>
                                    <p:set>
                                      <p:cBhvr>
                                        <p:cTn id="114" dur="1" fill="hold">
                                          <p:stCondLst>
                                            <p:cond delay="0"/>
                                          </p:stCondLst>
                                        </p:cTn>
                                        <p:tgtEl>
                                          <p:spTgt spid="52"/>
                                        </p:tgtEl>
                                        <p:attrNameLst>
                                          <p:attrName>style.visibility</p:attrName>
                                        </p:attrNameLst>
                                      </p:cBhvr>
                                      <p:to>
                                        <p:strVal val="visible"/>
                                      </p:to>
                                    </p:set>
                                    <p:animEffect transition="in" filter="fade">
                                      <p:cBhvr>
                                        <p:cTn id="115" dur="450"/>
                                        <p:tgtEl>
                                          <p:spTgt spid="52"/>
                                        </p:tgtEl>
                                      </p:cBhvr>
                                    </p:animEffect>
                                  </p:childTnLst>
                                </p:cTn>
                              </p:par>
                              <p:par>
                                <p:cTn id="116" presetID="10" presetClass="entr" presetSubtype="0" fill="hold" nodeType="withEffect">
                                  <p:stCondLst>
                                    <p:cond delay="0"/>
                                  </p:stCondLst>
                                  <p:childTnLst>
                                    <p:set>
                                      <p:cBhvr>
                                        <p:cTn id="117" dur="1" fill="hold">
                                          <p:stCondLst>
                                            <p:cond delay="0"/>
                                          </p:stCondLst>
                                        </p:cTn>
                                        <p:tgtEl>
                                          <p:spTgt spid="53"/>
                                        </p:tgtEl>
                                        <p:attrNameLst>
                                          <p:attrName>style.visibility</p:attrName>
                                        </p:attrNameLst>
                                      </p:cBhvr>
                                      <p:to>
                                        <p:strVal val="visible"/>
                                      </p:to>
                                    </p:set>
                                    <p:animEffect transition="in" filter="fade">
                                      <p:cBhvr>
                                        <p:cTn id="118" dur="45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kicker"/>
          <p:cNvSpPr txBox="1"/>
          <p:nvPr/>
        </p:nvSpPr>
        <p:spPr>
          <a:xfrm>
            <a:off x="502920" y="274320"/>
            <a:ext cx="7315200" cy="256032"/>
          </a:xfrm>
          <a:prstGeom prst="rect">
            <a:avLst/>
          </a:prstGeom>
          <a:noFill/>
          <a:ln/>
        </p:spPr>
        <p:txBody>
          <a:bodyPr wrap="square" lIns="0" tIns="0" rIns="0" bIns="0" rtlCol="0" anchor="t"/>
          <a:lstStyle/>
          <a:p>
            <a:pPr indent="0" marL="0">
              <a:buNone/>
            </a:pPr>
            <a:r>
              <a:rPr lang="en-US" sz="1100" b="1" spc="300" kern="0" dirty="0">
                <a:solidFill>
                  <a:srgbClr val="06B6D4"/>
                </a:solidFill>
                <a:latin typeface="Calibri" pitchFamily="34" charset="0"/>
                <a:ea typeface="Calibri" pitchFamily="34" charset="-122"/>
                <a:cs typeface="Calibri" pitchFamily="34" charset="-120"/>
              </a:rPr>
              <a:t>12 · FUNDING ASK &amp; VALUATION</a:t>
            </a:r>
            <a:endParaRPr lang="en-US" sz="1100" dirty="0"/>
          </a:p>
        </p:txBody>
      </p:sp>
      <p:sp>
        <p:nvSpPr>
          <p:cNvPr id="3" name="!!title"/>
          <p:cNvSpPr txBox="1"/>
          <p:nvPr/>
        </p:nvSpPr>
        <p:spPr>
          <a:xfrm>
            <a:off x="502920" y="530352"/>
            <a:ext cx="10241280" cy="64008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Raise ₹10.51 L at ₹75 L pre-money — 12.3% to the investor</a:t>
            </a:r>
            <a:endParaRPr lang="en-US" sz="2800" dirty="0"/>
          </a:p>
        </p:txBody>
      </p:sp>
      <p:pic>
        <p:nvPicPr>
          <p:cNvPr id="4" name="!!mark" descr="../public/brand/averra-mark-white.png">    </p:cNvPr>
          <p:cNvPicPr>
            <a:picLocks noChangeAspect="1"/>
          </p:cNvPicPr>
          <p:nvPr/>
        </p:nvPicPr>
        <p:blipFill>
          <a:blip r:embed="rId1"/>
          <a:stretch>
            <a:fillRect/>
          </a:stretch>
        </p:blipFill>
        <p:spPr>
          <a:xfrm>
            <a:off x="11201400" y="292608"/>
            <a:ext cx="502920" cy="502920"/>
          </a:xfrm>
          <a:prstGeom prst="rect">
            <a:avLst/>
          </a:prstGeom>
        </p:spPr>
      </p:pic>
      <p:sp>
        <p:nvSpPr>
          <p:cNvPr id="5" name="!!dot1"/>
          <p:cNvSpPr/>
          <p:nvPr/>
        </p:nvSpPr>
        <p:spPr>
          <a:xfrm>
            <a:off x="9692640" y="6510528"/>
            <a:ext cx="54864" cy="54864"/>
          </a:xfrm>
          <a:prstGeom prst="ellipse">
            <a:avLst/>
          </a:prstGeom>
          <a:solidFill>
            <a:srgbClr val="2B3A5C"/>
          </a:solidFill>
          <a:ln w="12700">
            <a:solidFill>
              <a:srgbClr val="2B3A5C"/>
            </a:solidFill>
            <a:prstDash val="solid"/>
          </a:ln>
        </p:spPr>
      </p:sp>
      <p:sp>
        <p:nvSpPr>
          <p:cNvPr id="6" name="!!dot2"/>
          <p:cNvSpPr/>
          <p:nvPr/>
        </p:nvSpPr>
        <p:spPr>
          <a:xfrm>
            <a:off x="9838944" y="6510528"/>
            <a:ext cx="54864" cy="54864"/>
          </a:xfrm>
          <a:prstGeom prst="ellipse">
            <a:avLst/>
          </a:prstGeom>
          <a:solidFill>
            <a:srgbClr val="2B3A5C"/>
          </a:solidFill>
          <a:ln w="12700">
            <a:solidFill>
              <a:srgbClr val="2B3A5C"/>
            </a:solidFill>
            <a:prstDash val="solid"/>
          </a:ln>
        </p:spPr>
      </p:sp>
      <p:sp>
        <p:nvSpPr>
          <p:cNvPr id="7" name="!!dot3"/>
          <p:cNvSpPr/>
          <p:nvPr/>
        </p:nvSpPr>
        <p:spPr>
          <a:xfrm>
            <a:off x="9985248" y="6510528"/>
            <a:ext cx="54864" cy="54864"/>
          </a:xfrm>
          <a:prstGeom prst="ellipse">
            <a:avLst/>
          </a:prstGeom>
          <a:solidFill>
            <a:srgbClr val="2B3A5C"/>
          </a:solidFill>
          <a:ln w="12700">
            <a:solidFill>
              <a:srgbClr val="2B3A5C"/>
            </a:solidFill>
            <a:prstDash val="solid"/>
          </a:ln>
        </p:spPr>
      </p:sp>
      <p:sp>
        <p:nvSpPr>
          <p:cNvPr id="8" name="!!dot4"/>
          <p:cNvSpPr/>
          <p:nvPr/>
        </p:nvSpPr>
        <p:spPr>
          <a:xfrm>
            <a:off x="10131552" y="6510528"/>
            <a:ext cx="54864" cy="54864"/>
          </a:xfrm>
          <a:prstGeom prst="ellipse">
            <a:avLst/>
          </a:prstGeom>
          <a:solidFill>
            <a:srgbClr val="2B3A5C"/>
          </a:solidFill>
          <a:ln w="12700">
            <a:solidFill>
              <a:srgbClr val="2B3A5C"/>
            </a:solidFill>
            <a:prstDash val="solid"/>
          </a:ln>
        </p:spPr>
      </p:sp>
      <p:sp>
        <p:nvSpPr>
          <p:cNvPr id="9" name="!!dot5"/>
          <p:cNvSpPr/>
          <p:nvPr/>
        </p:nvSpPr>
        <p:spPr>
          <a:xfrm>
            <a:off x="10277856" y="6510528"/>
            <a:ext cx="54864" cy="54864"/>
          </a:xfrm>
          <a:prstGeom prst="ellipse">
            <a:avLst/>
          </a:prstGeom>
          <a:solidFill>
            <a:srgbClr val="2B3A5C"/>
          </a:solidFill>
          <a:ln w="12700">
            <a:solidFill>
              <a:srgbClr val="2B3A5C"/>
            </a:solidFill>
            <a:prstDash val="solid"/>
          </a:ln>
        </p:spPr>
      </p:sp>
      <p:sp>
        <p:nvSpPr>
          <p:cNvPr id="10" name="!!dot6"/>
          <p:cNvSpPr/>
          <p:nvPr/>
        </p:nvSpPr>
        <p:spPr>
          <a:xfrm>
            <a:off x="10424160" y="6510528"/>
            <a:ext cx="54864" cy="54864"/>
          </a:xfrm>
          <a:prstGeom prst="ellipse">
            <a:avLst/>
          </a:prstGeom>
          <a:solidFill>
            <a:srgbClr val="2B3A5C"/>
          </a:solidFill>
          <a:ln w="12700">
            <a:solidFill>
              <a:srgbClr val="2B3A5C"/>
            </a:solidFill>
            <a:prstDash val="solid"/>
          </a:ln>
        </p:spPr>
      </p:sp>
      <p:sp>
        <p:nvSpPr>
          <p:cNvPr id="11" name="!!dot7"/>
          <p:cNvSpPr/>
          <p:nvPr/>
        </p:nvSpPr>
        <p:spPr>
          <a:xfrm>
            <a:off x="10570464" y="6510528"/>
            <a:ext cx="54864" cy="54864"/>
          </a:xfrm>
          <a:prstGeom prst="ellipse">
            <a:avLst/>
          </a:prstGeom>
          <a:solidFill>
            <a:srgbClr val="2B3A5C"/>
          </a:solidFill>
          <a:ln w="12700">
            <a:solidFill>
              <a:srgbClr val="2B3A5C"/>
            </a:solidFill>
            <a:prstDash val="solid"/>
          </a:ln>
        </p:spPr>
      </p:sp>
      <p:sp>
        <p:nvSpPr>
          <p:cNvPr id="12" name="!!dot8"/>
          <p:cNvSpPr/>
          <p:nvPr/>
        </p:nvSpPr>
        <p:spPr>
          <a:xfrm>
            <a:off x="10716768" y="6510528"/>
            <a:ext cx="54864" cy="54864"/>
          </a:xfrm>
          <a:prstGeom prst="ellipse">
            <a:avLst/>
          </a:prstGeom>
          <a:solidFill>
            <a:srgbClr val="2B3A5C"/>
          </a:solidFill>
          <a:ln w="12700">
            <a:solidFill>
              <a:srgbClr val="2B3A5C"/>
            </a:solidFill>
            <a:prstDash val="solid"/>
          </a:ln>
        </p:spPr>
      </p:sp>
      <p:sp>
        <p:nvSpPr>
          <p:cNvPr id="13" name="!!dot9"/>
          <p:cNvSpPr/>
          <p:nvPr/>
        </p:nvSpPr>
        <p:spPr>
          <a:xfrm>
            <a:off x="10863072" y="6510528"/>
            <a:ext cx="54864" cy="54864"/>
          </a:xfrm>
          <a:prstGeom prst="ellipse">
            <a:avLst/>
          </a:prstGeom>
          <a:solidFill>
            <a:srgbClr val="2B3A5C"/>
          </a:solidFill>
          <a:ln w="12700">
            <a:solidFill>
              <a:srgbClr val="2B3A5C"/>
            </a:solidFill>
            <a:prstDash val="solid"/>
          </a:ln>
        </p:spPr>
      </p:sp>
      <p:sp>
        <p:nvSpPr>
          <p:cNvPr id="14" name="!!dot10"/>
          <p:cNvSpPr/>
          <p:nvPr/>
        </p:nvSpPr>
        <p:spPr>
          <a:xfrm>
            <a:off x="11009376" y="6510528"/>
            <a:ext cx="54864" cy="54864"/>
          </a:xfrm>
          <a:prstGeom prst="ellipse">
            <a:avLst/>
          </a:prstGeom>
          <a:solidFill>
            <a:srgbClr val="2B3A5C"/>
          </a:solidFill>
          <a:ln w="12700">
            <a:solidFill>
              <a:srgbClr val="2B3A5C"/>
            </a:solidFill>
            <a:prstDash val="solid"/>
          </a:ln>
        </p:spPr>
      </p:sp>
      <p:sp>
        <p:nvSpPr>
          <p:cNvPr id="15" name="!!dot11"/>
          <p:cNvSpPr/>
          <p:nvPr/>
        </p:nvSpPr>
        <p:spPr>
          <a:xfrm>
            <a:off x="11155680" y="6510528"/>
            <a:ext cx="54864" cy="54864"/>
          </a:xfrm>
          <a:prstGeom prst="ellipse">
            <a:avLst/>
          </a:prstGeom>
          <a:solidFill>
            <a:srgbClr val="2B3A5C"/>
          </a:solidFill>
          <a:ln w="12700">
            <a:solidFill>
              <a:srgbClr val="2B3A5C"/>
            </a:solidFill>
            <a:prstDash val="solid"/>
          </a:ln>
        </p:spPr>
      </p:sp>
      <p:sp>
        <p:nvSpPr>
          <p:cNvPr id="16" name="!!dot12"/>
          <p:cNvSpPr/>
          <p:nvPr/>
        </p:nvSpPr>
        <p:spPr>
          <a:xfrm>
            <a:off x="11301984" y="6510528"/>
            <a:ext cx="54864" cy="54864"/>
          </a:xfrm>
          <a:prstGeom prst="ellipse">
            <a:avLst/>
          </a:prstGeom>
          <a:solidFill>
            <a:srgbClr val="2B3A5C"/>
          </a:solidFill>
          <a:ln w="12700">
            <a:solidFill>
              <a:srgbClr val="2B3A5C"/>
            </a:solidFill>
            <a:prstDash val="solid"/>
          </a:ln>
        </p:spPr>
      </p:sp>
      <p:sp>
        <p:nvSpPr>
          <p:cNvPr id="17" name="!!dot13"/>
          <p:cNvSpPr/>
          <p:nvPr/>
        </p:nvSpPr>
        <p:spPr>
          <a:xfrm>
            <a:off x="11448288" y="6510528"/>
            <a:ext cx="100584" cy="100584"/>
          </a:xfrm>
          <a:prstGeom prst="ellipse">
            <a:avLst/>
          </a:prstGeom>
          <a:solidFill>
            <a:srgbClr val="06B6D4"/>
          </a:solidFill>
          <a:ln w="12700">
            <a:solidFill>
              <a:srgbClr val="06B6D4"/>
            </a:solidFill>
            <a:prstDash val="solid"/>
          </a:ln>
        </p:spPr>
      </p:sp>
      <p:sp>
        <p:nvSpPr>
          <p:cNvPr id="18" name="!!dot14"/>
          <p:cNvSpPr/>
          <p:nvPr/>
        </p:nvSpPr>
        <p:spPr>
          <a:xfrm>
            <a:off x="11594592" y="6510528"/>
            <a:ext cx="54864" cy="54864"/>
          </a:xfrm>
          <a:prstGeom prst="ellipse">
            <a:avLst/>
          </a:prstGeom>
          <a:solidFill>
            <a:srgbClr val="2B3A5C"/>
          </a:solidFill>
          <a:ln w="12700">
            <a:solidFill>
              <a:srgbClr val="2B3A5C"/>
            </a:solidFill>
            <a:prstDash val="solid"/>
          </a:ln>
        </p:spPr>
      </p:sp>
      <p:sp>
        <p:nvSpPr>
          <p:cNvPr id="19" name="!!brand"/>
          <p:cNvSpPr txBox="1"/>
          <p:nvPr/>
        </p:nvSpPr>
        <p:spPr>
          <a:xfrm>
            <a:off x="502920" y="6446520"/>
            <a:ext cx="1828800" cy="201168"/>
          </a:xfrm>
          <a:prstGeom prst="rect">
            <a:avLst/>
          </a:prstGeom>
          <a:noFill/>
          <a:ln/>
        </p:spPr>
        <p:txBody>
          <a:bodyPr wrap="square" lIns="0" tIns="0" rIns="0" bIns="0" rtlCol="0" anchor="t"/>
          <a:lstStyle/>
          <a:p>
            <a:pPr indent="0" marL="0">
              <a:buNone/>
            </a:pPr>
            <a:r>
              <a:rPr lang="en-US" sz="900" b="1" spc="500" kern="0" dirty="0">
                <a:solidFill>
                  <a:srgbClr val="94A3B8"/>
                </a:solidFill>
                <a:latin typeface="Calibri" pitchFamily="34" charset="0"/>
                <a:ea typeface="Calibri" pitchFamily="34" charset="-122"/>
                <a:cs typeface="Calibri" pitchFamily="34" charset="-120"/>
              </a:rPr>
              <a:t>AVERRA</a:t>
            </a:r>
            <a:endParaRPr lang="en-US" sz="900" dirty="0"/>
          </a:p>
        </p:txBody>
      </p:sp>
      <p:sp>
        <p:nvSpPr>
          <p:cNvPr id="21" name="need0"/>
          <p:cNvSpPr/>
          <p:nvPr/>
        </p:nvSpPr>
        <p:spPr>
          <a:xfrm>
            <a:off x="502920" y="1325880"/>
            <a:ext cx="2121408" cy="749808"/>
          </a:xfrm>
          <a:prstGeom prst="roundRect">
            <a:avLst>
              <a:gd name="adj" fmla="val 8537"/>
            </a:avLst>
          </a:prstGeom>
          <a:solidFill>
            <a:srgbClr val="16213A"/>
          </a:solidFill>
          <a:ln w="9525">
            <a:solidFill>
              <a:srgbClr val="06B6D4"/>
            </a:solidFill>
            <a:prstDash val="solid"/>
          </a:ln>
        </p:spPr>
      </p:sp>
      <p:sp>
        <p:nvSpPr>
          <p:cNvPr id="22" name="Text 18"/>
          <p:cNvSpPr txBox="1"/>
          <p:nvPr/>
        </p:nvSpPr>
        <p:spPr>
          <a:xfrm>
            <a:off x="621792" y="1389888"/>
            <a:ext cx="1920240" cy="27432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This round · Milestone 1 (M1–M6)</a:t>
            </a:r>
            <a:endParaRPr lang="en-US" sz="900" dirty="0"/>
          </a:p>
        </p:txBody>
      </p:sp>
      <p:sp>
        <p:nvSpPr>
          <p:cNvPr id="23" name="Text 19"/>
          <p:cNvSpPr txBox="1"/>
          <p:nvPr/>
        </p:nvSpPr>
        <p:spPr>
          <a:xfrm>
            <a:off x="621792" y="1645920"/>
            <a:ext cx="1920240" cy="365760"/>
          </a:xfrm>
          <a:prstGeom prst="rect">
            <a:avLst/>
          </a:prstGeom>
          <a:noFill/>
          <a:ln/>
        </p:spPr>
        <p:txBody>
          <a:bodyPr wrap="square" lIns="0" tIns="0" rIns="0" bIns="0" rtlCol="0" anchor="t"/>
          <a:lstStyle/>
          <a:p>
            <a:pPr indent="0" marL="0">
              <a:buNone/>
            </a:pPr>
            <a:r>
              <a:rPr lang="en-US" sz="1800" b="1" dirty="0">
                <a:solidFill>
                  <a:srgbClr val="06B6D4"/>
                </a:solidFill>
                <a:latin typeface="Calibri" pitchFamily="34" charset="0"/>
                <a:ea typeface="Calibri" pitchFamily="34" charset="-122"/>
                <a:cs typeface="Calibri" pitchFamily="34" charset="-120"/>
              </a:rPr>
              <a:t>₹10.5 L</a:t>
            </a:r>
            <a:endParaRPr lang="en-US" sz="1800" dirty="0"/>
          </a:p>
        </p:txBody>
      </p:sp>
      <p:sp>
        <p:nvSpPr>
          <p:cNvPr id="24" name="need1"/>
          <p:cNvSpPr/>
          <p:nvPr/>
        </p:nvSpPr>
        <p:spPr>
          <a:xfrm>
            <a:off x="2743200" y="1325880"/>
            <a:ext cx="2121408" cy="749808"/>
          </a:xfrm>
          <a:prstGeom prst="roundRect">
            <a:avLst>
              <a:gd name="adj" fmla="val 8537"/>
            </a:avLst>
          </a:prstGeom>
          <a:solidFill>
            <a:srgbClr val="16213A"/>
          </a:solidFill>
          <a:ln w="9525">
            <a:solidFill>
              <a:srgbClr val="2B3A5C"/>
            </a:solidFill>
            <a:prstDash val="solid"/>
          </a:ln>
        </p:spPr>
      </p:sp>
      <p:sp>
        <p:nvSpPr>
          <p:cNvPr id="25" name="Text 21"/>
          <p:cNvSpPr txBox="1"/>
          <p:nvPr/>
        </p:nvSpPr>
        <p:spPr>
          <a:xfrm>
            <a:off x="2862072" y="1389888"/>
            <a:ext cx="1920240" cy="27432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Year-1 cash costs</a:t>
            </a:r>
            <a:endParaRPr lang="en-US" sz="900" dirty="0"/>
          </a:p>
        </p:txBody>
      </p:sp>
      <p:sp>
        <p:nvSpPr>
          <p:cNvPr id="26" name="Text 22"/>
          <p:cNvSpPr txBox="1"/>
          <p:nvPr/>
        </p:nvSpPr>
        <p:spPr>
          <a:xfrm>
            <a:off x="2862072" y="1645920"/>
            <a:ext cx="192024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₹35.2 L</a:t>
            </a:r>
            <a:endParaRPr lang="en-US" sz="1800" dirty="0"/>
          </a:p>
        </p:txBody>
      </p:sp>
      <p:sp>
        <p:nvSpPr>
          <p:cNvPr id="27" name="need2"/>
          <p:cNvSpPr/>
          <p:nvPr/>
        </p:nvSpPr>
        <p:spPr>
          <a:xfrm>
            <a:off x="4983480" y="1325880"/>
            <a:ext cx="2121408" cy="749808"/>
          </a:xfrm>
          <a:prstGeom prst="roundRect">
            <a:avLst>
              <a:gd name="adj" fmla="val 8537"/>
            </a:avLst>
          </a:prstGeom>
          <a:solidFill>
            <a:srgbClr val="16213A"/>
          </a:solidFill>
          <a:ln w="9525">
            <a:solidFill>
              <a:srgbClr val="2B3A5C"/>
            </a:solidFill>
            <a:prstDash val="solid"/>
          </a:ln>
        </p:spPr>
      </p:sp>
      <p:sp>
        <p:nvSpPr>
          <p:cNvPr id="28" name="Text 24"/>
          <p:cNvSpPr txBox="1"/>
          <p:nvPr/>
        </p:nvSpPr>
        <p:spPr>
          <a:xfrm>
            <a:off x="5102352" y="1389888"/>
            <a:ext cx="1920240" cy="27432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Total to reach profitability</a:t>
            </a:r>
            <a:endParaRPr lang="en-US" sz="900" dirty="0"/>
          </a:p>
        </p:txBody>
      </p:sp>
      <p:sp>
        <p:nvSpPr>
          <p:cNvPr id="29" name="Text 25"/>
          <p:cNvSpPr txBox="1"/>
          <p:nvPr/>
        </p:nvSpPr>
        <p:spPr>
          <a:xfrm>
            <a:off x="5102352" y="1645920"/>
            <a:ext cx="1920240" cy="365760"/>
          </a:xfrm>
          <a:prstGeom prst="rect">
            <a:avLst/>
          </a:prstGeom>
          <a:noFill/>
          <a:ln/>
        </p:spPr>
        <p:txBody>
          <a:bodyPr wrap="square" lIns="0" tIns="0" rIns="0" bIns="0" rtlCol="0" anchor="t"/>
          <a:lstStyle/>
          <a:p>
            <a:pPr indent="0" marL="0">
              <a:buNone/>
            </a:pPr>
            <a:r>
              <a:rPr lang="en-US" sz="1800" b="1" dirty="0">
                <a:solidFill>
                  <a:srgbClr val="8B5CF6"/>
                </a:solidFill>
                <a:latin typeface="Calibri" pitchFamily="34" charset="0"/>
                <a:ea typeface="Calibri" pitchFamily="34" charset="-122"/>
                <a:cs typeface="Calibri" pitchFamily="34" charset="-120"/>
              </a:rPr>
              <a:t>₹60.9 L</a:t>
            </a:r>
            <a:endParaRPr lang="en-US" sz="1800" dirty="0"/>
          </a:p>
        </p:txBody>
      </p:sp>
      <p:graphicFrame>
        <p:nvGraphicFramePr>
          <p:cNvPr id="14" name="val_table"/>
          <p:cNvGraphicFramePr>
            <a:graphicFrameLocks noGrp="1"/>
          </p:cNvGraphicFramePr>
          <p:nvPr>
            <p:extLst>
              <p:ext uri="{D42A27DB-BD31-4B8C-83A1-F6EECF244321}">
                <p14:modId xmlns:p14="http://schemas.microsoft.com/office/powerpoint/2010/main" val="1579011935"/>
              </p:ext>
            </p:extLst>
          </p:nvPr>
        </p:nvGraphicFramePr>
        <p:xfrm>
          <a:off x="502920" y="2240280"/>
          <a:ext cx="6583680" cy="914400"/>
        </p:xfrm>
        <a:graphic>
          <a:graphicData uri="http://schemas.openxmlformats.org/drawingml/2006/table">
            <a:tbl>
              <a:tblPr/>
              <a:tblGrid>
                <a:gridCol w="1143000"/>
                <a:gridCol w="914400"/>
                <a:gridCol w="960120"/>
                <a:gridCol w="3566160"/>
              </a:tblGrid>
              <a:tr h="31089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Pre-money</a:t>
                      </a:r>
                      <a:endParaRPr lang="en-US" sz="105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1B2847"/>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Investor</a:t>
                      </a:r>
                      <a:endParaRPr lang="en-US" sz="105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1B2847"/>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Founders*</a:t>
                      </a:r>
                      <a:endParaRPr lang="en-US" sz="105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1B2847"/>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Basis</a:t>
                      </a:r>
                      <a:endParaRPr lang="en-US" sz="105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1B2847"/>
                    </a:solidFill>
                  </a:tcPr>
                </a:tc>
              </a:tr>
              <a:tr h="310896">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₹44.75 L</a:t>
                      </a:r>
                      <a:endParaRPr lang="en-US" sz="105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76.0%</a:t>
                      </a:r>
                      <a:endParaRPr lang="en-US" sz="105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Floor: cost-to-duplicate</a:t>
                      </a:r>
                      <a:endParaRPr lang="en-US" sz="105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r h="310896">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₹60.00 L</a:t>
                      </a:r>
                      <a:endParaRPr lang="en-US" sz="105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14.9%</a:t>
                      </a:r>
                      <a:endParaRPr lang="en-US" sz="105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80.1%</a:t>
                      </a:r>
                      <a:endParaRPr lang="en-US" sz="105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Conservative ≈ Berkus cross-check</a:t>
                      </a:r>
                      <a:endParaRPr lang="en-US" sz="105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r h="310896">
                <a:tc>
                  <a:txBody>
                    <a:bodyPr/>
                    <a:lstStyle/>
                    <a:p>
                      <a:pPr indent="0" marL="0">
                        <a:buNone/>
                      </a:pPr>
                      <a:r>
                        <a:rPr lang="en-US" sz="1050" b="1" dirty="0">
                          <a:solidFill>
                            <a:srgbClr val="06B6D4"/>
                          </a:solidFill>
                          <a:latin typeface="Calibri" pitchFamily="34" charset="0"/>
                          <a:ea typeface="Calibri" pitchFamily="34" charset="-122"/>
                          <a:cs typeface="Calibri" pitchFamily="34" charset="-120"/>
                        </a:rPr>
                        <a:t>₹75.00 L</a:t>
                      </a:r>
                      <a:endParaRPr lang="en-US" sz="105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B2A36"/>
                    </a:solidFill>
                  </a:tcPr>
                </a:tc>
                <a:tc>
                  <a:txBody>
                    <a:bodyPr/>
                    <a:lstStyle/>
                    <a:p>
                      <a:pPr indent="0" marL="0">
                        <a:buNone/>
                      </a:pPr>
                      <a:r>
                        <a:rPr lang="en-US" sz="1050" b="1" dirty="0">
                          <a:solidFill>
                            <a:srgbClr val="06B6D4"/>
                          </a:solidFill>
                          <a:latin typeface="Calibri" pitchFamily="34" charset="0"/>
                          <a:ea typeface="Calibri" pitchFamily="34" charset="-122"/>
                          <a:cs typeface="Calibri" pitchFamily="34" charset="-120"/>
                        </a:rPr>
                        <a:t>12.3%</a:t>
                      </a:r>
                      <a:endParaRPr lang="en-US" sz="105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B2A36"/>
                    </a:solidFill>
                  </a:tcPr>
                </a:tc>
                <a:tc>
                  <a:txBody>
                    <a:bodyPr/>
                    <a:lstStyle/>
                    <a:p>
                      <a:pPr indent="0" marL="0">
                        <a:buNone/>
                      </a:pPr>
                      <a:r>
                        <a:rPr lang="en-US" sz="1050" b="1" dirty="0">
                          <a:solidFill>
                            <a:srgbClr val="06B6D4"/>
                          </a:solidFill>
                          <a:latin typeface="Calibri" pitchFamily="34" charset="0"/>
                          <a:ea typeface="Calibri" pitchFamily="34" charset="-122"/>
                          <a:cs typeface="Calibri" pitchFamily="34" charset="-120"/>
                        </a:rPr>
                        <a:t>82.7%</a:t>
                      </a:r>
                      <a:endParaRPr lang="en-US" sz="105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B2A36"/>
                    </a:solidFill>
                  </a:tcPr>
                </a:tc>
                <a:tc>
                  <a:txBody>
                    <a:bodyPr/>
                    <a:lstStyle/>
                    <a:p>
                      <a:pPr indent="0" marL="0">
                        <a:buNone/>
                      </a:pPr>
                      <a:r>
                        <a:rPr lang="en-US" sz="1050" b="1" dirty="0">
                          <a:solidFill>
                            <a:srgbClr val="06B6D4"/>
                          </a:solidFill>
                          <a:latin typeface="Calibri" pitchFamily="34" charset="0"/>
                          <a:ea typeface="Calibri" pitchFamily="34" charset="-122"/>
                          <a:cs typeface="Calibri" pitchFamily="34" charset="-120"/>
                        </a:rPr>
                        <a:t>PROPOSED working target</a:t>
                      </a:r>
                      <a:endParaRPr lang="en-US" sz="105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B2A36"/>
                    </a:solidFill>
                  </a:tcPr>
                </a:tc>
              </a:tr>
              <a:tr h="310896">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₹100.00 L</a:t>
                      </a:r>
                      <a:endParaRPr lang="en-US" sz="105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9.5%</a:t>
                      </a:r>
                      <a:endParaRPr lang="en-US" sz="105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85.5%</a:t>
                      </a:r>
                      <a:endParaRPr lang="en-US" sz="105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Ambitious — only if substantiated</a:t>
                      </a:r>
                      <a:endParaRPr lang="en-US" sz="1050" dirty="0">
                        <a:latin typeface="Calibri" charset="0"/>
                        <a:ea typeface="Calibri" charset="0"/>
                        <a:cs typeface="Calibri" charset="0"/>
                      </a:endParaRPr>
                    </a:p>
                  </a:txBody>
                  <a:tcPr marL="45720" marR="45720" marT="45720" marB="45720" anchor="ctr">
                    <a:lnL w="6350" cap="flat" cmpd="sng" algn="ctr">
                      <a:solidFill>
                        <a:srgbClr val="2B3A5C"/>
                      </a:solidFill>
                      <a:prstDash val="solid"/>
                      <a:round/>
                      <a:headEnd type="none" w="med" len="med"/>
                      <a:tailEnd type="none" w="med" len="med"/>
                    </a:lnL>
                    <a:lnR w="6350" cap="flat" cmpd="sng" algn="ctr">
                      <a:solidFill>
                        <a:srgbClr val="2B3A5C"/>
                      </a:solidFill>
                      <a:prstDash val="solid"/>
                      <a:round/>
                      <a:headEnd type="none" w="med" len="med"/>
                      <a:tailEnd type="none" w="med" len="med"/>
                    </a:lnR>
                    <a:lnT w="6350" cap="flat" cmpd="sng" algn="ctr">
                      <a:solidFill>
                        <a:srgbClr val="2B3A5C"/>
                      </a:solidFill>
                      <a:prstDash val="solid"/>
                      <a:round/>
                      <a:headEnd type="none" w="med" len="med"/>
                      <a:tailEnd type="none" w="med" len="med"/>
                    </a:lnT>
                    <a:lnB w="6350" cap="flat" cmpd="sng" algn="ctr">
                      <a:solidFill>
                        <a:srgbClr val="2B3A5C"/>
                      </a:solidFill>
                      <a:prstDash val="solid"/>
                      <a:round/>
                      <a:headEnd type="none" w="med" len="med"/>
                      <a:tailEnd type="none" w="med" len="med"/>
                    </a:lnB>
                    <a:solidFill>
                      <a:srgbClr val="0F172A"/>
                    </a:solidFill>
                  </a:tcPr>
                </a:tc>
              </a:tr>
            </a:tbl>
          </a:graphicData>
        </a:graphic>
      </p:graphicFrame>
      <p:sp>
        <p:nvSpPr>
          <p:cNvPr id="31" name="Text 26"/>
          <p:cNvSpPr txBox="1"/>
          <p:nvPr/>
        </p:nvSpPr>
        <p:spPr>
          <a:xfrm>
            <a:off x="502920" y="3840480"/>
            <a:ext cx="6583680" cy="27432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 after 5% ESOP · equity fixed at ₹10.51 L · Berkus-style cross-check ₹60 L; ₹75 L is a negotiation target, not an established value</a:t>
            </a:r>
            <a:endParaRPr lang="en-US" sz="900" dirty="0"/>
          </a:p>
        </p:txBody>
      </p:sp>
      <p:sp>
        <p:nvSpPr>
          <p:cNvPr id="32" name="eq_l0"/>
          <p:cNvSpPr txBox="1"/>
          <p:nvPr/>
        </p:nvSpPr>
        <p:spPr>
          <a:xfrm>
            <a:off x="502920" y="4187952"/>
            <a:ext cx="137160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Pre-money P</a:t>
            </a:r>
            <a:endParaRPr lang="en-US" sz="1200" dirty="0"/>
          </a:p>
        </p:txBody>
      </p:sp>
      <p:sp>
        <p:nvSpPr>
          <p:cNvPr id="33" name="eq_v0"/>
          <p:cNvSpPr txBox="1"/>
          <p:nvPr/>
        </p:nvSpPr>
        <p:spPr>
          <a:xfrm>
            <a:off x="1874520" y="4187952"/>
            <a:ext cx="1737360" cy="320040"/>
          </a:xfrm>
          <a:prstGeom prst="rect">
            <a:avLst/>
          </a:prstGeom>
          <a:noFill/>
          <a:ln/>
        </p:spPr>
        <p:txBody>
          <a:bodyPr wrap="square" lIns="0" tIns="0" rIns="0" bIns="0" rtlCol="0" anchor="ctr"/>
          <a:lstStyle/>
          <a:p>
            <a:pPr indent="0" marL="0">
              <a:buNone/>
            </a:pPr>
            <a:r>
              <a:rPr lang="en-US" sz="1500" b="1" dirty="0">
                <a:solidFill>
                  <a:srgbClr val="06B6D4"/>
                </a:solidFill>
                <a:latin typeface="Calibri" pitchFamily="34" charset="0"/>
                <a:ea typeface="Calibri" pitchFamily="34" charset="-122"/>
                <a:cs typeface="Calibri" pitchFamily="34" charset="-120"/>
              </a:rPr>
              <a:t>₹75,00,000</a:t>
            </a:r>
            <a:endParaRPr lang="en-US" sz="1500" dirty="0"/>
          </a:p>
        </p:txBody>
      </p:sp>
      <p:sp>
        <p:nvSpPr>
          <p:cNvPr id="34" name="eq_d0"/>
          <p:cNvSpPr txBox="1"/>
          <p:nvPr/>
        </p:nvSpPr>
        <p:spPr>
          <a:xfrm>
            <a:off x="3657600" y="4187952"/>
            <a:ext cx="3429000" cy="32004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proposed working target</a:t>
            </a:r>
            <a:endParaRPr lang="en-US" sz="950" dirty="0"/>
          </a:p>
        </p:txBody>
      </p:sp>
      <p:sp>
        <p:nvSpPr>
          <p:cNvPr id="35" name="eq_l1"/>
          <p:cNvSpPr txBox="1"/>
          <p:nvPr/>
        </p:nvSpPr>
        <p:spPr>
          <a:xfrm>
            <a:off x="502920" y="4553712"/>
            <a:ext cx="137160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Equity I</a:t>
            </a:r>
            <a:endParaRPr lang="en-US" sz="1200" dirty="0"/>
          </a:p>
        </p:txBody>
      </p:sp>
      <p:sp>
        <p:nvSpPr>
          <p:cNvPr id="36" name="eq_v1"/>
          <p:cNvSpPr txBox="1"/>
          <p:nvPr/>
        </p:nvSpPr>
        <p:spPr>
          <a:xfrm>
            <a:off x="1874520" y="4553712"/>
            <a:ext cx="1737360" cy="320040"/>
          </a:xfrm>
          <a:prstGeom prst="rect">
            <a:avLst/>
          </a:prstGeom>
          <a:noFill/>
          <a:ln/>
        </p:spPr>
        <p:txBody>
          <a:bodyPr wrap="square" lIns="0" tIns="0" rIns="0" bIns="0" rtlCol="0" anchor="ctr"/>
          <a:lstStyle/>
          <a:p>
            <a:pPr indent="0" marL="0">
              <a:buNone/>
            </a:pPr>
            <a:r>
              <a:rPr lang="en-US" sz="1500" b="1" dirty="0">
                <a:solidFill>
                  <a:srgbClr val="06B6D4"/>
                </a:solidFill>
                <a:latin typeface="Calibri" pitchFamily="34" charset="0"/>
                <a:ea typeface="Calibri" pitchFamily="34" charset="-122"/>
                <a:cs typeface="Calibri" pitchFamily="34" charset="-120"/>
              </a:rPr>
              <a:t>₹10,51,171</a:t>
            </a:r>
            <a:endParaRPr lang="en-US" sz="1500" dirty="0"/>
          </a:p>
        </p:txBody>
      </p:sp>
      <p:sp>
        <p:nvSpPr>
          <p:cNvPr id="37" name="eq_d1"/>
          <p:cNvSpPr txBox="1"/>
          <p:nvPr/>
        </p:nvSpPr>
        <p:spPr>
          <a:xfrm>
            <a:off x="3657600" y="4553712"/>
            <a:ext cx="3429000" cy="32004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Milestone-1 requirement (gap × 1.2)</a:t>
            </a:r>
            <a:endParaRPr lang="en-US" sz="950" dirty="0"/>
          </a:p>
        </p:txBody>
      </p:sp>
      <p:sp>
        <p:nvSpPr>
          <p:cNvPr id="38" name="eq_l2"/>
          <p:cNvSpPr txBox="1"/>
          <p:nvPr/>
        </p:nvSpPr>
        <p:spPr>
          <a:xfrm>
            <a:off x="502920" y="4919472"/>
            <a:ext cx="137160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Post-money</a:t>
            </a:r>
            <a:endParaRPr lang="en-US" sz="1200" dirty="0"/>
          </a:p>
        </p:txBody>
      </p:sp>
      <p:sp>
        <p:nvSpPr>
          <p:cNvPr id="39" name="eq_v2"/>
          <p:cNvSpPr txBox="1"/>
          <p:nvPr/>
        </p:nvSpPr>
        <p:spPr>
          <a:xfrm>
            <a:off x="1874520" y="4919472"/>
            <a:ext cx="1737360" cy="320040"/>
          </a:xfrm>
          <a:prstGeom prst="rect">
            <a:avLst/>
          </a:prstGeom>
          <a:noFill/>
          <a:ln/>
        </p:spPr>
        <p:txBody>
          <a:bodyPr wrap="square" lIns="0" tIns="0" rIns="0" bIns="0" rtlCol="0" anchor="ctr"/>
          <a:lstStyle/>
          <a:p>
            <a:pPr indent="0" marL="0">
              <a:buNone/>
            </a:pPr>
            <a:r>
              <a:rPr lang="en-US" sz="1500" b="1" dirty="0">
                <a:solidFill>
                  <a:srgbClr val="06B6D4"/>
                </a:solidFill>
                <a:latin typeface="Calibri" pitchFamily="34" charset="0"/>
                <a:ea typeface="Calibri" pitchFamily="34" charset="-122"/>
                <a:cs typeface="Calibri" pitchFamily="34" charset="-120"/>
              </a:rPr>
              <a:t>₹85,51,171</a:t>
            </a:r>
            <a:endParaRPr lang="en-US" sz="1500" dirty="0"/>
          </a:p>
        </p:txBody>
      </p:sp>
      <p:sp>
        <p:nvSpPr>
          <p:cNvPr id="40" name="eq_d2"/>
          <p:cNvSpPr txBox="1"/>
          <p:nvPr/>
        </p:nvSpPr>
        <p:spPr>
          <a:xfrm>
            <a:off x="3657600" y="4919472"/>
            <a:ext cx="3429000" cy="32004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 P + I</a:t>
            </a:r>
            <a:endParaRPr lang="en-US" sz="950" dirty="0"/>
          </a:p>
        </p:txBody>
      </p:sp>
      <p:sp>
        <p:nvSpPr>
          <p:cNvPr id="41" name="eq_l3"/>
          <p:cNvSpPr txBox="1"/>
          <p:nvPr/>
        </p:nvSpPr>
        <p:spPr>
          <a:xfrm>
            <a:off x="502920" y="5285232"/>
            <a:ext cx="137160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Investor</a:t>
            </a:r>
            <a:endParaRPr lang="en-US" sz="1200" dirty="0"/>
          </a:p>
        </p:txBody>
      </p:sp>
      <p:sp>
        <p:nvSpPr>
          <p:cNvPr id="42" name="eq_v3"/>
          <p:cNvSpPr txBox="1"/>
          <p:nvPr/>
        </p:nvSpPr>
        <p:spPr>
          <a:xfrm>
            <a:off x="1874520" y="5285232"/>
            <a:ext cx="1737360" cy="320040"/>
          </a:xfrm>
          <a:prstGeom prst="rect">
            <a:avLst/>
          </a:prstGeom>
          <a:noFill/>
          <a:ln/>
        </p:spPr>
        <p:txBody>
          <a:bodyPr wrap="square" lIns="0" tIns="0" rIns="0" bIns="0" rtlCol="0" anchor="ctr"/>
          <a:lstStyle/>
          <a:p>
            <a:pPr indent="0" marL="0">
              <a:buNone/>
            </a:pPr>
            <a:r>
              <a:rPr lang="en-US" sz="1500" b="1" dirty="0">
                <a:solidFill>
                  <a:srgbClr val="06B6D4"/>
                </a:solidFill>
                <a:latin typeface="Calibri" pitchFamily="34" charset="0"/>
                <a:ea typeface="Calibri" pitchFamily="34" charset="-122"/>
                <a:cs typeface="Calibri" pitchFamily="34" charset="-120"/>
              </a:rPr>
              <a:t>12.29%</a:t>
            </a:r>
            <a:endParaRPr lang="en-US" sz="1500" dirty="0"/>
          </a:p>
        </p:txBody>
      </p:sp>
      <p:sp>
        <p:nvSpPr>
          <p:cNvPr id="43" name="eq_d3"/>
          <p:cNvSpPr txBox="1"/>
          <p:nvPr/>
        </p:nvSpPr>
        <p:spPr>
          <a:xfrm>
            <a:off x="3657600" y="5285232"/>
            <a:ext cx="3429000" cy="32004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 I ÷ (P + I)</a:t>
            </a:r>
            <a:endParaRPr lang="en-US" sz="950" dirty="0"/>
          </a:p>
        </p:txBody>
      </p:sp>
      <p:sp>
        <p:nvSpPr>
          <p:cNvPr id="44" name="eq_l4"/>
          <p:cNvSpPr txBox="1"/>
          <p:nvPr/>
        </p:nvSpPr>
        <p:spPr>
          <a:xfrm>
            <a:off x="502920" y="5650992"/>
            <a:ext cx="137160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Founders</a:t>
            </a:r>
            <a:endParaRPr lang="en-US" sz="1200" dirty="0"/>
          </a:p>
        </p:txBody>
      </p:sp>
      <p:sp>
        <p:nvSpPr>
          <p:cNvPr id="45" name="eq_v4"/>
          <p:cNvSpPr txBox="1"/>
          <p:nvPr/>
        </p:nvSpPr>
        <p:spPr>
          <a:xfrm>
            <a:off x="1874520" y="5650992"/>
            <a:ext cx="1737360" cy="320040"/>
          </a:xfrm>
          <a:prstGeom prst="rect">
            <a:avLst/>
          </a:prstGeom>
          <a:noFill/>
          <a:ln/>
        </p:spPr>
        <p:txBody>
          <a:bodyPr wrap="square" lIns="0" tIns="0" rIns="0" bIns="0" rtlCol="0" anchor="ctr"/>
          <a:lstStyle/>
          <a:p>
            <a:pPr indent="0" marL="0">
              <a:buNone/>
            </a:pPr>
            <a:r>
              <a:rPr lang="en-US" sz="1500" b="1" dirty="0">
                <a:solidFill>
                  <a:srgbClr val="34D399"/>
                </a:solidFill>
                <a:latin typeface="Calibri" pitchFamily="34" charset="0"/>
                <a:ea typeface="Calibri" pitchFamily="34" charset="-122"/>
                <a:cs typeface="Calibri" pitchFamily="34" charset="-120"/>
              </a:rPr>
              <a:t>82.71%</a:t>
            </a:r>
            <a:endParaRPr lang="en-US" sz="1500" dirty="0"/>
          </a:p>
        </p:txBody>
      </p:sp>
      <p:sp>
        <p:nvSpPr>
          <p:cNvPr id="46" name="eq_d4"/>
          <p:cNvSpPr txBox="1"/>
          <p:nvPr/>
        </p:nvSpPr>
        <p:spPr>
          <a:xfrm>
            <a:off x="3657600" y="5650992"/>
            <a:ext cx="3429000" cy="32004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 100% − investor − 5% ESOP</a:t>
            </a:r>
            <a:endParaRPr lang="en-US" sz="950" dirty="0"/>
          </a:p>
        </p:txBody>
      </p:sp>
      <p:sp>
        <p:nvSpPr>
          <p:cNvPr id="47" name="Text 42"/>
          <p:cNvSpPr txBox="1"/>
          <p:nvPr/>
        </p:nvSpPr>
        <p:spPr>
          <a:xfrm>
            <a:off x="7406640" y="1371600"/>
            <a:ext cx="2743200" cy="228600"/>
          </a:xfrm>
          <a:prstGeom prst="rect">
            <a:avLst/>
          </a:prstGeom>
          <a:noFill/>
          <a:ln/>
        </p:spPr>
        <p:txBody>
          <a:bodyPr wrap="square" lIns="0" tIns="0" rIns="0" bIns="0" rtlCol="0" anchor="t"/>
          <a:lstStyle/>
          <a:p>
            <a:pPr indent="0" marL="0">
              <a:buNone/>
            </a:pPr>
            <a:r>
              <a:rPr lang="en-US" sz="1000" b="1" spc="200" kern="0" dirty="0">
                <a:solidFill>
                  <a:srgbClr val="94A3B8"/>
                </a:solidFill>
                <a:latin typeface="Calibri" pitchFamily="34" charset="0"/>
                <a:ea typeface="Calibri" pitchFamily="34" charset="-122"/>
                <a:cs typeface="Calibri" pitchFamily="34" charset="-120"/>
              </a:rPr>
              <a:t>CAP TABLE</a:t>
            </a:r>
            <a:endParaRPr lang="en-US" sz="1000" dirty="0"/>
          </a:p>
        </p:txBody>
      </p:sp>
      <p:sp>
        <p:nvSpPr>
          <p:cNvPr id="48" name="Text 43"/>
          <p:cNvSpPr txBox="1"/>
          <p:nvPr/>
        </p:nvSpPr>
        <p:spPr>
          <a:xfrm>
            <a:off x="7406640" y="1691640"/>
            <a:ext cx="164592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Before</a:t>
            </a:r>
            <a:endParaRPr lang="en-US" sz="1200" dirty="0"/>
          </a:p>
        </p:txBody>
      </p:sp>
      <p:sp>
        <p:nvSpPr>
          <p:cNvPr id="49" name="cap_before"/>
          <p:cNvSpPr/>
          <p:nvPr/>
        </p:nvSpPr>
        <p:spPr>
          <a:xfrm>
            <a:off x="7406640" y="2011680"/>
            <a:ext cx="1645920" cy="3383280"/>
          </a:xfrm>
          <a:prstGeom prst="rect">
            <a:avLst/>
          </a:prstGeom>
          <a:solidFill>
            <a:srgbClr val="34D399">
              <a:alpha val="55000"/>
            </a:srgbClr>
          </a:solidFill>
          <a:ln w="12700">
            <a:solidFill>
              <a:srgbClr val="34D399"/>
            </a:solidFill>
            <a:prstDash val="solid"/>
          </a:ln>
        </p:spPr>
      </p:sp>
      <p:sp>
        <p:nvSpPr>
          <p:cNvPr id="50" name="Text 45"/>
          <p:cNvSpPr txBox="1"/>
          <p:nvPr/>
        </p:nvSpPr>
        <p:spPr>
          <a:xfrm>
            <a:off x="7406640" y="3383280"/>
            <a:ext cx="1645920" cy="64008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Founders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100%</a:t>
            </a:r>
            <a:endParaRPr lang="en-US" sz="1300" dirty="0"/>
          </a:p>
        </p:txBody>
      </p:sp>
      <p:sp>
        <p:nvSpPr>
          <p:cNvPr id="51" name="Shape 46"/>
          <p:cNvSpPr/>
          <p:nvPr/>
        </p:nvSpPr>
        <p:spPr>
          <a:xfrm>
            <a:off x="9189720" y="3566160"/>
            <a:ext cx="457200" cy="274320"/>
          </a:xfrm>
          <a:prstGeom prst="rightArrow">
            <a:avLst/>
          </a:prstGeom>
          <a:solidFill>
            <a:srgbClr val="2B3A5C"/>
          </a:solidFill>
          <a:ln w="12700">
            <a:solidFill>
              <a:srgbClr val="2B3A5C"/>
            </a:solidFill>
            <a:prstDash val="solid"/>
          </a:ln>
        </p:spPr>
      </p:sp>
      <p:sp>
        <p:nvSpPr>
          <p:cNvPr id="52" name="Text 47"/>
          <p:cNvSpPr txBox="1"/>
          <p:nvPr/>
        </p:nvSpPr>
        <p:spPr>
          <a:xfrm>
            <a:off x="9784080" y="1691640"/>
            <a:ext cx="192024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After (at ₹75 L)</a:t>
            </a:r>
            <a:endParaRPr lang="en-US" sz="1200" dirty="0"/>
          </a:p>
        </p:txBody>
      </p:sp>
      <p:sp>
        <p:nvSpPr>
          <p:cNvPr id="53" name="cap_after0"/>
          <p:cNvSpPr/>
          <p:nvPr/>
        </p:nvSpPr>
        <p:spPr>
          <a:xfrm>
            <a:off x="9784080" y="2011680"/>
            <a:ext cx="1920240" cy="2798311"/>
          </a:xfrm>
          <a:prstGeom prst="rect">
            <a:avLst/>
          </a:prstGeom>
          <a:solidFill>
            <a:srgbClr val="34D399">
              <a:alpha val="55000"/>
            </a:srgbClr>
          </a:solidFill>
          <a:ln w="12700">
            <a:solidFill>
              <a:srgbClr val="34D399"/>
            </a:solidFill>
            <a:prstDash val="solid"/>
          </a:ln>
        </p:spPr>
      </p:sp>
      <p:sp>
        <p:nvSpPr>
          <p:cNvPr id="54" name="cap_lbl0"/>
          <p:cNvSpPr txBox="1"/>
          <p:nvPr/>
        </p:nvSpPr>
        <p:spPr>
          <a:xfrm>
            <a:off x="9784080" y="3264531"/>
            <a:ext cx="1920240" cy="292608"/>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Founders  82.7%</a:t>
            </a:r>
            <a:endParaRPr lang="en-US" sz="1100" dirty="0"/>
          </a:p>
        </p:txBody>
      </p:sp>
      <p:sp>
        <p:nvSpPr>
          <p:cNvPr id="55" name="cap_after1"/>
          <p:cNvSpPr/>
          <p:nvPr/>
        </p:nvSpPr>
        <p:spPr>
          <a:xfrm>
            <a:off x="9784080" y="4809991"/>
            <a:ext cx="1920240" cy="169164"/>
          </a:xfrm>
          <a:prstGeom prst="rect">
            <a:avLst/>
          </a:prstGeom>
          <a:solidFill>
            <a:srgbClr val="3B82F6">
              <a:alpha val="55000"/>
            </a:srgbClr>
          </a:solidFill>
          <a:ln w="12700">
            <a:solidFill>
              <a:srgbClr val="3B82F6"/>
            </a:solidFill>
            <a:prstDash val="solid"/>
          </a:ln>
        </p:spPr>
      </p:sp>
      <p:sp>
        <p:nvSpPr>
          <p:cNvPr id="56" name="cap_lbl1"/>
          <p:cNvSpPr txBox="1"/>
          <p:nvPr/>
        </p:nvSpPr>
        <p:spPr>
          <a:xfrm>
            <a:off x="9784080" y="4748269"/>
            <a:ext cx="1920240" cy="292608"/>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ESOP  5.0%</a:t>
            </a:r>
            <a:endParaRPr lang="en-US" sz="1100" dirty="0"/>
          </a:p>
        </p:txBody>
      </p:sp>
      <p:sp>
        <p:nvSpPr>
          <p:cNvPr id="57" name="cap_after2"/>
          <p:cNvSpPr/>
          <p:nvPr/>
        </p:nvSpPr>
        <p:spPr>
          <a:xfrm>
            <a:off x="9784080" y="4979155"/>
            <a:ext cx="1920240" cy="415805"/>
          </a:xfrm>
          <a:prstGeom prst="rect">
            <a:avLst/>
          </a:prstGeom>
          <a:solidFill>
            <a:srgbClr val="06B6D4">
              <a:alpha val="55000"/>
            </a:srgbClr>
          </a:solidFill>
          <a:ln w="12700">
            <a:solidFill>
              <a:srgbClr val="06B6D4"/>
            </a:solidFill>
            <a:prstDash val="solid"/>
          </a:ln>
        </p:spPr>
      </p:sp>
      <p:sp>
        <p:nvSpPr>
          <p:cNvPr id="58" name="cap_lbl2"/>
          <p:cNvSpPr txBox="1"/>
          <p:nvPr/>
        </p:nvSpPr>
        <p:spPr>
          <a:xfrm>
            <a:off x="9784080" y="5040753"/>
            <a:ext cx="1920240" cy="292608"/>
          </a:xfrm>
          <a:prstGeom prst="rect">
            <a:avLst/>
          </a:prstGeom>
          <a:noFill/>
          <a:ln/>
        </p:spPr>
        <p:txBody>
          <a:bodyPr wrap="square" lIns="0" tIns="0" rIns="0" bIns="0" rtlCol="0" anchor="t"/>
          <a:lstStyle/>
          <a:p>
            <a:pPr algn="ctr" indent="0" marL="0">
              <a:buNone/>
            </a:pPr>
            <a:r>
              <a:rPr lang="en-US" sz="1100" b="1" dirty="0">
                <a:solidFill>
                  <a:srgbClr val="FFFFFF"/>
                </a:solidFill>
                <a:latin typeface="Calibri" pitchFamily="34" charset="0"/>
                <a:ea typeface="Calibri" pitchFamily="34" charset="-122"/>
                <a:cs typeface="Calibri" pitchFamily="34" charset="-120"/>
              </a:rPr>
              <a:t>Investor  12.3%</a:t>
            </a:r>
            <a:endParaRPr lang="en-US" sz="1100" dirty="0"/>
          </a:p>
        </p:txBody>
      </p:sp>
      <p:sp>
        <p:nvSpPr>
          <p:cNvPr id="59" name="!!fundbar"/>
          <p:cNvSpPr/>
          <p:nvPr/>
        </p:nvSpPr>
        <p:spPr>
          <a:xfrm>
            <a:off x="7406640" y="5577840"/>
            <a:ext cx="4297680" cy="457200"/>
          </a:xfrm>
          <a:prstGeom prst="roundRect">
            <a:avLst>
              <a:gd name="adj" fmla="val 12000"/>
            </a:avLst>
          </a:prstGeom>
          <a:solidFill>
            <a:srgbClr val="06B6D4"/>
          </a:solidFill>
          <a:ln w="12700">
            <a:solidFill>
              <a:srgbClr val="06B6D4"/>
            </a:solidFill>
            <a:prstDash val="solid"/>
          </a:ln>
        </p:spPr>
      </p:sp>
      <p:sp>
        <p:nvSpPr>
          <p:cNvPr id="60" name="!!fundbar_t"/>
          <p:cNvSpPr txBox="1"/>
          <p:nvPr/>
        </p:nvSpPr>
        <p:spPr>
          <a:xfrm>
            <a:off x="7498080" y="5605272"/>
            <a:ext cx="4114800" cy="402336"/>
          </a:xfrm>
          <a:prstGeom prst="rect">
            <a:avLst/>
          </a:prstGeom>
          <a:noFill/>
          <a:ln/>
        </p:spPr>
        <p:txBody>
          <a:bodyPr wrap="square" lIns="0" tIns="0" rIns="0" bIns="0" rtlCol="0" anchor="ctr"/>
          <a:lstStyle/>
          <a:p>
            <a:pPr indent="0" marL="0">
              <a:buNone/>
            </a:pPr>
            <a:r>
              <a:rPr lang="en-US" sz="1100" b="1" dirty="0">
                <a:solidFill>
                  <a:srgbClr val="0F172A"/>
                </a:solidFill>
                <a:latin typeface="Calibri" pitchFamily="34" charset="0"/>
                <a:ea typeface="Calibri" pitchFamily="34" charset="-122"/>
                <a:cs typeface="Calibri" pitchFamily="34" charset="-120"/>
              </a:rPr>
              <a:t>Milestone-1 round ₹10.5 L · SISFS ₹20 L applied, NOT secured</a:t>
            </a:r>
            <a:endParaRPr lang="en-US" sz="1100" dirty="0"/>
          </a:p>
        </p:txBody>
      </p:sp>
      <p:sp>
        <p:nvSpPr>
          <p:cNvPr id="61" name="sources"/>
          <p:cNvSpPr txBox="1"/>
          <p:nvPr/>
        </p:nvSpPr>
        <p:spPr>
          <a:xfrm>
            <a:off x="502920" y="6199632"/>
            <a:ext cx="8778240" cy="274320"/>
          </a:xfrm>
          <a:prstGeom prst="rect">
            <a:avLst/>
          </a:prstGeom>
          <a:noFill/>
          <a:ln/>
        </p:spPr>
        <p:txBody>
          <a:bodyPr wrap="square" lIns="0" tIns="0" rIns="0" bIns="0" rtlCol="0" anchor="t"/>
          <a:lstStyle/>
          <a:p>
            <a:pPr indent="0" marL="0">
              <a:buNone/>
            </a:pPr>
            <a:r>
              <a:rPr lang="en-US" sz="850" dirty="0">
                <a:solidFill>
                  <a:srgbClr val="94A3B8"/>
                </a:solidFill>
                <a:latin typeface="Calibri" pitchFamily="34" charset="0"/>
                <a:ea typeface="Calibri" pitchFamily="34" charset="-122"/>
                <a:cs typeface="Calibri" pitchFamily="34" charset="-120"/>
              </a:rPr>
              <a:t>Scenarios A–D in the model: grant + full raise 35%; no grant 45%; staged tranche 2 priced on evidence. Floor = cost-to-duplicate (34 PM × ₹1.25 L + ₹2.25 L).</a:t>
            </a:r>
            <a:endParaRPr lang="en-US" sz="8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5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50"/>
                                        <p:tgtEl>
                                          <p:spTgt spid="22"/>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450"/>
                                        <p:tgtEl>
                                          <p:spTgt spid="23"/>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450"/>
                                        <p:tgtEl>
                                          <p:spTgt spid="24"/>
                                        </p:tgtEl>
                                      </p:cBhvr>
                                    </p:animEffect>
                                  </p:childTnLst>
                                </p:cTn>
                              </p:par>
                              <p:par>
                                <p:cTn id="17" presetID="10"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50"/>
                                        <p:tgtEl>
                                          <p:spTgt spid="25"/>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450"/>
                                        <p:tgtEl>
                                          <p:spTgt spid="26"/>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450"/>
                                        <p:tgtEl>
                                          <p:spTgt spid="27"/>
                                        </p:tgtEl>
                                      </p:cBhvr>
                                    </p:animEffect>
                                  </p:childTnLst>
                                </p:cTn>
                              </p:par>
                              <p:par>
                                <p:cTn id="26" presetID="10" presetClass="entr" presetSubtype="0" fill="hold"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450"/>
                                        <p:tgtEl>
                                          <p:spTgt spid="28"/>
                                        </p:tgtEl>
                                      </p:cBhvr>
                                    </p:animEffect>
                                  </p:childTnLst>
                                </p:cTn>
                              </p:par>
                              <p:par>
                                <p:cTn id="29" presetID="10" presetClass="entr" presetSubtype="0"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450"/>
                                        <p:tgtEl>
                                          <p:spTgt spid="2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50"/>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31"/>
                                        </p:tgtEl>
                                        <p:attrNameLst>
                                          <p:attrName>style.visibility</p:attrName>
                                        </p:attrNameLst>
                                      </p:cBhvr>
                                      <p:to>
                                        <p:strVal val="visible"/>
                                      </p:to>
                                    </p:set>
                                    <p:animEffect transition="in" filter="fade">
                                      <p:cBhvr>
                                        <p:cTn id="39" dur="450"/>
                                        <p:tgtEl>
                                          <p:spTgt spid="3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wipe(left)">
                                      <p:cBhvr>
                                        <p:cTn id="44" dur="450"/>
                                        <p:tgtEl>
                                          <p:spTgt spid="32"/>
                                        </p:tgtEl>
                                      </p:cBhvr>
                                    </p:animEffect>
                                  </p:childTnLst>
                                </p:cTn>
                              </p:par>
                              <p:par>
                                <p:cTn id="45" presetID="22" presetClass="entr" presetSubtype="8" fill="hold" nodeType="with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wipe(left)">
                                      <p:cBhvr>
                                        <p:cTn id="47" dur="450"/>
                                        <p:tgtEl>
                                          <p:spTgt spid="33"/>
                                        </p:tgtEl>
                                      </p:cBhvr>
                                    </p:animEffect>
                                  </p:childTnLst>
                                </p:cTn>
                              </p:par>
                              <p:par>
                                <p:cTn id="48" presetID="22" presetClass="entr" presetSubtype="8" fill="hold" nodeType="with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wipe(left)">
                                      <p:cBhvr>
                                        <p:cTn id="50" dur="450"/>
                                        <p:tgtEl>
                                          <p:spTgt spid="3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wipe(left)">
                                      <p:cBhvr>
                                        <p:cTn id="55" dur="450"/>
                                        <p:tgtEl>
                                          <p:spTgt spid="35"/>
                                        </p:tgtEl>
                                      </p:cBhvr>
                                    </p:animEffect>
                                  </p:childTnLst>
                                </p:cTn>
                              </p:par>
                              <p:par>
                                <p:cTn id="56" presetID="22" presetClass="entr" presetSubtype="8" fill="hold" nodeType="with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wipe(left)">
                                      <p:cBhvr>
                                        <p:cTn id="58" dur="450"/>
                                        <p:tgtEl>
                                          <p:spTgt spid="36"/>
                                        </p:tgtEl>
                                      </p:cBhvr>
                                    </p:animEffect>
                                  </p:childTnLst>
                                </p:cTn>
                              </p:par>
                              <p:par>
                                <p:cTn id="59" presetID="22" presetClass="entr" presetSubtype="8" fill="hold" nodeType="with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wipe(left)">
                                      <p:cBhvr>
                                        <p:cTn id="61" dur="450"/>
                                        <p:tgtEl>
                                          <p:spTgt spid="37"/>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wipe(left)">
                                      <p:cBhvr>
                                        <p:cTn id="66" dur="450"/>
                                        <p:tgtEl>
                                          <p:spTgt spid="38"/>
                                        </p:tgtEl>
                                      </p:cBhvr>
                                    </p:animEffect>
                                  </p:childTnLst>
                                </p:cTn>
                              </p:par>
                              <p:par>
                                <p:cTn id="67" presetID="22" presetClass="entr" presetSubtype="8" fill="hold"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wipe(left)">
                                      <p:cBhvr>
                                        <p:cTn id="69" dur="450"/>
                                        <p:tgtEl>
                                          <p:spTgt spid="39"/>
                                        </p:tgtEl>
                                      </p:cBhvr>
                                    </p:animEffect>
                                  </p:childTnLst>
                                </p:cTn>
                              </p:par>
                              <p:par>
                                <p:cTn id="70" presetID="22" presetClass="entr" presetSubtype="8" fill="hold"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wipe(left)">
                                      <p:cBhvr>
                                        <p:cTn id="72" dur="450"/>
                                        <p:tgtEl>
                                          <p:spTgt spid="40"/>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41"/>
                                        </p:tgtEl>
                                        <p:attrNameLst>
                                          <p:attrName>style.visibility</p:attrName>
                                        </p:attrNameLst>
                                      </p:cBhvr>
                                      <p:to>
                                        <p:strVal val="visible"/>
                                      </p:to>
                                    </p:set>
                                    <p:animEffect transition="in" filter="wipe(left)">
                                      <p:cBhvr>
                                        <p:cTn id="77" dur="450"/>
                                        <p:tgtEl>
                                          <p:spTgt spid="41"/>
                                        </p:tgtEl>
                                      </p:cBhvr>
                                    </p:animEffect>
                                  </p:childTnLst>
                                </p:cTn>
                              </p:par>
                              <p:par>
                                <p:cTn id="78" presetID="22" presetClass="entr" presetSubtype="8" fill="hold" nodeType="withEffect">
                                  <p:stCondLst>
                                    <p:cond delay="0"/>
                                  </p:stCondLst>
                                  <p:childTnLst>
                                    <p:set>
                                      <p:cBhvr>
                                        <p:cTn id="79" dur="1" fill="hold">
                                          <p:stCondLst>
                                            <p:cond delay="0"/>
                                          </p:stCondLst>
                                        </p:cTn>
                                        <p:tgtEl>
                                          <p:spTgt spid="42"/>
                                        </p:tgtEl>
                                        <p:attrNameLst>
                                          <p:attrName>style.visibility</p:attrName>
                                        </p:attrNameLst>
                                      </p:cBhvr>
                                      <p:to>
                                        <p:strVal val="visible"/>
                                      </p:to>
                                    </p:set>
                                    <p:animEffect transition="in" filter="wipe(left)">
                                      <p:cBhvr>
                                        <p:cTn id="80" dur="450"/>
                                        <p:tgtEl>
                                          <p:spTgt spid="42"/>
                                        </p:tgtEl>
                                      </p:cBhvr>
                                    </p:animEffect>
                                  </p:childTnLst>
                                </p:cTn>
                              </p:par>
                              <p:par>
                                <p:cTn id="81" presetID="22" presetClass="entr" presetSubtype="8" fill="hold" nodeType="withEffect">
                                  <p:stCondLst>
                                    <p:cond delay="0"/>
                                  </p:stCondLst>
                                  <p:childTnLst>
                                    <p:set>
                                      <p:cBhvr>
                                        <p:cTn id="82" dur="1" fill="hold">
                                          <p:stCondLst>
                                            <p:cond delay="0"/>
                                          </p:stCondLst>
                                        </p:cTn>
                                        <p:tgtEl>
                                          <p:spTgt spid="43"/>
                                        </p:tgtEl>
                                        <p:attrNameLst>
                                          <p:attrName>style.visibility</p:attrName>
                                        </p:attrNameLst>
                                      </p:cBhvr>
                                      <p:to>
                                        <p:strVal val="visible"/>
                                      </p:to>
                                    </p:set>
                                    <p:animEffect transition="in" filter="wipe(left)">
                                      <p:cBhvr>
                                        <p:cTn id="83" dur="450"/>
                                        <p:tgtEl>
                                          <p:spTgt spid="43"/>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44"/>
                                        </p:tgtEl>
                                        <p:attrNameLst>
                                          <p:attrName>style.visibility</p:attrName>
                                        </p:attrNameLst>
                                      </p:cBhvr>
                                      <p:to>
                                        <p:strVal val="visible"/>
                                      </p:to>
                                    </p:set>
                                    <p:animEffect transition="in" filter="wipe(left)">
                                      <p:cBhvr>
                                        <p:cTn id="88" dur="450"/>
                                        <p:tgtEl>
                                          <p:spTgt spid="44"/>
                                        </p:tgtEl>
                                      </p:cBhvr>
                                    </p:animEffect>
                                  </p:childTnLst>
                                </p:cTn>
                              </p:par>
                              <p:par>
                                <p:cTn id="89" presetID="22" presetClass="entr" presetSubtype="8" fill="hold" nodeType="with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wipe(left)">
                                      <p:cBhvr>
                                        <p:cTn id="91" dur="450"/>
                                        <p:tgtEl>
                                          <p:spTgt spid="45"/>
                                        </p:tgtEl>
                                      </p:cBhvr>
                                    </p:animEffect>
                                  </p:childTnLst>
                                </p:cTn>
                              </p:par>
                              <p:par>
                                <p:cTn id="92" presetID="22" presetClass="entr" presetSubtype="8" fill="hold" nodeType="withEffect">
                                  <p:stCondLst>
                                    <p:cond delay="0"/>
                                  </p:stCondLst>
                                  <p:childTnLst>
                                    <p:set>
                                      <p:cBhvr>
                                        <p:cTn id="93" dur="1" fill="hold">
                                          <p:stCondLst>
                                            <p:cond delay="0"/>
                                          </p:stCondLst>
                                        </p:cTn>
                                        <p:tgtEl>
                                          <p:spTgt spid="46"/>
                                        </p:tgtEl>
                                        <p:attrNameLst>
                                          <p:attrName>style.visibility</p:attrName>
                                        </p:attrNameLst>
                                      </p:cBhvr>
                                      <p:to>
                                        <p:strVal val="visible"/>
                                      </p:to>
                                    </p:set>
                                    <p:animEffect transition="in" filter="wipe(left)">
                                      <p:cBhvr>
                                        <p:cTn id="94" dur="450"/>
                                        <p:tgtEl>
                                          <p:spTgt spid="46"/>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47"/>
                                        </p:tgtEl>
                                        <p:attrNameLst>
                                          <p:attrName>style.visibility</p:attrName>
                                        </p:attrNameLst>
                                      </p:cBhvr>
                                      <p:to>
                                        <p:strVal val="visible"/>
                                      </p:to>
                                    </p:set>
                                    <p:animEffect transition="in" filter="fade">
                                      <p:cBhvr>
                                        <p:cTn id="99" dur="450"/>
                                        <p:tgtEl>
                                          <p:spTgt spid="47"/>
                                        </p:tgtEl>
                                      </p:cBhvr>
                                    </p:animEffect>
                                  </p:childTnLst>
                                </p:cTn>
                              </p:par>
                              <p:par>
                                <p:cTn id="100" presetID="10" presetClass="entr" presetSubtype="0" fill="hold" nodeType="withEffect">
                                  <p:stCondLst>
                                    <p:cond delay="0"/>
                                  </p:stCondLst>
                                  <p:childTnLst>
                                    <p:set>
                                      <p:cBhvr>
                                        <p:cTn id="101" dur="1" fill="hold">
                                          <p:stCondLst>
                                            <p:cond delay="0"/>
                                          </p:stCondLst>
                                        </p:cTn>
                                        <p:tgtEl>
                                          <p:spTgt spid="48"/>
                                        </p:tgtEl>
                                        <p:attrNameLst>
                                          <p:attrName>style.visibility</p:attrName>
                                        </p:attrNameLst>
                                      </p:cBhvr>
                                      <p:to>
                                        <p:strVal val="visible"/>
                                      </p:to>
                                    </p:set>
                                    <p:animEffect transition="in" filter="fade">
                                      <p:cBhvr>
                                        <p:cTn id="102" dur="450"/>
                                        <p:tgtEl>
                                          <p:spTgt spid="48"/>
                                        </p:tgtEl>
                                      </p:cBhvr>
                                    </p:animEffect>
                                  </p:childTnLst>
                                </p:cTn>
                              </p:par>
                              <p:par>
                                <p:cTn id="103" presetID="10" presetClass="entr" presetSubtype="0" fill="hold" nodeType="withEffect">
                                  <p:stCondLst>
                                    <p:cond delay="0"/>
                                  </p:stCondLst>
                                  <p:childTnLst>
                                    <p:set>
                                      <p:cBhvr>
                                        <p:cTn id="104" dur="1" fill="hold">
                                          <p:stCondLst>
                                            <p:cond delay="0"/>
                                          </p:stCondLst>
                                        </p:cTn>
                                        <p:tgtEl>
                                          <p:spTgt spid="49"/>
                                        </p:tgtEl>
                                        <p:attrNameLst>
                                          <p:attrName>style.visibility</p:attrName>
                                        </p:attrNameLst>
                                      </p:cBhvr>
                                      <p:to>
                                        <p:strVal val="visible"/>
                                      </p:to>
                                    </p:set>
                                    <p:animEffect transition="in" filter="fade">
                                      <p:cBhvr>
                                        <p:cTn id="105" dur="450"/>
                                        <p:tgtEl>
                                          <p:spTgt spid="49"/>
                                        </p:tgtEl>
                                      </p:cBhvr>
                                    </p:animEffect>
                                  </p:childTnLst>
                                </p:cTn>
                              </p:par>
                              <p:par>
                                <p:cTn id="106" presetID="10" presetClass="entr" presetSubtype="0" fill="hold" nodeType="withEffect">
                                  <p:stCondLst>
                                    <p:cond delay="0"/>
                                  </p:stCondLst>
                                  <p:childTnLst>
                                    <p:set>
                                      <p:cBhvr>
                                        <p:cTn id="107" dur="1" fill="hold">
                                          <p:stCondLst>
                                            <p:cond delay="0"/>
                                          </p:stCondLst>
                                        </p:cTn>
                                        <p:tgtEl>
                                          <p:spTgt spid="50"/>
                                        </p:tgtEl>
                                        <p:attrNameLst>
                                          <p:attrName>style.visibility</p:attrName>
                                        </p:attrNameLst>
                                      </p:cBhvr>
                                      <p:to>
                                        <p:strVal val="visible"/>
                                      </p:to>
                                    </p:set>
                                    <p:animEffect transition="in" filter="fade">
                                      <p:cBhvr>
                                        <p:cTn id="108" dur="450"/>
                                        <p:tgtEl>
                                          <p:spTgt spid="50"/>
                                        </p:tgtEl>
                                      </p:cBhvr>
                                    </p:animEffect>
                                  </p:childTnLst>
                                </p:cTn>
                              </p:par>
                              <p:par>
                                <p:cTn id="109" presetID="10" presetClass="entr" presetSubtype="0" fill="hold" nodeType="withEffect">
                                  <p:stCondLst>
                                    <p:cond delay="0"/>
                                  </p:stCondLst>
                                  <p:childTnLst>
                                    <p:set>
                                      <p:cBhvr>
                                        <p:cTn id="110" dur="1" fill="hold">
                                          <p:stCondLst>
                                            <p:cond delay="0"/>
                                          </p:stCondLst>
                                        </p:cTn>
                                        <p:tgtEl>
                                          <p:spTgt spid="51"/>
                                        </p:tgtEl>
                                        <p:attrNameLst>
                                          <p:attrName>style.visibility</p:attrName>
                                        </p:attrNameLst>
                                      </p:cBhvr>
                                      <p:to>
                                        <p:strVal val="visible"/>
                                      </p:to>
                                    </p:set>
                                    <p:animEffect transition="in" filter="fade">
                                      <p:cBhvr>
                                        <p:cTn id="111" dur="450"/>
                                        <p:tgtEl>
                                          <p:spTgt spid="51"/>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52"/>
                                        </p:tgtEl>
                                        <p:attrNameLst>
                                          <p:attrName>style.visibility</p:attrName>
                                        </p:attrNameLst>
                                      </p:cBhvr>
                                      <p:to>
                                        <p:strVal val="visible"/>
                                      </p:to>
                                    </p:set>
                                    <p:animEffect transition="in" filter="fade">
                                      <p:cBhvr>
                                        <p:cTn id="116" dur="450"/>
                                        <p:tgtEl>
                                          <p:spTgt spid="52"/>
                                        </p:tgtEl>
                                      </p:cBhvr>
                                    </p:animEffect>
                                  </p:childTnLst>
                                </p:cTn>
                              </p:par>
                              <p:par>
                                <p:cTn id="117" presetID="10" presetClass="entr" presetSubtype="0" fill="hold" nodeType="withEffect">
                                  <p:stCondLst>
                                    <p:cond delay="0"/>
                                  </p:stCondLst>
                                  <p:childTnLst>
                                    <p:set>
                                      <p:cBhvr>
                                        <p:cTn id="118" dur="1" fill="hold">
                                          <p:stCondLst>
                                            <p:cond delay="0"/>
                                          </p:stCondLst>
                                        </p:cTn>
                                        <p:tgtEl>
                                          <p:spTgt spid="53"/>
                                        </p:tgtEl>
                                        <p:attrNameLst>
                                          <p:attrName>style.visibility</p:attrName>
                                        </p:attrNameLst>
                                      </p:cBhvr>
                                      <p:to>
                                        <p:strVal val="visible"/>
                                      </p:to>
                                    </p:set>
                                    <p:animEffect transition="in" filter="fade">
                                      <p:cBhvr>
                                        <p:cTn id="119" dur="450"/>
                                        <p:tgtEl>
                                          <p:spTgt spid="53"/>
                                        </p:tgtEl>
                                      </p:cBhvr>
                                    </p:animEffect>
                                  </p:childTnLst>
                                </p:cTn>
                              </p:par>
                              <p:par>
                                <p:cTn id="120" presetID="10" presetClass="entr" presetSubtype="0" fill="hold" nodeType="withEffect">
                                  <p:stCondLst>
                                    <p:cond delay="0"/>
                                  </p:stCondLst>
                                  <p:childTnLst>
                                    <p:set>
                                      <p:cBhvr>
                                        <p:cTn id="121" dur="1" fill="hold">
                                          <p:stCondLst>
                                            <p:cond delay="0"/>
                                          </p:stCondLst>
                                        </p:cTn>
                                        <p:tgtEl>
                                          <p:spTgt spid="54"/>
                                        </p:tgtEl>
                                        <p:attrNameLst>
                                          <p:attrName>style.visibility</p:attrName>
                                        </p:attrNameLst>
                                      </p:cBhvr>
                                      <p:to>
                                        <p:strVal val="visible"/>
                                      </p:to>
                                    </p:set>
                                    <p:animEffect transition="in" filter="fade">
                                      <p:cBhvr>
                                        <p:cTn id="122" dur="450"/>
                                        <p:tgtEl>
                                          <p:spTgt spid="54"/>
                                        </p:tgtEl>
                                      </p:cBhvr>
                                    </p:animEffect>
                                  </p:childTnLst>
                                </p:cTn>
                              </p:par>
                              <p:par>
                                <p:cTn id="123" presetID="10" presetClass="entr" presetSubtype="0" fill="hold" nodeType="withEffect">
                                  <p:stCondLst>
                                    <p:cond delay="0"/>
                                  </p:stCondLst>
                                  <p:childTnLst>
                                    <p:set>
                                      <p:cBhvr>
                                        <p:cTn id="124" dur="1" fill="hold">
                                          <p:stCondLst>
                                            <p:cond delay="0"/>
                                          </p:stCondLst>
                                        </p:cTn>
                                        <p:tgtEl>
                                          <p:spTgt spid="55"/>
                                        </p:tgtEl>
                                        <p:attrNameLst>
                                          <p:attrName>style.visibility</p:attrName>
                                        </p:attrNameLst>
                                      </p:cBhvr>
                                      <p:to>
                                        <p:strVal val="visible"/>
                                      </p:to>
                                    </p:set>
                                    <p:animEffect transition="in" filter="fade">
                                      <p:cBhvr>
                                        <p:cTn id="125" dur="450"/>
                                        <p:tgtEl>
                                          <p:spTgt spid="55"/>
                                        </p:tgtEl>
                                      </p:cBhvr>
                                    </p:animEffect>
                                  </p:childTnLst>
                                </p:cTn>
                              </p:par>
                              <p:par>
                                <p:cTn id="126" presetID="10" presetClass="entr" presetSubtype="0" fill="hold" nodeType="withEffect">
                                  <p:stCondLst>
                                    <p:cond delay="0"/>
                                  </p:stCondLst>
                                  <p:childTnLst>
                                    <p:set>
                                      <p:cBhvr>
                                        <p:cTn id="127" dur="1" fill="hold">
                                          <p:stCondLst>
                                            <p:cond delay="0"/>
                                          </p:stCondLst>
                                        </p:cTn>
                                        <p:tgtEl>
                                          <p:spTgt spid="56"/>
                                        </p:tgtEl>
                                        <p:attrNameLst>
                                          <p:attrName>style.visibility</p:attrName>
                                        </p:attrNameLst>
                                      </p:cBhvr>
                                      <p:to>
                                        <p:strVal val="visible"/>
                                      </p:to>
                                    </p:set>
                                    <p:animEffect transition="in" filter="fade">
                                      <p:cBhvr>
                                        <p:cTn id="128" dur="450"/>
                                        <p:tgtEl>
                                          <p:spTgt spid="56"/>
                                        </p:tgtEl>
                                      </p:cBhvr>
                                    </p:animEffect>
                                  </p:childTnLst>
                                </p:cTn>
                              </p:par>
                              <p:par>
                                <p:cTn id="129" presetID="10" presetClass="entr" presetSubtype="0" fill="hold" nodeType="withEffect">
                                  <p:stCondLst>
                                    <p:cond delay="0"/>
                                  </p:stCondLst>
                                  <p:childTnLst>
                                    <p:set>
                                      <p:cBhvr>
                                        <p:cTn id="130" dur="1" fill="hold">
                                          <p:stCondLst>
                                            <p:cond delay="0"/>
                                          </p:stCondLst>
                                        </p:cTn>
                                        <p:tgtEl>
                                          <p:spTgt spid="57"/>
                                        </p:tgtEl>
                                        <p:attrNameLst>
                                          <p:attrName>style.visibility</p:attrName>
                                        </p:attrNameLst>
                                      </p:cBhvr>
                                      <p:to>
                                        <p:strVal val="visible"/>
                                      </p:to>
                                    </p:set>
                                    <p:animEffect transition="in" filter="fade">
                                      <p:cBhvr>
                                        <p:cTn id="131" dur="450"/>
                                        <p:tgtEl>
                                          <p:spTgt spid="57"/>
                                        </p:tgtEl>
                                      </p:cBhvr>
                                    </p:animEffect>
                                  </p:childTnLst>
                                </p:cTn>
                              </p:par>
                              <p:par>
                                <p:cTn id="132" presetID="10" presetClass="entr" presetSubtype="0" fill="hold" nodeType="withEffect">
                                  <p:stCondLst>
                                    <p:cond delay="0"/>
                                  </p:stCondLst>
                                  <p:childTnLst>
                                    <p:set>
                                      <p:cBhvr>
                                        <p:cTn id="133" dur="1" fill="hold">
                                          <p:stCondLst>
                                            <p:cond delay="0"/>
                                          </p:stCondLst>
                                        </p:cTn>
                                        <p:tgtEl>
                                          <p:spTgt spid="58"/>
                                        </p:tgtEl>
                                        <p:attrNameLst>
                                          <p:attrName>style.visibility</p:attrName>
                                        </p:attrNameLst>
                                      </p:cBhvr>
                                      <p:to>
                                        <p:strVal val="visible"/>
                                      </p:to>
                                    </p:set>
                                    <p:animEffect transition="in" filter="fade">
                                      <p:cBhvr>
                                        <p:cTn id="134" dur="45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5" grpId="0" animBg="1"/>
      <p:bldP spid="26" grpId="0" animBg="1"/>
      <p:bldP spid="27" grpId="0" animBg="1"/>
      <p:bldP spid="28" grpId="0" animBg="1"/>
      <p:bldP spid="29"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kicker"/>
          <p:cNvSpPr txBox="1"/>
          <p:nvPr/>
        </p:nvSpPr>
        <p:spPr>
          <a:xfrm>
            <a:off x="502920" y="274320"/>
            <a:ext cx="7315200" cy="256032"/>
          </a:xfrm>
          <a:prstGeom prst="rect">
            <a:avLst/>
          </a:prstGeom>
          <a:noFill/>
          <a:ln/>
        </p:spPr>
        <p:txBody>
          <a:bodyPr wrap="square" lIns="0" tIns="0" rIns="0" bIns="0" rtlCol="0" anchor="t"/>
          <a:lstStyle/>
          <a:p>
            <a:pPr indent="0" marL="0">
              <a:buNone/>
            </a:pPr>
            <a:r>
              <a:rPr lang="en-US" sz="1100" b="1" spc="300" kern="0" dirty="0">
                <a:solidFill>
                  <a:srgbClr val="06B6D4"/>
                </a:solidFill>
                <a:latin typeface="Calibri" pitchFamily="34" charset="0"/>
                <a:ea typeface="Calibri" pitchFamily="34" charset="-122"/>
                <a:cs typeface="Calibri" pitchFamily="34" charset="-120"/>
              </a:rPr>
              <a:t>13 · USE OF FUNDS, MILESTONES &amp; RISKS</a:t>
            </a:r>
            <a:endParaRPr lang="en-US" sz="1100" dirty="0"/>
          </a:p>
        </p:txBody>
      </p:sp>
      <p:sp>
        <p:nvSpPr>
          <p:cNvPr id="3" name="!!title"/>
          <p:cNvSpPr txBox="1"/>
          <p:nvPr/>
        </p:nvSpPr>
        <p:spPr>
          <a:xfrm>
            <a:off x="502920" y="530352"/>
            <a:ext cx="10241280" cy="64008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Six months to a clear yes or no; month 26 to profit</a:t>
            </a:r>
            <a:endParaRPr lang="en-US" sz="2800" dirty="0"/>
          </a:p>
        </p:txBody>
      </p:sp>
      <p:pic>
        <p:nvPicPr>
          <p:cNvPr id="4" name="!!mark" descr="../public/brand/averra-mark-white.png">    </p:cNvPr>
          <p:cNvPicPr>
            <a:picLocks noChangeAspect="1"/>
          </p:cNvPicPr>
          <p:nvPr/>
        </p:nvPicPr>
        <p:blipFill>
          <a:blip r:embed="rId1"/>
          <a:stretch>
            <a:fillRect/>
          </a:stretch>
        </p:blipFill>
        <p:spPr>
          <a:xfrm>
            <a:off x="11201400" y="292608"/>
            <a:ext cx="502920" cy="502920"/>
          </a:xfrm>
          <a:prstGeom prst="rect">
            <a:avLst/>
          </a:prstGeom>
        </p:spPr>
      </p:pic>
      <p:sp>
        <p:nvSpPr>
          <p:cNvPr id="5" name="!!dot1"/>
          <p:cNvSpPr/>
          <p:nvPr/>
        </p:nvSpPr>
        <p:spPr>
          <a:xfrm>
            <a:off x="9692640" y="6510528"/>
            <a:ext cx="54864" cy="54864"/>
          </a:xfrm>
          <a:prstGeom prst="ellipse">
            <a:avLst/>
          </a:prstGeom>
          <a:solidFill>
            <a:srgbClr val="2B3A5C"/>
          </a:solidFill>
          <a:ln w="12700">
            <a:solidFill>
              <a:srgbClr val="2B3A5C"/>
            </a:solidFill>
            <a:prstDash val="solid"/>
          </a:ln>
        </p:spPr>
      </p:sp>
      <p:sp>
        <p:nvSpPr>
          <p:cNvPr id="6" name="!!dot2"/>
          <p:cNvSpPr/>
          <p:nvPr/>
        </p:nvSpPr>
        <p:spPr>
          <a:xfrm>
            <a:off x="9838944" y="6510528"/>
            <a:ext cx="54864" cy="54864"/>
          </a:xfrm>
          <a:prstGeom prst="ellipse">
            <a:avLst/>
          </a:prstGeom>
          <a:solidFill>
            <a:srgbClr val="2B3A5C"/>
          </a:solidFill>
          <a:ln w="12700">
            <a:solidFill>
              <a:srgbClr val="2B3A5C"/>
            </a:solidFill>
            <a:prstDash val="solid"/>
          </a:ln>
        </p:spPr>
      </p:sp>
      <p:sp>
        <p:nvSpPr>
          <p:cNvPr id="7" name="!!dot3"/>
          <p:cNvSpPr/>
          <p:nvPr/>
        </p:nvSpPr>
        <p:spPr>
          <a:xfrm>
            <a:off x="9985248" y="6510528"/>
            <a:ext cx="54864" cy="54864"/>
          </a:xfrm>
          <a:prstGeom prst="ellipse">
            <a:avLst/>
          </a:prstGeom>
          <a:solidFill>
            <a:srgbClr val="2B3A5C"/>
          </a:solidFill>
          <a:ln w="12700">
            <a:solidFill>
              <a:srgbClr val="2B3A5C"/>
            </a:solidFill>
            <a:prstDash val="solid"/>
          </a:ln>
        </p:spPr>
      </p:sp>
      <p:sp>
        <p:nvSpPr>
          <p:cNvPr id="8" name="!!dot4"/>
          <p:cNvSpPr/>
          <p:nvPr/>
        </p:nvSpPr>
        <p:spPr>
          <a:xfrm>
            <a:off x="10131552" y="6510528"/>
            <a:ext cx="54864" cy="54864"/>
          </a:xfrm>
          <a:prstGeom prst="ellipse">
            <a:avLst/>
          </a:prstGeom>
          <a:solidFill>
            <a:srgbClr val="2B3A5C"/>
          </a:solidFill>
          <a:ln w="12700">
            <a:solidFill>
              <a:srgbClr val="2B3A5C"/>
            </a:solidFill>
            <a:prstDash val="solid"/>
          </a:ln>
        </p:spPr>
      </p:sp>
      <p:sp>
        <p:nvSpPr>
          <p:cNvPr id="9" name="!!dot5"/>
          <p:cNvSpPr/>
          <p:nvPr/>
        </p:nvSpPr>
        <p:spPr>
          <a:xfrm>
            <a:off x="10277856" y="6510528"/>
            <a:ext cx="54864" cy="54864"/>
          </a:xfrm>
          <a:prstGeom prst="ellipse">
            <a:avLst/>
          </a:prstGeom>
          <a:solidFill>
            <a:srgbClr val="2B3A5C"/>
          </a:solidFill>
          <a:ln w="12700">
            <a:solidFill>
              <a:srgbClr val="2B3A5C"/>
            </a:solidFill>
            <a:prstDash val="solid"/>
          </a:ln>
        </p:spPr>
      </p:sp>
      <p:sp>
        <p:nvSpPr>
          <p:cNvPr id="10" name="!!dot6"/>
          <p:cNvSpPr/>
          <p:nvPr/>
        </p:nvSpPr>
        <p:spPr>
          <a:xfrm>
            <a:off x="10424160" y="6510528"/>
            <a:ext cx="54864" cy="54864"/>
          </a:xfrm>
          <a:prstGeom prst="ellipse">
            <a:avLst/>
          </a:prstGeom>
          <a:solidFill>
            <a:srgbClr val="2B3A5C"/>
          </a:solidFill>
          <a:ln w="12700">
            <a:solidFill>
              <a:srgbClr val="2B3A5C"/>
            </a:solidFill>
            <a:prstDash val="solid"/>
          </a:ln>
        </p:spPr>
      </p:sp>
      <p:sp>
        <p:nvSpPr>
          <p:cNvPr id="11" name="!!dot7"/>
          <p:cNvSpPr/>
          <p:nvPr/>
        </p:nvSpPr>
        <p:spPr>
          <a:xfrm>
            <a:off x="10570464" y="6510528"/>
            <a:ext cx="54864" cy="54864"/>
          </a:xfrm>
          <a:prstGeom prst="ellipse">
            <a:avLst/>
          </a:prstGeom>
          <a:solidFill>
            <a:srgbClr val="2B3A5C"/>
          </a:solidFill>
          <a:ln w="12700">
            <a:solidFill>
              <a:srgbClr val="2B3A5C"/>
            </a:solidFill>
            <a:prstDash val="solid"/>
          </a:ln>
        </p:spPr>
      </p:sp>
      <p:sp>
        <p:nvSpPr>
          <p:cNvPr id="12" name="!!dot8"/>
          <p:cNvSpPr/>
          <p:nvPr/>
        </p:nvSpPr>
        <p:spPr>
          <a:xfrm>
            <a:off x="10716768" y="6510528"/>
            <a:ext cx="54864" cy="54864"/>
          </a:xfrm>
          <a:prstGeom prst="ellipse">
            <a:avLst/>
          </a:prstGeom>
          <a:solidFill>
            <a:srgbClr val="2B3A5C"/>
          </a:solidFill>
          <a:ln w="12700">
            <a:solidFill>
              <a:srgbClr val="2B3A5C"/>
            </a:solidFill>
            <a:prstDash val="solid"/>
          </a:ln>
        </p:spPr>
      </p:sp>
      <p:sp>
        <p:nvSpPr>
          <p:cNvPr id="13" name="!!dot9"/>
          <p:cNvSpPr/>
          <p:nvPr/>
        </p:nvSpPr>
        <p:spPr>
          <a:xfrm>
            <a:off x="10863072" y="6510528"/>
            <a:ext cx="54864" cy="54864"/>
          </a:xfrm>
          <a:prstGeom prst="ellipse">
            <a:avLst/>
          </a:prstGeom>
          <a:solidFill>
            <a:srgbClr val="2B3A5C"/>
          </a:solidFill>
          <a:ln w="12700">
            <a:solidFill>
              <a:srgbClr val="2B3A5C"/>
            </a:solidFill>
            <a:prstDash val="solid"/>
          </a:ln>
        </p:spPr>
      </p:sp>
      <p:sp>
        <p:nvSpPr>
          <p:cNvPr id="14" name="!!dot10"/>
          <p:cNvSpPr/>
          <p:nvPr/>
        </p:nvSpPr>
        <p:spPr>
          <a:xfrm>
            <a:off x="11009376" y="6510528"/>
            <a:ext cx="54864" cy="54864"/>
          </a:xfrm>
          <a:prstGeom prst="ellipse">
            <a:avLst/>
          </a:prstGeom>
          <a:solidFill>
            <a:srgbClr val="2B3A5C"/>
          </a:solidFill>
          <a:ln w="12700">
            <a:solidFill>
              <a:srgbClr val="2B3A5C"/>
            </a:solidFill>
            <a:prstDash val="solid"/>
          </a:ln>
        </p:spPr>
      </p:sp>
      <p:sp>
        <p:nvSpPr>
          <p:cNvPr id="15" name="!!dot11"/>
          <p:cNvSpPr/>
          <p:nvPr/>
        </p:nvSpPr>
        <p:spPr>
          <a:xfrm>
            <a:off x="11155680" y="6510528"/>
            <a:ext cx="54864" cy="54864"/>
          </a:xfrm>
          <a:prstGeom prst="ellipse">
            <a:avLst/>
          </a:prstGeom>
          <a:solidFill>
            <a:srgbClr val="2B3A5C"/>
          </a:solidFill>
          <a:ln w="12700">
            <a:solidFill>
              <a:srgbClr val="2B3A5C"/>
            </a:solidFill>
            <a:prstDash val="solid"/>
          </a:ln>
        </p:spPr>
      </p:sp>
      <p:sp>
        <p:nvSpPr>
          <p:cNvPr id="16" name="!!dot12"/>
          <p:cNvSpPr/>
          <p:nvPr/>
        </p:nvSpPr>
        <p:spPr>
          <a:xfrm>
            <a:off x="11301984" y="6510528"/>
            <a:ext cx="54864" cy="54864"/>
          </a:xfrm>
          <a:prstGeom prst="ellipse">
            <a:avLst/>
          </a:prstGeom>
          <a:solidFill>
            <a:srgbClr val="2B3A5C"/>
          </a:solidFill>
          <a:ln w="12700">
            <a:solidFill>
              <a:srgbClr val="2B3A5C"/>
            </a:solidFill>
            <a:prstDash val="solid"/>
          </a:ln>
        </p:spPr>
      </p:sp>
      <p:sp>
        <p:nvSpPr>
          <p:cNvPr id="17" name="!!dot13"/>
          <p:cNvSpPr/>
          <p:nvPr/>
        </p:nvSpPr>
        <p:spPr>
          <a:xfrm>
            <a:off x="11448288" y="6510528"/>
            <a:ext cx="54864" cy="54864"/>
          </a:xfrm>
          <a:prstGeom prst="ellipse">
            <a:avLst/>
          </a:prstGeom>
          <a:solidFill>
            <a:srgbClr val="2B3A5C"/>
          </a:solidFill>
          <a:ln w="12700">
            <a:solidFill>
              <a:srgbClr val="2B3A5C"/>
            </a:solidFill>
            <a:prstDash val="solid"/>
          </a:ln>
        </p:spPr>
      </p:sp>
      <p:sp>
        <p:nvSpPr>
          <p:cNvPr id="18" name="!!dot14"/>
          <p:cNvSpPr/>
          <p:nvPr/>
        </p:nvSpPr>
        <p:spPr>
          <a:xfrm>
            <a:off x="11594592" y="6510528"/>
            <a:ext cx="100584" cy="100584"/>
          </a:xfrm>
          <a:prstGeom prst="ellipse">
            <a:avLst/>
          </a:prstGeom>
          <a:solidFill>
            <a:srgbClr val="06B6D4"/>
          </a:solidFill>
          <a:ln w="12700">
            <a:solidFill>
              <a:srgbClr val="06B6D4"/>
            </a:solidFill>
            <a:prstDash val="solid"/>
          </a:ln>
        </p:spPr>
      </p:sp>
      <p:sp>
        <p:nvSpPr>
          <p:cNvPr id="19" name="!!brand"/>
          <p:cNvSpPr txBox="1"/>
          <p:nvPr/>
        </p:nvSpPr>
        <p:spPr>
          <a:xfrm>
            <a:off x="502920" y="6446520"/>
            <a:ext cx="1828800" cy="201168"/>
          </a:xfrm>
          <a:prstGeom prst="rect">
            <a:avLst/>
          </a:prstGeom>
          <a:noFill/>
          <a:ln/>
        </p:spPr>
        <p:txBody>
          <a:bodyPr wrap="square" lIns="0" tIns="0" rIns="0" bIns="0" rtlCol="0" anchor="t"/>
          <a:lstStyle/>
          <a:p>
            <a:pPr indent="0" marL="0">
              <a:buNone/>
            </a:pPr>
            <a:r>
              <a:rPr lang="en-US" sz="900" b="1" spc="500" kern="0" dirty="0">
                <a:solidFill>
                  <a:srgbClr val="94A3B8"/>
                </a:solidFill>
                <a:latin typeface="Calibri" pitchFamily="34" charset="0"/>
                <a:ea typeface="Calibri" pitchFamily="34" charset="-122"/>
                <a:cs typeface="Calibri" pitchFamily="34" charset="-120"/>
              </a:rPr>
              <a:t>AVERRA</a:t>
            </a:r>
            <a:endParaRPr lang="en-US" sz="900" dirty="0"/>
          </a:p>
        </p:txBody>
      </p:sp>
      <p:sp>
        <p:nvSpPr>
          <p:cNvPr id="21" name="!!fundbar_t"/>
          <p:cNvSpPr txBox="1"/>
          <p:nvPr/>
        </p:nvSpPr>
        <p:spPr>
          <a:xfrm>
            <a:off x="502920" y="1325880"/>
            <a:ext cx="1115568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Phase 1 (M1–M6) costs ₹8.8 L → funded by the ₹10.5 L round (incl. buffer)</a:t>
            </a:r>
            <a:endParaRPr lang="en-US" sz="1200" dirty="0"/>
          </a:p>
        </p:txBody>
      </p:sp>
      <p:sp>
        <p:nvSpPr>
          <p:cNvPr id="22" name="!!fundbar"/>
          <p:cNvSpPr/>
          <p:nvPr/>
        </p:nvSpPr>
        <p:spPr>
          <a:xfrm>
            <a:off x="502920" y="1691640"/>
            <a:ext cx="11201400" cy="457200"/>
          </a:xfrm>
          <a:prstGeom prst="roundRect">
            <a:avLst>
              <a:gd name="adj" fmla="val 12000"/>
            </a:avLst>
          </a:prstGeom>
          <a:solidFill>
            <a:srgbClr val="0F172A"/>
          </a:solidFill>
          <a:ln w="9525">
            <a:solidFill>
              <a:srgbClr val="2B3A5C"/>
            </a:solidFill>
            <a:prstDash val="solid"/>
          </a:ln>
        </p:spPr>
      </p:sp>
      <p:sp>
        <p:nvSpPr>
          <p:cNvPr id="23" name="alloc0"/>
          <p:cNvSpPr/>
          <p:nvPr/>
        </p:nvSpPr>
        <p:spPr>
          <a:xfrm>
            <a:off x="502920" y="1691640"/>
            <a:ext cx="3452585" cy="457200"/>
          </a:xfrm>
          <a:prstGeom prst="rect">
            <a:avLst/>
          </a:prstGeom>
          <a:solidFill>
            <a:srgbClr val="3B82F6"/>
          </a:solidFill>
          <a:ln w="12700">
            <a:solidFill>
              <a:srgbClr val="0F172A"/>
            </a:solidFill>
            <a:prstDash val="solid"/>
          </a:ln>
        </p:spPr>
      </p:sp>
      <p:sp>
        <p:nvSpPr>
          <p:cNvPr id="24" name="alloc_l0"/>
          <p:cNvSpPr txBox="1"/>
          <p:nvPr/>
        </p:nvSpPr>
        <p:spPr>
          <a:xfrm>
            <a:off x="548640" y="2212848"/>
            <a:ext cx="2103120" cy="457200"/>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Team</a:t>
            </a:r>
            <a:endParaRPr lang="en-US" sz="950" dirty="0"/>
          </a:p>
          <a:p>
            <a:pPr indent="0" marL="0">
              <a:buNone/>
            </a:pPr>
            <a:r>
              <a:rPr lang="en-US" sz="950" dirty="0">
                <a:solidFill>
                  <a:srgbClr val="CBD5E1"/>
                </a:solidFill>
                <a:latin typeface="Calibri" pitchFamily="34" charset="0"/>
                <a:ea typeface="Calibri" pitchFamily="34" charset="-122"/>
                <a:cs typeface="Calibri" pitchFamily="34" charset="-120"/>
              </a:rPr>
              <a:t>₹2.7 L · 31%</a:t>
            </a:r>
            <a:endParaRPr lang="en-US" sz="950" dirty="0"/>
          </a:p>
        </p:txBody>
      </p:sp>
      <p:sp>
        <p:nvSpPr>
          <p:cNvPr id="25" name="alloc1"/>
          <p:cNvSpPr/>
          <p:nvPr/>
        </p:nvSpPr>
        <p:spPr>
          <a:xfrm>
            <a:off x="3955505" y="1691640"/>
            <a:ext cx="2024762" cy="457200"/>
          </a:xfrm>
          <a:prstGeom prst="rect">
            <a:avLst/>
          </a:prstGeom>
          <a:solidFill>
            <a:srgbClr val="06B6D4"/>
          </a:solidFill>
          <a:ln w="12700">
            <a:solidFill>
              <a:srgbClr val="0F172A"/>
            </a:solidFill>
            <a:prstDash val="solid"/>
          </a:ln>
        </p:spPr>
      </p:sp>
      <p:sp>
        <p:nvSpPr>
          <p:cNvPr id="26" name="alloc_l1"/>
          <p:cNvSpPr txBox="1"/>
          <p:nvPr/>
        </p:nvSpPr>
        <p:spPr>
          <a:xfrm>
            <a:off x="4001225" y="2697480"/>
            <a:ext cx="2103120" cy="457200"/>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Validation (both products)</a:t>
            </a:r>
            <a:endParaRPr lang="en-US" sz="950" dirty="0"/>
          </a:p>
          <a:p>
            <a:pPr indent="0" marL="0">
              <a:buNone/>
            </a:pPr>
            <a:r>
              <a:rPr lang="en-US" sz="950" dirty="0">
                <a:solidFill>
                  <a:srgbClr val="CBD5E1"/>
                </a:solidFill>
                <a:latin typeface="Calibri" pitchFamily="34" charset="0"/>
                <a:ea typeface="Calibri" pitchFamily="34" charset="-122"/>
                <a:cs typeface="Calibri" pitchFamily="34" charset="-120"/>
              </a:rPr>
              <a:t>₹1.6 L · 18%</a:t>
            </a:r>
            <a:endParaRPr lang="en-US" sz="950" dirty="0"/>
          </a:p>
        </p:txBody>
      </p:sp>
      <p:sp>
        <p:nvSpPr>
          <p:cNvPr id="27" name="alloc2"/>
          <p:cNvSpPr/>
          <p:nvPr/>
        </p:nvSpPr>
        <p:spPr>
          <a:xfrm>
            <a:off x="5980267" y="1691640"/>
            <a:ext cx="383621" cy="457200"/>
          </a:xfrm>
          <a:prstGeom prst="rect">
            <a:avLst/>
          </a:prstGeom>
          <a:solidFill>
            <a:srgbClr val="8B5CF6"/>
          </a:solidFill>
          <a:ln w="12700">
            <a:solidFill>
              <a:srgbClr val="0F172A"/>
            </a:solidFill>
            <a:prstDash val="solid"/>
          </a:ln>
        </p:spPr>
      </p:sp>
      <p:sp>
        <p:nvSpPr>
          <p:cNvPr id="28" name="alloc_l2"/>
          <p:cNvSpPr txBox="1"/>
          <p:nvPr/>
        </p:nvSpPr>
        <p:spPr>
          <a:xfrm>
            <a:off x="6025987" y="2212848"/>
            <a:ext cx="2103120" cy="457200"/>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Regulatory &amp; quality</a:t>
            </a:r>
            <a:endParaRPr lang="en-US" sz="950" dirty="0"/>
          </a:p>
          <a:p>
            <a:pPr indent="0" marL="0">
              <a:buNone/>
            </a:pPr>
            <a:r>
              <a:rPr lang="en-US" sz="950" dirty="0">
                <a:solidFill>
                  <a:srgbClr val="CBD5E1"/>
                </a:solidFill>
                <a:latin typeface="Calibri" pitchFamily="34" charset="0"/>
                <a:ea typeface="Calibri" pitchFamily="34" charset="-122"/>
                <a:cs typeface="Calibri" pitchFamily="34" charset="-120"/>
              </a:rPr>
              <a:t>₹0.3 L · 3%</a:t>
            </a:r>
            <a:endParaRPr lang="en-US" sz="950" dirty="0"/>
          </a:p>
        </p:txBody>
      </p:sp>
      <p:sp>
        <p:nvSpPr>
          <p:cNvPr id="29" name="alloc3"/>
          <p:cNvSpPr/>
          <p:nvPr/>
        </p:nvSpPr>
        <p:spPr>
          <a:xfrm>
            <a:off x="6363887" y="1691640"/>
            <a:ext cx="3235200" cy="457200"/>
          </a:xfrm>
          <a:prstGeom prst="rect">
            <a:avLst/>
          </a:prstGeom>
          <a:solidFill>
            <a:srgbClr val="60A5FA"/>
          </a:solidFill>
          <a:ln w="12700">
            <a:solidFill>
              <a:srgbClr val="0F172A"/>
            </a:solidFill>
            <a:prstDash val="solid"/>
          </a:ln>
        </p:spPr>
      </p:sp>
      <p:sp>
        <p:nvSpPr>
          <p:cNvPr id="30" name="alloc_l3"/>
          <p:cNvSpPr txBox="1"/>
          <p:nvPr/>
        </p:nvSpPr>
        <p:spPr>
          <a:xfrm>
            <a:off x="6409607" y="2697480"/>
            <a:ext cx="2103120" cy="457200"/>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Prototyping, tools, IP</a:t>
            </a:r>
            <a:endParaRPr lang="en-US" sz="950" dirty="0"/>
          </a:p>
          <a:p>
            <a:pPr indent="0" marL="0">
              <a:buNone/>
            </a:pPr>
            <a:r>
              <a:rPr lang="en-US" sz="950" dirty="0">
                <a:solidFill>
                  <a:srgbClr val="CBD5E1"/>
                </a:solidFill>
                <a:latin typeface="Calibri" pitchFamily="34" charset="0"/>
                <a:ea typeface="Calibri" pitchFamily="34" charset="-122"/>
                <a:cs typeface="Calibri" pitchFamily="34" charset="-120"/>
              </a:rPr>
              <a:t>₹2.5 L · 29%</a:t>
            </a:r>
            <a:endParaRPr lang="en-US" sz="950" dirty="0"/>
          </a:p>
        </p:txBody>
      </p:sp>
      <p:sp>
        <p:nvSpPr>
          <p:cNvPr id="31" name="alloc4"/>
          <p:cNvSpPr/>
          <p:nvPr/>
        </p:nvSpPr>
        <p:spPr>
          <a:xfrm>
            <a:off x="9599087" y="1691640"/>
            <a:ext cx="1086925" cy="457200"/>
          </a:xfrm>
          <a:prstGeom prst="rect">
            <a:avLst/>
          </a:prstGeom>
          <a:solidFill>
            <a:srgbClr val="64748B"/>
          </a:solidFill>
          <a:ln w="12700">
            <a:solidFill>
              <a:srgbClr val="0F172A"/>
            </a:solidFill>
            <a:prstDash val="solid"/>
          </a:ln>
        </p:spPr>
      </p:sp>
      <p:sp>
        <p:nvSpPr>
          <p:cNvPr id="32" name="alloc_l4"/>
          <p:cNvSpPr txBox="1"/>
          <p:nvPr/>
        </p:nvSpPr>
        <p:spPr>
          <a:xfrm>
            <a:off x="9644807" y="2212848"/>
            <a:ext cx="2103120" cy="457200"/>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Go-to-market &amp; admin</a:t>
            </a:r>
            <a:endParaRPr lang="en-US" sz="950" dirty="0"/>
          </a:p>
          <a:p>
            <a:pPr indent="0" marL="0">
              <a:buNone/>
            </a:pPr>
            <a:r>
              <a:rPr lang="en-US" sz="950" dirty="0">
                <a:solidFill>
                  <a:srgbClr val="CBD5E1"/>
                </a:solidFill>
                <a:latin typeface="Calibri" pitchFamily="34" charset="0"/>
                <a:ea typeface="Calibri" pitchFamily="34" charset="-122"/>
                <a:cs typeface="Calibri" pitchFamily="34" charset="-120"/>
              </a:rPr>
              <a:t>₹0.8 L · 10%</a:t>
            </a:r>
            <a:endParaRPr lang="en-US" sz="950" dirty="0"/>
          </a:p>
        </p:txBody>
      </p:sp>
      <p:sp>
        <p:nvSpPr>
          <p:cNvPr id="33" name="alloc5"/>
          <p:cNvSpPr/>
          <p:nvPr/>
        </p:nvSpPr>
        <p:spPr>
          <a:xfrm>
            <a:off x="10686012" y="1691640"/>
            <a:ext cx="1018308" cy="457200"/>
          </a:xfrm>
          <a:prstGeom prst="rect">
            <a:avLst/>
          </a:prstGeom>
          <a:solidFill>
            <a:srgbClr val="94A3B8"/>
          </a:solidFill>
          <a:ln w="12700">
            <a:solidFill>
              <a:srgbClr val="0F172A"/>
            </a:solidFill>
            <a:prstDash val="solid"/>
          </a:ln>
        </p:spPr>
      </p:sp>
      <p:sp>
        <p:nvSpPr>
          <p:cNvPr id="34" name="alloc_l5"/>
          <p:cNvSpPr txBox="1"/>
          <p:nvPr/>
        </p:nvSpPr>
        <p:spPr>
          <a:xfrm>
            <a:off x="10731732" y="2697480"/>
            <a:ext cx="2103120" cy="457200"/>
          </a:xfrm>
          <a:prstGeom prst="rect">
            <a:avLst/>
          </a:prstGeom>
          <a:noFill/>
          <a:ln/>
        </p:spPr>
        <p:txBody>
          <a:bodyPr wrap="square" lIns="0" tIns="0" rIns="0" bIns="0" rtlCol="0" anchor="t"/>
          <a:lstStyle/>
          <a:p>
            <a:pPr indent="0" marL="0">
              <a:buNone/>
            </a:pPr>
            <a:r>
              <a:rPr lang="en-US" sz="950" b="1" dirty="0">
                <a:solidFill>
                  <a:srgbClr val="FFFFFF"/>
                </a:solidFill>
                <a:latin typeface="Calibri" pitchFamily="34" charset="0"/>
                <a:ea typeface="Calibri" pitchFamily="34" charset="-122"/>
                <a:cs typeface="Calibri" pitchFamily="34" charset="-120"/>
              </a:rPr>
              <a:t>Contingency</a:t>
            </a:r>
            <a:endParaRPr lang="en-US" sz="950" dirty="0"/>
          </a:p>
          <a:p>
            <a:pPr indent="0" marL="0">
              <a:buNone/>
            </a:pPr>
            <a:r>
              <a:rPr lang="en-US" sz="950" dirty="0">
                <a:solidFill>
                  <a:srgbClr val="CBD5E1"/>
                </a:solidFill>
                <a:latin typeface="Calibri" pitchFamily="34" charset="0"/>
                <a:ea typeface="Calibri" pitchFamily="34" charset="-122"/>
                <a:cs typeface="Calibri" pitchFamily="34" charset="-120"/>
              </a:rPr>
              <a:t>₹0.8 L · 9%</a:t>
            </a:r>
            <a:endParaRPr lang="en-US" sz="950" dirty="0"/>
          </a:p>
        </p:txBody>
      </p:sp>
      <p:sp>
        <p:nvSpPr>
          <p:cNvPr id="35" name="ms_line"/>
          <p:cNvSpPr/>
          <p:nvPr/>
        </p:nvSpPr>
        <p:spPr>
          <a:xfrm>
            <a:off x="640080" y="3794760"/>
            <a:ext cx="10972800" cy="0"/>
          </a:xfrm>
          <a:prstGeom prst="line">
            <a:avLst/>
          </a:prstGeom>
          <a:noFill/>
          <a:ln w="25400">
            <a:solidFill>
              <a:srgbClr val="2B3A5C"/>
            </a:solidFill>
            <a:prstDash val="solid"/>
          </a:ln>
        </p:spPr>
      </p:sp>
      <p:sp>
        <p:nvSpPr>
          <p:cNvPr id="36" name="ms_dot0"/>
          <p:cNvSpPr/>
          <p:nvPr/>
        </p:nvSpPr>
        <p:spPr>
          <a:xfrm>
            <a:off x="902347" y="3685032"/>
            <a:ext cx="219456" cy="219456"/>
          </a:xfrm>
          <a:prstGeom prst="ellipse">
            <a:avLst/>
          </a:prstGeom>
          <a:solidFill>
            <a:srgbClr val="06B6D4"/>
          </a:solidFill>
          <a:ln w="25400">
            <a:solidFill>
              <a:srgbClr val="0F172A"/>
            </a:solidFill>
            <a:prstDash val="solid"/>
          </a:ln>
        </p:spPr>
      </p:sp>
      <p:sp>
        <p:nvSpPr>
          <p:cNvPr id="37" name="Text 33"/>
          <p:cNvSpPr txBox="1"/>
          <p:nvPr/>
        </p:nvSpPr>
        <p:spPr>
          <a:xfrm>
            <a:off x="502920" y="3310128"/>
            <a:ext cx="1018309" cy="32004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M2</a:t>
            </a:r>
            <a:endParaRPr lang="en-US" sz="1300" dirty="0"/>
          </a:p>
        </p:txBody>
      </p:sp>
      <p:sp>
        <p:nvSpPr>
          <p:cNvPr id="38" name="ms_t0"/>
          <p:cNvSpPr txBox="1"/>
          <p:nvPr/>
        </p:nvSpPr>
        <p:spPr>
          <a:xfrm>
            <a:off x="530352" y="3959352"/>
            <a:ext cx="963445" cy="685800"/>
          </a:xfrm>
          <a:prstGeom prst="rect">
            <a:avLst/>
          </a:prstGeom>
          <a:noFill/>
          <a:ln/>
        </p:spPr>
        <p:txBody>
          <a:bodyPr wrap="square" lIns="0" tIns="0" rIns="0" bIns="0" rtlCol="0" anchor="t"/>
          <a:lstStyle/>
          <a:p>
            <a:pPr indent="0" marL="0">
              <a:buNone/>
            </a:pPr>
            <a:r>
              <a:rPr lang="en-US" sz="700" b="1" dirty="0">
                <a:solidFill>
                  <a:srgbClr val="06B6D4"/>
                </a:solidFill>
                <a:latin typeface="Calibri" pitchFamily="34" charset="0"/>
                <a:ea typeface="Calibri" pitchFamily="34" charset="-122"/>
                <a:cs typeface="Calibri" pitchFamily="34" charset="-120"/>
              </a:rPr>
              <a:t>IP</a:t>
            </a:r>
            <a:endParaRPr lang="en-US" sz="1400" dirty="0"/>
          </a:p>
          <a:p>
            <a:pPr indent="0" marL="0">
              <a:buNone/>
            </a:pPr>
            <a:r>
              <a:rPr lang="en-US" sz="900" dirty="0">
                <a:solidFill>
                  <a:srgbClr val="FFFFFF"/>
                </a:solidFill>
                <a:latin typeface="Calibri" pitchFamily="34" charset="0"/>
                <a:ea typeface="Calibri" pitchFamily="34" charset="-122"/>
                <a:cs typeface="Calibri" pitchFamily="34" charset="-120"/>
              </a:rPr>
              <a:t>Provisional patent filed</a:t>
            </a:r>
            <a:endParaRPr lang="en-US" sz="1400" dirty="0"/>
          </a:p>
        </p:txBody>
      </p:sp>
      <p:sp>
        <p:nvSpPr>
          <p:cNvPr id="39" name="ms_dot1"/>
          <p:cNvSpPr/>
          <p:nvPr/>
        </p:nvSpPr>
        <p:spPr>
          <a:xfrm>
            <a:off x="1920656" y="3685032"/>
            <a:ext cx="219456" cy="219456"/>
          </a:xfrm>
          <a:prstGeom prst="ellipse">
            <a:avLst/>
          </a:prstGeom>
          <a:solidFill>
            <a:srgbClr val="06B6D4"/>
          </a:solidFill>
          <a:ln w="25400">
            <a:solidFill>
              <a:srgbClr val="0F172A"/>
            </a:solidFill>
            <a:prstDash val="solid"/>
          </a:ln>
        </p:spPr>
      </p:sp>
      <p:sp>
        <p:nvSpPr>
          <p:cNvPr id="40" name="Text 36"/>
          <p:cNvSpPr txBox="1"/>
          <p:nvPr/>
        </p:nvSpPr>
        <p:spPr>
          <a:xfrm>
            <a:off x="1521229" y="3310128"/>
            <a:ext cx="1018309" cy="32004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M3</a:t>
            </a:r>
            <a:endParaRPr lang="en-US" sz="1300" dirty="0"/>
          </a:p>
        </p:txBody>
      </p:sp>
      <p:sp>
        <p:nvSpPr>
          <p:cNvPr id="41" name="ms_t1"/>
          <p:cNvSpPr txBox="1"/>
          <p:nvPr/>
        </p:nvSpPr>
        <p:spPr>
          <a:xfrm>
            <a:off x="1548661" y="3959352"/>
            <a:ext cx="963445" cy="685800"/>
          </a:xfrm>
          <a:prstGeom prst="rect">
            <a:avLst/>
          </a:prstGeom>
          <a:noFill/>
          <a:ln/>
        </p:spPr>
        <p:txBody>
          <a:bodyPr wrap="square" lIns="0" tIns="0" rIns="0" bIns="0" rtlCol="0" anchor="t"/>
          <a:lstStyle/>
          <a:p>
            <a:pPr indent="0" marL="0">
              <a:buNone/>
            </a:pPr>
            <a:r>
              <a:rPr lang="en-US" sz="700" b="1" dirty="0">
                <a:solidFill>
                  <a:srgbClr val="06B6D4"/>
                </a:solidFill>
                <a:latin typeface="Calibri" pitchFamily="34" charset="0"/>
                <a:ea typeface="Calibri" pitchFamily="34" charset="-122"/>
                <a:cs typeface="Calibri" pitchFamily="34" charset="-120"/>
              </a:rPr>
              <a:t>TREMOSENSE</a:t>
            </a:r>
            <a:endParaRPr lang="en-US" sz="1400" dirty="0"/>
          </a:p>
          <a:p>
            <a:pPr indent="0" marL="0">
              <a:buNone/>
            </a:pPr>
            <a:r>
              <a:rPr lang="en-US" sz="900" dirty="0">
                <a:solidFill>
                  <a:srgbClr val="FFFFFF"/>
                </a:solidFill>
                <a:latin typeface="Calibri" pitchFamily="34" charset="0"/>
                <a:ea typeface="Calibri" pitchFamily="34" charset="-122"/>
                <a:cs typeface="Calibri" pitchFamily="34" charset="-120"/>
              </a:rPr>
              <a:t>12 study units built</a:t>
            </a:r>
            <a:endParaRPr lang="en-US" sz="1400" dirty="0"/>
          </a:p>
        </p:txBody>
      </p:sp>
      <p:sp>
        <p:nvSpPr>
          <p:cNvPr id="42" name="ms_dot2"/>
          <p:cNvSpPr/>
          <p:nvPr/>
        </p:nvSpPr>
        <p:spPr>
          <a:xfrm>
            <a:off x="2938965" y="3685032"/>
            <a:ext cx="219456" cy="219456"/>
          </a:xfrm>
          <a:prstGeom prst="ellipse">
            <a:avLst/>
          </a:prstGeom>
          <a:solidFill>
            <a:srgbClr val="06B6D4"/>
          </a:solidFill>
          <a:ln w="25400">
            <a:solidFill>
              <a:srgbClr val="0F172A"/>
            </a:solidFill>
            <a:prstDash val="solid"/>
          </a:ln>
        </p:spPr>
      </p:sp>
      <p:sp>
        <p:nvSpPr>
          <p:cNvPr id="43" name="Text 39"/>
          <p:cNvSpPr txBox="1"/>
          <p:nvPr/>
        </p:nvSpPr>
        <p:spPr>
          <a:xfrm>
            <a:off x="2539538" y="3310128"/>
            <a:ext cx="1018309" cy="32004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M4</a:t>
            </a:r>
            <a:endParaRPr lang="en-US" sz="1300" dirty="0"/>
          </a:p>
        </p:txBody>
      </p:sp>
      <p:sp>
        <p:nvSpPr>
          <p:cNvPr id="44" name="ms_t2"/>
          <p:cNvSpPr txBox="1"/>
          <p:nvPr/>
        </p:nvSpPr>
        <p:spPr>
          <a:xfrm>
            <a:off x="2566970" y="3959352"/>
            <a:ext cx="963445" cy="685800"/>
          </a:xfrm>
          <a:prstGeom prst="rect">
            <a:avLst/>
          </a:prstGeom>
          <a:noFill/>
          <a:ln/>
        </p:spPr>
        <p:txBody>
          <a:bodyPr wrap="square" lIns="0" tIns="0" rIns="0" bIns="0" rtlCol="0" anchor="t"/>
          <a:lstStyle/>
          <a:p>
            <a:pPr indent="0" marL="0">
              <a:buNone/>
            </a:pPr>
            <a:r>
              <a:rPr lang="en-US" sz="700" b="1" dirty="0">
                <a:solidFill>
                  <a:srgbClr val="06B6D4"/>
                </a:solidFill>
                <a:latin typeface="Calibri" pitchFamily="34" charset="0"/>
                <a:ea typeface="Calibri" pitchFamily="34" charset="-122"/>
                <a:cs typeface="Calibri" pitchFamily="34" charset="-120"/>
              </a:rPr>
              <a:t>REGULATORY</a:t>
            </a:r>
            <a:endParaRPr lang="en-US" sz="1400" dirty="0"/>
          </a:p>
          <a:p>
            <a:pPr indent="0" marL="0">
              <a:buNone/>
            </a:pPr>
            <a:r>
              <a:rPr lang="en-US" sz="900" dirty="0">
                <a:solidFill>
                  <a:srgbClr val="FFFFFF"/>
                </a:solidFill>
                <a:latin typeface="Calibri" pitchFamily="34" charset="0"/>
                <a:ea typeface="Calibri" pitchFamily="34" charset="-122"/>
                <a:cs typeface="Calibri" pitchFamily="34" charset="-120"/>
              </a:rPr>
              <a:t>CDSCO classification opinion; ethics approval</a:t>
            </a:r>
            <a:endParaRPr lang="en-US" sz="1400" dirty="0"/>
          </a:p>
        </p:txBody>
      </p:sp>
      <p:sp>
        <p:nvSpPr>
          <p:cNvPr id="45" name="ms_dot3"/>
          <p:cNvSpPr/>
          <p:nvPr/>
        </p:nvSpPr>
        <p:spPr>
          <a:xfrm>
            <a:off x="3957274" y="3685032"/>
            <a:ext cx="219456" cy="219456"/>
          </a:xfrm>
          <a:prstGeom prst="ellipse">
            <a:avLst/>
          </a:prstGeom>
          <a:solidFill>
            <a:srgbClr val="06B6D4"/>
          </a:solidFill>
          <a:ln w="25400">
            <a:solidFill>
              <a:srgbClr val="0F172A"/>
            </a:solidFill>
            <a:prstDash val="solid"/>
          </a:ln>
        </p:spPr>
      </p:sp>
      <p:sp>
        <p:nvSpPr>
          <p:cNvPr id="46" name="Text 42"/>
          <p:cNvSpPr txBox="1"/>
          <p:nvPr/>
        </p:nvSpPr>
        <p:spPr>
          <a:xfrm>
            <a:off x="3557847" y="3310128"/>
            <a:ext cx="1018309" cy="32004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M6</a:t>
            </a:r>
            <a:endParaRPr lang="en-US" sz="1300" dirty="0"/>
          </a:p>
        </p:txBody>
      </p:sp>
      <p:sp>
        <p:nvSpPr>
          <p:cNvPr id="47" name="ms_t3"/>
          <p:cNvSpPr txBox="1"/>
          <p:nvPr/>
        </p:nvSpPr>
        <p:spPr>
          <a:xfrm>
            <a:off x="3585279" y="3959352"/>
            <a:ext cx="963445" cy="685800"/>
          </a:xfrm>
          <a:prstGeom prst="rect">
            <a:avLst/>
          </a:prstGeom>
          <a:noFill/>
          <a:ln/>
        </p:spPr>
        <p:txBody>
          <a:bodyPr wrap="square" lIns="0" tIns="0" rIns="0" bIns="0" rtlCol="0" anchor="t"/>
          <a:lstStyle/>
          <a:p>
            <a:pPr indent="0" marL="0">
              <a:buNone/>
            </a:pPr>
            <a:r>
              <a:rPr lang="en-US" sz="700" b="1" dirty="0">
                <a:solidFill>
                  <a:srgbClr val="06B6D4"/>
                </a:solidFill>
                <a:latin typeface="Calibri" pitchFamily="34" charset="0"/>
                <a:ea typeface="Calibri" pitchFamily="34" charset="-122"/>
                <a:cs typeface="Calibri" pitchFamily="34" charset="-120"/>
              </a:rPr>
              <a:t>MILESTONE 1</a:t>
            </a:r>
            <a:endParaRPr lang="en-US" sz="1400" dirty="0"/>
          </a:p>
          <a:p>
            <a:pPr indent="0" marL="0">
              <a:buNone/>
            </a:pPr>
            <a:r>
              <a:rPr lang="en-US" sz="900" dirty="0">
                <a:solidFill>
                  <a:srgbClr val="FFFFFF"/>
                </a:solidFill>
                <a:latin typeface="Calibri" pitchFamily="34" charset="0"/>
                <a:ea typeface="Calibri" pitchFamily="34" charset="-122"/>
                <a:cs typeface="Calibri" pitchFamily="34" charset="-120"/>
              </a:rPr>
              <a:t>User study n ≥ 10 → kill / continue</a:t>
            </a:r>
            <a:endParaRPr lang="en-US" sz="1400" dirty="0"/>
          </a:p>
        </p:txBody>
      </p:sp>
      <p:sp>
        <p:nvSpPr>
          <p:cNvPr id="48" name="ms_dot4"/>
          <p:cNvSpPr/>
          <p:nvPr/>
        </p:nvSpPr>
        <p:spPr>
          <a:xfrm>
            <a:off x="4975583" y="3685032"/>
            <a:ext cx="219456" cy="219456"/>
          </a:xfrm>
          <a:prstGeom prst="ellipse">
            <a:avLst/>
          </a:prstGeom>
          <a:solidFill>
            <a:srgbClr val="8B5CF6"/>
          </a:solidFill>
          <a:ln w="25400">
            <a:solidFill>
              <a:srgbClr val="0F172A"/>
            </a:solidFill>
            <a:prstDash val="solid"/>
          </a:ln>
        </p:spPr>
      </p:sp>
      <p:sp>
        <p:nvSpPr>
          <p:cNvPr id="49" name="Text 45"/>
          <p:cNvSpPr txBox="1"/>
          <p:nvPr/>
        </p:nvSpPr>
        <p:spPr>
          <a:xfrm>
            <a:off x="4576156" y="3310128"/>
            <a:ext cx="1018309" cy="32004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M7</a:t>
            </a:r>
            <a:endParaRPr lang="en-US" sz="1300" dirty="0"/>
          </a:p>
        </p:txBody>
      </p:sp>
      <p:sp>
        <p:nvSpPr>
          <p:cNvPr id="50" name="ms_t4"/>
          <p:cNvSpPr txBox="1"/>
          <p:nvPr/>
        </p:nvSpPr>
        <p:spPr>
          <a:xfrm>
            <a:off x="4603588" y="3959352"/>
            <a:ext cx="963445" cy="685800"/>
          </a:xfrm>
          <a:prstGeom prst="rect">
            <a:avLst/>
          </a:prstGeom>
          <a:noFill/>
          <a:ln/>
        </p:spPr>
        <p:txBody>
          <a:bodyPr wrap="square" lIns="0" tIns="0" rIns="0" bIns="0" rtlCol="0" anchor="t"/>
          <a:lstStyle/>
          <a:p>
            <a:pPr indent="0" marL="0">
              <a:buNone/>
            </a:pPr>
            <a:r>
              <a:rPr lang="en-US" sz="700" b="1" dirty="0">
                <a:solidFill>
                  <a:srgbClr val="8B5CF6"/>
                </a:solidFill>
                <a:latin typeface="Calibri" pitchFamily="34" charset="0"/>
                <a:ea typeface="Calibri" pitchFamily="34" charset="-122"/>
                <a:cs typeface="Calibri" pitchFamily="34" charset="-120"/>
              </a:rPr>
              <a:t>PHASE 2</a:t>
            </a:r>
            <a:endParaRPr lang="en-US" sz="1400" dirty="0"/>
          </a:p>
          <a:p>
            <a:pPr indent="0" marL="0">
              <a:buNone/>
            </a:pPr>
            <a:r>
              <a:rPr lang="en-US" sz="900" dirty="0">
                <a:solidFill>
                  <a:srgbClr val="FFFFFF"/>
                </a:solidFill>
                <a:latin typeface="Calibri" pitchFamily="34" charset="0"/>
                <a:ea typeface="Calibri" pitchFamily="34" charset="-122"/>
                <a:cs typeface="Calibri" pitchFamily="34" charset="-120"/>
              </a:rPr>
              <a:t>Tranche 2 closes; engineer hired</a:t>
            </a:r>
            <a:endParaRPr lang="en-US" sz="1400" dirty="0"/>
          </a:p>
        </p:txBody>
      </p:sp>
      <p:sp>
        <p:nvSpPr>
          <p:cNvPr id="51" name="ms_dot5"/>
          <p:cNvSpPr/>
          <p:nvPr/>
        </p:nvSpPr>
        <p:spPr>
          <a:xfrm>
            <a:off x="5993892" y="3685032"/>
            <a:ext cx="219456" cy="219456"/>
          </a:xfrm>
          <a:prstGeom prst="ellipse">
            <a:avLst/>
          </a:prstGeom>
          <a:solidFill>
            <a:srgbClr val="8B5CF6"/>
          </a:solidFill>
          <a:ln w="25400">
            <a:solidFill>
              <a:srgbClr val="0F172A"/>
            </a:solidFill>
            <a:prstDash val="solid"/>
          </a:ln>
        </p:spPr>
      </p:sp>
      <p:sp>
        <p:nvSpPr>
          <p:cNvPr id="52" name="Text 48"/>
          <p:cNvSpPr txBox="1"/>
          <p:nvPr/>
        </p:nvSpPr>
        <p:spPr>
          <a:xfrm>
            <a:off x="5594465" y="3310128"/>
            <a:ext cx="1018309" cy="32004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M9–10</a:t>
            </a:r>
            <a:endParaRPr lang="en-US" sz="1300" dirty="0"/>
          </a:p>
        </p:txBody>
      </p:sp>
      <p:sp>
        <p:nvSpPr>
          <p:cNvPr id="53" name="ms_t5"/>
          <p:cNvSpPr txBox="1"/>
          <p:nvPr/>
        </p:nvSpPr>
        <p:spPr>
          <a:xfrm>
            <a:off x="5621897" y="3959352"/>
            <a:ext cx="963445" cy="685800"/>
          </a:xfrm>
          <a:prstGeom prst="rect">
            <a:avLst/>
          </a:prstGeom>
          <a:noFill/>
          <a:ln/>
        </p:spPr>
        <p:txBody>
          <a:bodyPr wrap="square" lIns="0" tIns="0" rIns="0" bIns="0" rtlCol="0" anchor="t"/>
          <a:lstStyle/>
          <a:p>
            <a:pPr indent="0" marL="0">
              <a:buNone/>
            </a:pPr>
            <a:r>
              <a:rPr lang="en-US" sz="700" b="1" dirty="0">
                <a:solidFill>
                  <a:srgbClr val="8B5CF6"/>
                </a:solidFill>
                <a:latin typeface="Calibri" pitchFamily="34" charset="0"/>
                <a:ea typeface="Calibri" pitchFamily="34" charset="-122"/>
                <a:cs typeface="Calibri" pitchFamily="34" charset="-120"/>
              </a:rPr>
              <a:t>REGULATORY</a:t>
            </a:r>
            <a:endParaRPr lang="en-US" sz="1400" dirty="0"/>
          </a:p>
          <a:p>
            <a:pPr indent="0" marL="0">
              <a:buNone/>
            </a:pPr>
            <a:r>
              <a:rPr lang="en-US" sz="900" dirty="0">
                <a:solidFill>
                  <a:srgbClr val="FFFFFF"/>
                </a:solidFill>
                <a:latin typeface="Calibri" pitchFamily="34" charset="0"/>
                <a:ea typeface="Calibri" pitchFamily="34" charset="-122"/>
                <a:cs typeface="Calibri" pitchFamily="34" charset="-120"/>
              </a:rPr>
              <a:t>EMC pre-compliance; CDSCO filing</a:t>
            </a:r>
            <a:endParaRPr lang="en-US" sz="1400" dirty="0"/>
          </a:p>
        </p:txBody>
      </p:sp>
      <p:sp>
        <p:nvSpPr>
          <p:cNvPr id="54" name="ms_dot6"/>
          <p:cNvSpPr/>
          <p:nvPr/>
        </p:nvSpPr>
        <p:spPr>
          <a:xfrm>
            <a:off x="7012201" y="3685032"/>
            <a:ext cx="219456" cy="219456"/>
          </a:xfrm>
          <a:prstGeom prst="ellipse">
            <a:avLst/>
          </a:prstGeom>
          <a:solidFill>
            <a:srgbClr val="8B5CF6"/>
          </a:solidFill>
          <a:ln w="25400">
            <a:solidFill>
              <a:srgbClr val="0F172A"/>
            </a:solidFill>
            <a:prstDash val="solid"/>
          </a:ln>
        </p:spPr>
      </p:sp>
      <p:sp>
        <p:nvSpPr>
          <p:cNvPr id="55" name="Text 51"/>
          <p:cNvSpPr txBox="1"/>
          <p:nvPr/>
        </p:nvSpPr>
        <p:spPr>
          <a:xfrm>
            <a:off x="6612775" y="3310128"/>
            <a:ext cx="1018309" cy="32004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M11</a:t>
            </a:r>
            <a:endParaRPr lang="en-US" sz="1300" dirty="0"/>
          </a:p>
        </p:txBody>
      </p:sp>
      <p:sp>
        <p:nvSpPr>
          <p:cNvPr id="56" name="ms_t6"/>
          <p:cNvSpPr txBox="1"/>
          <p:nvPr/>
        </p:nvSpPr>
        <p:spPr>
          <a:xfrm>
            <a:off x="6640207" y="3959352"/>
            <a:ext cx="963445" cy="685800"/>
          </a:xfrm>
          <a:prstGeom prst="rect">
            <a:avLst/>
          </a:prstGeom>
          <a:noFill/>
          <a:ln/>
        </p:spPr>
        <p:txBody>
          <a:bodyPr wrap="square" lIns="0" tIns="0" rIns="0" bIns="0" rtlCol="0" anchor="t"/>
          <a:lstStyle/>
          <a:p>
            <a:pPr indent="0" marL="0">
              <a:buNone/>
            </a:pPr>
            <a:r>
              <a:rPr lang="en-US" sz="700" b="1" dirty="0">
                <a:solidFill>
                  <a:srgbClr val="8B5CF6"/>
                </a:solidFill>
                <a:latin typeface="Calibri" pitchFamily="34" charset="0"/>
                <a:ea typeface="Calibri" pitchFamily="34" charset="-122"/>
                <a:cs typeface="Calibri" pitchFamily="34" charset="-120"/>
              </a:rPr>
              <a:t>TREMOSENSE</a:t>
            </a:r>
            <a:endParaRPr lang="en-US" sz="1400" dirty="0"/>
          </a:p>
          <a:p>
            <a:pPr indent="0" marL="0">
              <a:buNone/>
            </a:pPr>
            <a:r>
              <a:rPr lang="en-US" sz="900" dirty="0">
                <a:solidFill>
                  <a:srgbClr val="FFFFFF"/>
                </a:solidFill>
                <a:latin typeface="Calibri" pitchFamily="34" charset="0"/>
                <a:ea typeface="Calibri" pitchFamily="34" charset="-122"/>
                <a:cs typeface="Calibri" pitchFamily="34" charset="-120"/>
              </a:rPr>
              <a:t>100-unit pilot batch</a:t>
            </a:r>
            <a:endParaRPr lang="en-US" sz="1400" dirty="0"/>
          </a:p>
        </p:txBody>
      </p:sp>
      <p:sp>
        <p:nvSpPr>
          <p:cNvPr id="57" name="ms_dot7"/>
          <p:cNvSpPr/>
          <p:nvPr/>
        </p:nvSpPr>
        <p:spPr>
          <a:xfrm>
            <a:off x="8030510" y="3685032"/>
            <a:ext cx="219456" cy="219456"/>
          </a:xfrm>
          <a:prstGeom prst="ellipse">
            <a:avLst/>
          </a:prstGeom>
          <a:solidFill>
            <a:srgbClr val="8B5CF6"/>
          </a:solidFill>
          <a:ln w="25400">
            <a:solidFill>
              <a:srgbClr val="0F172A"/>
            </a:solidFill>
            <a:prstDash val="solid"/>
          </a:ln>
        </p:spPr>
      </p:sp>
      <p:sp>
        <p:nvSpPr>
          <p:cNvPr id="58" name="Text 54"/>
          <p:cNvSpPr txBox="1"/>
          <p:nvPr/>
        </p:nvSpPr>
        <p:spPr>
          <a:xfrm>
            <a:off x="7631084" y="3310128"/>
            <a:ext cx="1018309" cy="32004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M12</a:t>
            </a:r>
            <a:endParaRPr lang="en-US" sz="1300" dirty="0"/>
          </a:p>
        </p:txBody>
      </p:sp>
      <p:sp>
        <p:nvSpPr>
          <p:cNvPr id="59" name="ms_t7"/>
          <p:cNvSpPr txBox="1"/>
          <p:nvPr/>
        </p:nvSpPr>
        <p:spPr>
          <a:xfrm>
            <a:off x="7658516" y="3959352"/>
            <a:ext cx="963445" cy="685800"/>
          </a:xfrm>
          <a:prstGeom prst="rect">
            <a:avLst/>
          </a:prstGeom>
          <a:noFill/>
          <a:ln/>
        </p:spPr>
        <p:txBody>
          <a:bodyPr wrap="square" lIns="0" tIns="0" rIns="0" bIns="0" rtlCol="0" anchor="t"/>
          <a:lstStyle/>
          <a:p>
            <a:pPr indent="0" marL="0">
              <a:buNone/>
            </a:pPr>
            <a:r>
              <a:rPr lang="en-US" sz="700" b="1" dirty="0">
                <a:solidFill>
                  <a:srgbClr val="8B5CF6"/>
                </a:solidFill>
                <a:latin typeface="Calibri" pitchFamily="34" charset="0"/>
                <a:ea typeface="Calibri" pitchFamily="34" charset="-122"/>
                <a:cs typeface="Calibri" pitchFamily="34" charset="-120"/>
              </a:rPr>
              <a:t>COMMERCIAL</a:t>
            </a:r>
            <a:endParaRPr lang="en-US" sz="1400" dirty="0"/>
          </a:p>
          <a:p>
            <a:pPr indent="0" marL="0">
              <a:buNone/>
            </a:pPr>
            <a:r>
              <a:rPr lang="en-US" sz="900" dirty="0">
                <a:solidFill>
                  <a:srgbClr val="FFFFFF"/>
                </a:solidFill>
                <a:latin typeface="Calibri" pitchFamily="34" charset="0"/>
                <a:ea typeface="Calibri" pitchFamily="34" charset="-122"/>
                <a:cs typeface="Calibri" pitchFamily="34" charset="-120"/>
              </a:rPr>
              <a:t>First TremoSense sales</a:t>
            </a:r>
            <a:endParaRPr lang="en-US" sz="1400" dirty="0"/>
          </a:p>
        </p:txBody>
      </p:sp>
      <p:sp>
        <p:nvSpPr>
          <p:cNvPr id="60" name="ms_dot8"/>
          <p:cNvSpPr/>
          <p:nvPr/>
        </p:nvSpPr>
        <p:spPr>
          <a:xfrm>
            <a:off x="9048819" y="3685032"/>
            <a:ext cx="219456" cy="219456"/>
          </a:xfrm>
          <a:prstGeom prst="ellipse">
            <a:avLst/>
          </a:prstGeom>
          <a:solidFill>
            <a:srgbClr val="8B5CF6"/>
          </a:solidFill>
          <a:ln w="25400">
            <a:solidFill>
              <a:srgbClr val="0F172A"/>
            </a:solidFill>
            <a:prstDash val="solid"/>
          </a:ln>
        </p:spPr>
      </p:sp>
      <p:sp>
        <p:nvSpPr>
          <p:cNvPr id="61" name="Text 57"/>
          <p:cNvSpPr txBox="1"/>
          <p:nvPr/>
        </p:nvSpPr>
        <p:spPr>
          <a:xfrm>
            <a:off x="8649393" y="3310128"/>
            <a:ext cx="1018309" cy="32004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M19</a:t>
            </a:r>
            <a:endParaRPr lang="en-US" sz="1300" dirty="0"/>
          </a:p>
        </p:txBody>
      </p:sp>
      <p:sp>
        <p:nvSpPr>
          <p:cNvPr id="62" name="ms_t8"/>
          <p:cNvSpPr txBox="1"/>
          <p:nvPr/>
        </p:nvSpPr>
        <p:spPr>
          <a:xfrm>
            <a:off x="8676825" y="3959352"/>
            <a:ext cx="963445" cy="685800"/>
          </a:xfrm>
          <a:prstGeom prst="rect">
            <a:avLst/>
          </a:prstGeom>
          <a:noFill/>
          <a:ln/>
        </p:spPr>
        <p:txBody>
          <a:bodyPr wrap="square" lIns="0" tIns="0" rIns="0" bIns="0" rtlCol="0" anchor="t"/>
          <a:lstStyle/>
          <a:p>
            <a:pPr indent="0" marL="0">
              <a:buNone/>
            </a:pPr>
            <a:r>
              <a:rPr lang="en-US" sz="700" b="1" dirty="0">
                <a:solidFill>
                  <a:srgbClr val="8B5CF6"/>
                </a:solidFill>
                <a:latin typeface="Calibri" pitchFamily="34" charset="0"/>
                <a:ea typeface="Calibri" pitchFamily="34" charset="-122"/>
                <a:cs typeface="Calibri" pitchFamily="34" charset="-120"/>
              </a:rPr>
              <a:t>SCALE</a:t>
            </a:r>
            <a:endParaRPr lang="en-US" sz="1400" dirty="0"/>
          </a:p>
          <a:p>
            <a:pPr indent="0" marL="0">
              <a:buNone/>
            </a:pPr>
            <a:r>
              <a:rPr lang="en-US" sz="900" dirty="0">
                <a:solidFill>
                  <a:srgbClr val="FFFFFF"/>
                </a:solidFill>
                <a:latin typeface="Calibri" pitchFamily="34" charset="0"/>
                <a:ea typeface="Calibri" pitchFamily="34" charset="-122"/>
                <a:cs typeface="Calibri" pitchFamily="34" charset="-120"/>
              </a:rPr>
              <a:t>Verified lower cost; price to ₹8,999</a:t>
            </a:r>
            <a:endParaRPr lang="en-US" sz="1400" dirty="0"/>
          </a:p>
        </p:txBody>
      </p:sp>
      <p:sp>
        <p:nvSpPr>
          <p:cNvPr id="63" name="ms_dot9"/>
          <p:cNvSpPr/>
          <p:nvPr/>
        </p:nvSpPr>
        <p:spPr>
          <a:xfrm>
            <a:off x="10067128" y="3685032"/>
            <a:ext cx="219456" cy="219456"/>
          </a:xfrm>
          <a:prstGeom prst="ellipse">
            <a:avLst/>
          </a:prstGeom>
          <a:solidFill>
            <a:srgbClr val="8B5CF6"/>
          </a:solidFill>
          <a:ln w="25400">
            <a:solidFill>
              <a:srgbClr val="0F172A"/>
            </a:solidFill>
            <a:prstDash val="solid"/>
          </a:ln>
        </p:spPr>
      </p:sp>
      <p:sp>
        <p:nvSpPr>
          <p:cNvPr id="64" name="Text 60"/>
          <p:cNvSpPr txBox="1"/>
          <p:nvPr/>
        </p:nvSpPr>
        <p:spPr>
          <a:xfrm>
            <a:off x="9667702" y="3310128"/>
            <a:ext cx="1018309" cy="32004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M25</a:t>
            </a:r>
            <a:endParaRPr lang="en-US" sz="1300" dirty="0"/>
          </a:p>
        </p:txBody>
      </p:sp>
      <p:sp>
        <p:nvSpPr>
          <p:cNvPr id="65" name="ms_t9"/>
          <p:cNvSpPr txBox="1"/>
          <p:nvPr/>
        </p:nvSpPr>
        <p:spPr>
          <a:xfrm>
            <a:off x="9695134" y="3959352"/>
            <a:ext cx="963445" cy="685800"/>
          </a:xfrm>
          <a:prstGeom prst="rect">
            <a:avLst/>
          </a:prstGeom>
          <a:noFill/>
          <a:ln/>
        </p:spPr>
        <p:txBody>
          <a:bodyPr wrap="square" lIns="0" tIns="0" rIns="0" bIns="0" rtlCol="0" anchor="t"/>
          <a:lstStyle/>
          <a:p>
            <a:pPr indent="0" marL="0">
              <a:buNone/>
            </a:pPr>
            <a:r>
              <a:rPr lang="en-US" sz="700" b="1" dirty="0">
                <a:solidFill>
                  <a:srgbClr val="8B5CF6"/>
                </a:solidFill>
                <a:latin typeface="Calibri" pitchFamily="34" charset="0"/>
                <a:ea typeface="Calibri" pitchFamily="34" charset="-122"/>
                <a:cs typeface="Calibri" pitchFamily="34" charset="-120"/>
              </a:rPr>
              <a:t>PARKINSENSE</a:t>
            </a:r>
            <a:endParaRPr lang="en-US" sz="1400" dirty="0"/>
          </a:p>
          <a:p>
            <a:pPr indent="0" marL="0">
              <a:buNone/>
            </a:pPr>
            <a:r>
              <a:rPr lang="en-US" sz="900" dirty="0">
                <a:solidFill>
                  <a:srgbClr val="FFFFFF"/>
                </a:solidFill>
                <a:latin typeface="Calibri" pitchFamily="34" charset="0"/>
                <a:ea typeface="Calibri" pitchFamily="34" charset="-122"/>
                <a:cs typeface="Calibri" pitchFamily="34" charset="-120"/>
              </a:rPr>
              <a:t>ParkinSense wellness launch</a:t>
            </a:r>
            <a:endParaRPr lang="en-US" sz="1400" dirty="0"/>
          </a:p>
        </p:txBody>
      </p:sp>
      <p:sp>
        <p:nvSpPr>
          <p:cNvPr id="66" name="ms_dot10"/>
          <p:cNvSpPr/>
          <p:nvPr/>
        </p:nvSpPr>
        <p:spPr>
          <a:xfrm>
            <a:off x="11085437" y="3685032"/>
            <a:ext cx="219456" cy="219456"/>
          </a:xfrm>
          <a:prstGeom prst="ellipse">
            <a:avLst/>
          </a:prstGeom>
          <a:solidFill>
            <a:srgbClr val="34D399"/>
          </a:solidFill>
          <a:ln w="25400">
            <a:solidFill>
              <a:srgbClr val="0F172A"/>
            </a:solidFill>
            <a:prstDash val="solid"/>
          </a:ln>
        </p:spPr>
      </p:sp>
      <p:sp>
        <p:nvSpPr>
          <p:cNvPr id="67" name="Text 63"/>
          <p:cNvSpPr txBox="1"/>
          <p:nvPr/>
        </p:nvSpPr>
        <p:spPr>
          <a:xfrm>
            <a:off x="10686011" y="3310128"/>
            <a:ext cx="1018309" cy="320040"/>
          </a:xfrm>
          <a:prstGeom prst="rect">
            <a:avLst/>
          </a:prstGeom>
          <a:noFill/>
          <a:ln/>
        </p:spPr>
        <p:txBody>
          <a:bodyPr wrap="square" lIns="0" tIns="0" rIns="0" bIns="0" rtlCol="0" anchor="t"/>
          <a:lstStyle/>
          <a:p>
            <a:pPr algn="ctr" indent="0" marL="0">
              <a:buNone/>
            </a:pPr>
            <a:r>
              <a:rPr lang="en-US" sz="1300" b="1" dirty="0">
                <a:solidFill>
                  <a:srgbClr val="34D399"/>
                </a:solidFill>
                <a:latin typeface="Calibri" pitchFamily="34" charset="0"/>
                <a:ea typeface="Calibri" pitchFamily="34" charset="-122"/>
                <a:cs typeface="Calibri" pitchFamily="34" charset="-120"/>
              </a:rPr>
              <a:t>M26</a:t>
            </a:r>
            <a:endParaRPr lang="en-US" sz="1300" dirty="0"/>
          </a:p>
        </p:txBody>
      </p:sp>
      <p:sp>
        <p:nvSpPr>
          <p:cNvPr id="68" name="ms_t10"/>
          <p:cNvSpPr txBox="1"/>
          <p:nvPr/>
        </p:nvSpPr>
        <p:spPr>
          <a:xfrm>
            <a:off x="10713443" y="3959352"/>
            <a:ext cx="963445" cy="685800"/>
          </a:xfrm>
          <a:prstGeom prst="rect">
            <a:avLst/>
          </a:prstGeom>
          <a:noFill/>
          <a:ln/>
        </p:spPr>
        <p:txBody>
          <a:bodyPr wrap="square" lIns="0" tIns="0" rIns="0" bIns="0" rtlCol="0" anchor="t"/>
          <a:lstStyle/>
          <a:p>
            <a:pPr indent="0" marL="0">
              <a:buNone/>
            </a:pPr>
            <a:r>
              <a:rPr lang="en-US" sz="700" b="1" dirty="0">
                <a:solidFill>
                  <a:srgbClr val="34D399"/>
                </a:solidFill>
                <a:latin typeface="Calibri" pitchFamily="34" charset="0"/>
                <a:ea typeface="Calibri" pitchFamily="34" charset="-122"/>
                <a:cs typeface="Calibri" pitchFamily="34" charset="-120"/>
              </a:rPr>
              <a:t>PROFITABILITY</a:t>
            </a:r>
            <a:endParaRPr lang="en-US" sz="1400" dirty="0"/>
          </a:p>
          <a:p>
            <a:pPr indent="0" marL="0">
              <a:buNone/>
            </a:pPr>
            <a:r>
              <a:rPr lang="en-US" sz="900" dirty="0">
                <a:solidFill>
                  <a:srgbClr val="FFFFFF"/>
                </a:solidFill>
                <a:latin typeface="Calibri" pitchFamily="34" charset="0"/>
                <a:ea typeface="Calibri" pitchFamily="34" charset="-122"/>
                <a:cs typeface="Calibri" pitchFamily="34" charset="-120"/>
              </a:rPr>
              <a:t>Sustained operating break-even</a:t>
            </a:r>
            <a:endParaRPr lang="en-US" sz="1400" dirty="0"/>
          </a:p>
        </p:txBody>
      </p:sp>
      <p:sp>
        <p:nvSpPr>
          <p:cNvPr id="69" name="kill"/>
          <p:cNvSpPr/>
          <p:nvPr/>
        </p:nvSpPr>
        <p:spPr>
          <a:xfrm>
            <a:off x="502920" y="4709160"/>
            <a:ext cx="6949440" cy="1325880"/>
          </a:xfrm>
          <a:prstGeom prst="roundRect">
            <a:avLst>
              <a:gd name="adj" fmla="val 4828"/>
            </a:avLst>
          </a:prstGeom>
          <a:solidFill>
            <a:srgbClr val="2A1620"/>
          </a:solidFill>
          <a:ln w="9525">
            <a:solidFill>
              <a:srgbClr val="F87171"/>
            </a:solidFill>
            <a:prstDash val="solid"/>
          </a:ln>
        </p:spPr>
      </p:sp>
      <p:sp>
        <p:nvSpPr>
          <p:cNvPr id="70" name="kill_t"/>
          <p:cNvSpPr txBox="1"/>
          <p:nvPr/>
        </p:nvSpPr>
        <p:spPr>
          <a:xfrm>
            <a:off x="685800" y="4773168"/>
            <a:ext cx="6675120" cy="1234440"/>
          </a:xfrm>
          <a:prstGeom prst="rect">
            <a:avLst/>
          </a:prstGeom>
          <a:noFill/>
          <a:ln/>
        </p:spPr>
        <p:txBody>
          <a:bodyPr wrap="square" lIns="0" tIns="0" rIns="0" bIns="0" rtlCol="0" anchor="t"/>
          <a:lstStyle/>
          <a:p>
            <a:pPr indent="0" marL="0">
              <a:buNone/>
            </a:pPr>
            <a:r>
              <a:rPr lang="en-US" sz="1100" b="1" dirty="0">
                <a:solidFill>
                  <a:srgbClr val="F87171"/>
                </a:solidFill>
                <a:latin typeface="Calibri" pitchFamily="34" charset="0"/>
                <a:ea typeface="Calibri" pitchFamily="34" charset="-122"/>
                <a:cs typeface="Calibri" pitchFamily="34" charset="-120"/>
              </a:rPr>
              <a:t>KILL / CONTINUE at M6 (TremoSense user study, n ≥ 10)</a:t>
            </a:r>
            <a:endParaRPr lang="en-US" sz="1100" dirty="0"/>
          </a:p>
          <a:p>
            <a:pPr indent="0" marL="0">
              <a:buNone/>
            </a:pPr>
            <a:r>
              <a:rPr lang="en-US" sz="1100" b="1" dirty="0">
                <a:solidFill>
                  <a:srgbClr val="34D399"/>
                </a:solidFill>
                <a:latin typeface="Calibri" pitchFamily="34" charset="0"/>
                <a:ea typeface="Calibri" pitchFamily="34" charset="-122"/>
                <a:cs typeface="Calibri" pitchFamily="34" charset="-120"/>
              </a:rPr>
              <a:t>Continue: </a:t>
            </a:r>
            <a:pPr indent="0" marL="0">
              <a:buNone/>
            </a:pPr>
            <a:r>
              <a:rPr lang="en-US" sz="1100" dirty="0">
                <a:solidFill>
                  <a:srgbClr val="FFFFFF"/>
                </a:solidFill>
                <a:latin typeface="Calibri" pitchFamily="34" charset="0"/>
                <a:ea typeface="Calibri" pitchFamily="34" charset="-122"/>
                <a:cs typeface="Calibri" pitchFamily="34" charset="-120"/>
              </a:rPr>
              <a:t>median tremor reduction ≥50% and ≥60% would pay</a:t>
            </a:r>
            <a:endParaRPr lang="en-US" sz="1100" dirty="0"/>
          </a:p>
          <a:p>
            <a:pPr indent="0" marL="0">
              <a:buNone/>
            </a:pPr>
            <a:r>
              <a:rPr lang="en-US" sz="1100" b="1" dirty="0">
                <a:solidFill>
                  <a:srgbClr val="F59E0B"/>
                </a:solidFill>
                <a:latin typeface="Calibri" pitchFamily="34" charset="0"/>
                <a:ea typeface="Calibri" pitchFamily="34" charset="-122"/>
                <a:cs typeface="Calibri" pitchFamily="34" charset="-120"/>
              </a:rPr>
              <a:t>Pivot: </a:t>
            </a:r>
            <a:pPr indent="0" marL="0">
              <a:buNone/>
            </a:pPr>
            <a:r>
              <a:rPr lang="en-US" sz="1100" dirty="0">
                <a:solidFill>
                  <a:srgbClr val="FFFFFF"/>
                </a:solidFill>
                <a:latin typeface="Calibri" pitchFamily="34" charset="0"/>
                <a:ea typeface="Calibri" pitchFamily="34" charset="-122"/>
                <a:cs typeface="Calibri" pitchFamily="34" charset="-120"/>
              </a:rPr>
              <a:t>benefit holds but price fails → clinic rental model</a:t>
            </a:r>
            <a:endParaRPr lang="en-US" sz="1100" dirty="0"/>
          </a:p>
          <a:p>
            <a:pPr indent="0" marL="0">
              <a:buNone/>
            </a:pPr>
            <a:r>
              <a:rPr lang="en-US" sz="1100" b="1" dirty="0">
                <a:solidFill>
                  <a:srgbClr val="F87171"/>
                </a:solidFill>
                <a:latin typeface="Calibri" pitchFamily="34" charset="0"/>
                <a:ea typeface="Calibri" pitchFamily="34" charset="-122"/>
                <a:cs typeface="Calibri" pitchFamily="34" charset="-120"/>
              </a:rPr>
              <a:t>Stop: </a:t>
            </a:r>
            <a:pPr indent="0" marL="0">
              <a:buNone/>
            </a:pPr>
            <a:r>
              <a:rPr lang="en-US" sz="1100" dirty="0">
                <a:solidFill>
                  <a:srgbClr val="FFFFFF"/>
                </a:solidFill>
                <a:latin typeface="Calibri" pitchFamily="34" charset="0"/>
                <a:ea typeface="Calibri" pitchFamily="34" charset="-122"/>
                <a:cs typeface="Calibri" pitchFamily="34" charset="-120"/>
              </a:rPr>
              <a:t>reduction &lt;30% → stop TremoSense, focus on ParkinSense</a:t>
            </a:r>
            <a:endParaRPr lang="en-US" sz="1100" dirty="0"/>
          </a:p>
        </p:txBody>
      </p:sp>
      <p:sp>
        <p:nvSpPr>
          <p:cNvPr id="71" name="close"/>
          <p:cNvSpPr/>
          <p:nvPr/>
        </p:nvSpPr>
        <p:spPr>
          <a:xfrm>
            <a:off x="7635240" y="4709160"/>
            <a:ext cx="4069080" cy="1325880"/>
          </a:xfrm>
          <a:prstGeom prst="roundRect">
            <a:avLst>
              <a:gd name="adj" fmla="val 4828"/>
            </a:avLst>
          </a:prstGeom>
          <a:solidFill>
            <a:srgbClr val="0E1F3A"/>
          </a:solidFill>
          <a:ln w="9525">
            <a:solidFill>
              <a:srgbClr val="3B82F6"/>
            </a:solidFill>
            <a:prstDash val="solid"/>
          </a:ln>
        </p:spPr>
      </p:sp>
      <p:pic>
        <p:nvPicPr>
          <p:cNvPr id="72" name="close_mark" descr="../public/brand/averra-mark-white.png">    </p:cNvPr>
          <p:cNvPicPr>
            <a:picLocks noChangeAspect="1"/>
          </p:cNvPicPr>
          <p:nvPr/>
        </p:nvPicPr>
        <p:blipFill>
          <a:blip r:embed="rId2"/>
          <a:stretch>
            <a:fillRect/>
          </a:stretch>
        </p:blipFill>
        <p:spPr>
          <a:xfrm>
            <a:off x="7772400" y="4846320"/>
            <a:ext cx="502920" cy="502920"/>
          </a:xfrm>
          <a:prstGeom prst="rect">
            <a:avLst/>
          </a:prstGeom>
        </p:spPr>
      </p:pic>
      <p:sp>
        <p:nvSpPr>
          <p:cNvPr id="73" name="close_t"/>
          <p:cNvSpPr txBox="1"/>
          <p:nvPr/>
        </p:nvSpPr>
        <p:spPr>
          <a:xfrm>
            <a:off x="8366760" y="4800600"/>
            <a:ext cx="3246120" cy="11887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Engineering better movement intelligence.</a:t>
            </a:r>
            <a:endParaRPr lang="en-US" sz="1400" dirty="0"/>
          </a:p>
          <a:p>
            <a:pPr indent="0" marL="0">
              <a:buNone/>
            </a:pPr>
            <a:r>
              <a:rPr lang="en-US" sz="950" dirty="0">
                <a:solidFill>
                  <a:srgbClr val="CBD5E1"/>
                </a:solidFill>
                <a:latin typeface="Calibri" pitchFamily="34" charset="0"/>
                <a:ea typeface="Calibri" pitchFamily="34" charset="-122"/>
                <a:cs typeface="Calibri" pitchFamily="34" charset="-120"/>
              </a:rPr>
              <a:t>Ask: ₹10.5 L for 12.3%. Other risks — technical, regulatory, IP, funding — with triggers in the companion guide.</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5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450"/>
                                        <p:tgtEl>
                                          <p:spTgt spid="24"/>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450"/>
                                        <p:tgtEl>
                                          <p:spTgt spid="25"/>
                                        </p:tgtEl>
                                      </p:cBhvr>
                                    </p:animEffect>
                                  </p:childTnLst>
                                </p:cTn>
                              </p:par>
                              <p:par>
                                <p:cTn id="14" presetID="10" presetClass="entr" presetSubtype="0" fill="hold"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450"/>
                                        <p:tgtEl>
                                          <p:spTgt spid="26"/>
                                        </p:tgtEl>
                                      </p:cBhvr>
                                    </p:animEffect>
                                  </p:childTnLst>
                                </p:cTn>
                              </p:par>
                              <p:par>
                                <p:cTn id="17" presetID="10"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450"/>
                                        <p:tgtEl>
                                          <p:spTgt spid="27"/>
                                        </p:tgtEl>
                                      </p:cBhvr>
                                    </p:animEffect>
                                  </p:childTnLst>
                                </p:cTn>
                              </p:par>
                              <p:par>
                                <p:cTn id="20" presetID="10" presetClass="entr" presetSubtype="0" fill="hold"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50"/>
                                        <p:tgtEl>
                                          <p:spTgt spid="28"/>
                                        </p:tgtEl>
                                      </p:cBhvr>
                                    </p:animEffect>
                                  </p:childTnLst>
                                </p:cTn>
                              </p:par>
                              <p:par>
                                <p:cTn id="23" presetID="10"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450"/>
                                        <p:tgtEl>
                                          <p:spTgt spid="29"/>
                                        </p:tgtEl>
                                      </p:cBhvr>
                                    </p:animEffect>
                                  </p:childTnLst>
                                </p:cTn>
                              </p:par>
                              <p:par>
                                <p:cTn id="26" presetID="10" presetClass="entr" presetSubtype="0" fill="hold"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450"/>
                                        <p:tgtEl>
                                          <p:spTgt spid="30"/>
                                        </p:tgtEl>
                                      </p:cBhvr>
                                    </p:animEffect>
                                  </p:childTnLst>
                                </p:cTn>
                              </p:par>
                              <p:par>
                                <p:cTn id="29" presetID="10" presetClass="entr" presetSubtype="0" fill="hold"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450"/>
                                        <p:tgtEl>
                                          <p:spTgt spid="31"/>
                                        </p:tgtEl>
                                      </p:cBhvr>
                                    </p:animEffect>
                                  </p:childTnLst>
                                </p:cTn>
                              </p:par>
                              <p:par>
                                <p:cTn id="32" presetID="10" presetClass="entr" presetSubtype="0" fill="hold"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450"/>
                                        <p:tgtEl>
                                          <p:spTgt spid="32"/>
                                        </p:tgtEl>
                                      </p:cBhvr>
                                    </p:animEffect>
                                  </p:childTnLst>
                                </p:cTn>
                              </p:par>
                              <p:par>
                                <p:cTn id="35" presetID="10" presetClass="entr" presetSubtype="0" fill="hold" nodeType="with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450"/>
                                        <p:tgtEl>
                                          <p:spTgt spid="33"/>
                                        </p:tgtEl>
                                      </p:cBhvr>
                                    </p:animEffect>
                                  </p:childTnLst>
                                </p:cTn>
                              </p:par>
                              <p:par>
                                <p:cTn id="38" presetID="10" presetClass="entr" presetSubtype="0" fill="hold" nodeType="with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fade">
                                      <p:cBhvr>
                                        <p:cTn id="40" dur="450"/>
                                        <p:tgtEl>
                                          <p:spTgt spid="3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fade">
                                      <p:cBhvr>
                                        <p:cTn id="45" dur="450"/>
                                        <p:tgtEl>
                                          <p:spTgt spid="35"/>
                                        </p:tgtEl>
                                      </p:cBhvr>
                                    </p:animEffect>
                                  </p:childTnLst>
                                </p:cTn>
                              </p:par>
                              <p:par>
                                <p:cTn id="46" presetID="10" presetClass="entr" presetSubtype="0" fill="hold" nodeType="withEffect">
                                  <p:stCondLst>
                                    <p:cond delay="0"/>
                                  </p:stCondLst>
                                  <p:childTnLst>
                                    <p:set>
                                      <p:cBhvr>
                                        <p:cTn id="47" dur="1" fill="hold">
                                          <p:stCondLst>
                                            <p:cond delay="0"/>
                                          </p:stCondLst>
                                        </p:cTn>
                                        <p:tgtEl>
                                          <p:spTgt spid="36"/>
                                        </p:tgtEl>
                                        <p:attrNameLst>
                                          <p:attrName>style.visibility</p:attrName>
                                        </p:attrNameLst>
                                      </p:cBhvr>
                                      <p:to>
                                        <p:strVal val="visible"/>
                                      </p:to>
                                    </p:set>
                                    <p:animEffect transition="in" filter="fade">
                                      <p:cBhvr>
                                        <p:cTn id="48" dur="450"/>
                                        <p:tgtEl>
                                          <p:spTgt spid="36"/>
                                        </p:tgtEl>
                                      </p:cBhvr>
                                    </p:animEffect>
                                  </p:childTnLst>
                                </p:cTn>
                              </p:par>
                              <p:par>
                                <p:cTn id="49" presetID="10" presetClass="entr" presetSubtype="0" fill="hold" nodeType="with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fade">
                                      <p:cBhvr>
                                        <p:cTn id="51" dur="450"/>
                                        <p:tgtEl>
                                          <p:spTgt spid="37"/>
                                        </p:tgtEl>
                                      </p:cBhvr>
                                    </p:animEffect>
                                  </p:childTnLst>
                                </p:cTn>
                              </p:par>
                              <p:par>
                                <p:cTn id="52" presetID="10" presetClass="entr" presetSubtype="0" fill="hold" nodeType="with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fade">
                                      <p:cBhvr>
                                        <p:cTn id="54" dur="450"/>
                                        <p:tgtEl>
                                          <p:spTgt spid="39"/>
                                        </p:tgtEl>
                                      </p:cBhvr>
                                    </p:animEffect>
                                  </p:childTnLst>
                                </p:cTn>
                              </p:par>
                              <p:par>
                                <p:cTn id="55" presetID="10" presetClass="entr" presetSubtype="0" fill="hold" nodeType="with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450"/>
                                        <p:tgtEl>
                                          <p:spTgt spid="40"/>
                                        </p:tgtEl>
                                      </p:cBhvr>
                                    </p:animEffect>
                                  </p:childTnLst>
                                </p:cTn>
                              </p:par>
                              <p:par>
                                <p:cTn id="58" presetID="10" presetClass="entr" presetSubtype="0" fill="hold" nodeType="withEffect">
                                  <p:stCondLst>
                                    <p:cond delay="0"/>
                                  </p:stCondLst>
                                  <p:childTnLst>
                                    <p:set>
                                      <p:cBhvr>
                                        <p:cTn id="59" dur="1" fill="hold">
                                          <p:stCondLst>
                                            <p:cond delay="0"/>
                                          </p:stCondLst>
                                        </p:cTn>
                                        <p:tgtEl>
                                          <p:spTgt spid="42"/>
                                        </p:tgtEl>
                                        <p:attrNameLst>
                                          <p:attrName>style.visibility</p:attrName>
                                        </p:attrNameLst>
                                      </p:cBhvr>
                                      <p:to>
                                        <p:strVal val="visible"/>
                                      </p:to>
                                    </p:set>
                                    <p:animEffect transition="in" filter="fade">
                                      <p:cBhvr>
                                        <p:cTn id="60" dur="450"/>
                                        <p:tgtEl>
                                          <p:spTgt spid="42"/>
                                        </p:tgtEl>
                                      </p:cBhvr>
                                    </p:animEffect>
                                  </p:childTnLst>
                                </p:cTn>
                              </p:par>
                              <p:par>
                                <p:cTn id="61" presetID="10" presetClass="entr" presetSubtype="0" fill="hold" nodeType="withEffect">
                                  <p:stCondLst>
                                    <p:cond delay="0"/>
                                  </p:stCondLst>
                                  <p:childTnLst>
                                    <p:set>
                                      <p:cBhvr>
                                        <p:cTn id="62" dur="1" fill="hold">
                                          <p:stCondLst>
                                            <p:cond delay="0"/>
                                          </p:stCondLst>
                                        </p:cTn>
                                        <p:tgtEl>
                                          <p:spTgt spid="43"/>
                                        </p:tgtEl>
                                        <p:attrNameLst>
                                          <p:attrName>style.visibility</p:attrName>
                                        </p:attrNameLst>
                                      </p:cBhvr>
                                      <p:to>
                                        <p:strVal val="visible"/>
                                      </p:to>
                                    </p:set>
                                    <p:animEffect transition="in" filter="fade">
                                      <p:cBhvr>
                                        <p:cTn id="63" dur="450"/>
                                        <p:tgtEl>
                                          <p:spTgt spid="43"/>
                                        </p:tgtEl>
                                      </p:cBhvr>
                                    </p:animEffect>
                                  </p:childTnLst>
                                </p:cTn>
                              </p:par>
                              <p:par>
                                <p:cTn id="64" presetID="10" presetClass="entr" presetSubtype="0" fill="hold" nodeType="withEffect">
                                  <p:stCondLst>
                                    <p:cond delay="0"/>
                                  </p:stCondLst>
                                  <p:childTnLst>
                                    <p:set>
                                      <p:cBhvr>
                                        <p:cTn id="65" dur="1" fill="hold">
                                          <p:stCondLst>
                                            <p:cond delay="0"/>
                                          </p:stCondLst>
                                        </p:cTn>
                                        <p:tgtEl>
                                          <p:spTgt spid="45"/>
                                        </p:tgtEl>
                                        <p:attrNameLst>
                                          <p:attrName>style.visibility</p:attrName>
                                        </p:attrNameLst>
                                      </p:cBhvr>
                                      <p:to>
                                        <p:strVal val="visible"/>
                                      </p:to>
                                    </p:set>
                                    <p:animEffect transition="in" filter="fade">
                                      <p:cBhvr>
                                        <p:cTn id="66" dur="450"/>
                                        <p:tgtEl>
                                          <p:spTgt spid="45"/>
                                        </p:tgtEl>
                                      </p:cBhvr>
                                    </p:animEffect>
                                  </p:childTnLst>
                                </p:cTn>
                              </p:par>
                              <p:par>
                                <p:cTn id="67" presetID="10" presetClass="entr" presetSubtype="0" fill="hold" nodeType="withEffect">
                                  <p:stCondLst>
                                    <p:cond delay="0"/>
                                  </p:stCondLst>
                                  <p:childTnLst>
                                    <p:set>
                                      <p:cBhvr>
                                        <p:cTn id="68" dur="1" fill="hold">
                                          <p:stCondLst>
                                            <p:cond delay="0"/>
                                          </p:stCondLst>
                                        </p:cTn>
                                        <p:tgtEl>
                                          <p:spTgt spid="46"/>
                                        </p:tgtEl>
                                        <p:attrNameLst>
                                          <p:attrName>style.visibility</p:attrName>
                                        </p:attrNameLst>
                                      </p:cBhvr>
                                      <p:to>
                                        <p:strVal val="visible"/>
                                      </p:to>
                                    </p:set>
                                    <p:animEffect transition="in" filter="fade">
                                      <p:cBhvr>
                                        <p:cTn id="69" dur="450"/>
                                        <p:tgtEl>
                                          <p:spTgt spid="46"/>
                                        </p:tgtEl>
                                      </p:cBhvr>
                                    </p:animEffect>
                                  </p:childTnLst>
                                </p:cTn>
                              </p:par>
                              <p:par>
                                <p:cTn id="70" presetID="10" presetClass="entr" presetSubtype="0" fill="hold" nodeType="withEffect">
                                  <p:stCondLst>
                                    <p:cond delay="0"/>
                                  </p:stCondLst>
                                  <p:childTnLst>
                                    <p:set>
                                      <p:cBhvr>
                                        <p:cTn id="71" dur="1" fill="hold">
                                          <p:stCondLst>
                                            <p:cond delay="0"/>
                                          </p:stCondLst>
                                        </p:cTn>
                                        <p:tgtEl>
                                          <p:spTgt spid="48"/>
                                        </p:tgtEl>
                                        <p:attrNameLst>
                                          <p:attrName>style.visibility</p:attrName>
                                        </p:attrNameLst>
                                      </p:cBhvr>
                                      <p:to>
                                        <p:strVal val="visible"/>
                                      </p:to>
                                    </p:set>
                                    <p:animEffect transition="in" filter="fade">
                                      <p:cBhvr>
                                        <p:cTn id="72" dur="450"/>
                                        <p:tgtEl>
                                          <p:spTgt spid="48"/>
                                        </p:tgtEl>
                                      </p:cBhvr>
                                    </p:animEffect>
                                  </p:childTnLst>
                                </p:cTn>
                              </p:par>
                              <p:par>
                                <p:cTn id="73" presetID="10" presetClass="entr" presetSubtype="0" fill="hold" nodeType="withEffect">
                                  <p:stCondLst>
                                    <p:cond delay="0"/>
                                  </p:stCondLst>
                                  <p:childTnLst>
                                    <p:set>
                                      <p:cBhvr>
                                        <p:cTn id="74" dur="1" fill="hold">
                                          <p:stCondLst>
                                            <p:cond delay="0"/>
                                          </p:stCondLst>
                                        </p:cTn>
                                        <p:tgtEl>
                                          <p:spTgt spid="49"/>
                                        </p:tgtEl>
                                        <p:attrNameLst>
                                          <p:attrName>style.visibility</p:attrName>
                                        </p:attrNameLst>
                                      </p:cBhvr>
                                      <p:to>
                                        <p:strVal val="visible"/>
                                      </p:to>
                                    </p:set>
                                    <p:animEffect transition="in" filter="fade">
                                      <p:cBhvr>
                                        <p:cTn id="75" dur="450"/>
                                        <p:tgtEl>
                                          <p:spTgt spid="49"/>
                                        </p:tgtEl>
                                      </p:cBhvr>
                                    </p:animEffect>
                                  </p:childTnLst>
                                </p:cTn>
                              </p:par>
                              <p:par>
                                <p:cTn id="76" presetID="10" presetClass="entr" presetSubtype="0" fill="hold" nodeType="withEffect">
                                  <p:stCondLst>
                                    <p:cond delay="0"/>
                                  </p:stCondLst>
                                  <p:childTnLst>
                                    <p:set>
                                      <p:cBhvr>
                                        <p:cTn id="77" dur="1" fill="hold">
                                          <p:stCondLst>
                                            <p:cond delay="0"/>
                                          </p:stCondLst>
                                        </p:cTn>
                                        <p:tgtEl>
                                          <p:spTgt spid="51"/>
                                        </p:tgtEl>
                                        <p:attrNameLst>
                                          <p:attrName>style.visibility</p:attrName>
                                        </p:attrNameLst>
                                      </p:cBhvr>
                                      <p:to>
                                        <p:strVal val="visible"/>
                                      </p:to>
                                    </p:set>
                                    <p:animEffect transition="in" filter="fade">
                                      <p:cBhvr>
                                        <p:cTn id="78" dur="450"/>
                                        <p:tgtEl>
                                          <p:spTgt spid="51"/>
                                        </p:tgtEl>
                                      </p:cBhvr>
                                    </p:animEffect>
                                  </p:childTnLst>
                                </p:cTn>
                              </p:par>
                              <p:par>
                                <p:cTn id="79" presetID="10" presetClass="entr" presetSubtype="0" fill="hold" nodeType="withEffect">
                                  <p:stCondLst>
                                    <p:cond delay="0"/>
                                  </p:stCondLst>
                                  <p:childTnLst>
                                    <p:set>
                                      <p:cBhvr>
                                        <p:cTn id="80" dur="1" fill="hold">
                                          <p:stCondLst>
                                            <p:cond delay="0"/>
                                          </p:stCondLst>
                                        </p:cTn>
                                        <p:tgtEl>
                                          <p:spTgt spid="52"/>
                                        </p:tgtEl>
                                        <p:attrNameLst>
                                          <p:attrName>style.visibility</p:attrName>
                                        </p:attrNameLst>
                                      </p:cBhvr>
                                      <p:to>
                                        <p:strVal val="visible"/>
                                      </p:to>
                                    </p:set>
                                    <p:animEffect transition="in" filter="fade">
                                      <p:cBhvr>
                                        <p:cTn id="81" dur="450"/>
                                        <p:tgtEl>
                                          <p:spTgt spid="52"/>
                                        </p:tgtEl>
                                      </p:cBhvr>
                                    </p:animEffect>
                                  </p:childTnLst>
                                </p:cTn>
                              </p:par>
                              <p:par>
                                <p:cTn id="82" presetID="10" presetClass="entr" presetSubtype="0"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fade">
                                      <p:cBhvr>
                                        <p:cTn id="84" dur="450"/>
                                        <p:tgtEl>
                                          <p:spTgt spid="54"/>
                                        </p:tgtEl>
                                      </p:cBhvr>
                                    </p:animEffect>
                                  </p:childTnLst>
                                </p:cTn>
                              </p:par>
                              <p:par>
                                <p:cTn id="85" presetID="10" presetClass="entr" presetSubtype="0" fill="hold" nodeType="withEffect">
                                  <p:stCondLst>
                                    <p:cond delay="0"/>
                                  </p:stCondLst>
                                  <p:childTnLst>
                                    <p:set>
                                      <p:cBhvr>
                                        <p:cTn id="86" dur="1" fill="hold">
                                          <p:stCondLst>
                                            <p:cond delay="0"/>
                                          </p:stCondLst>
                                        </p:cTn>
                                        <p:tgtEl>
                                          <p:spTgt spid="55"/>
                                        </p:tgtEl>
                                        <p:attrNameLst>
                                          <p:attrName>style.visibility</p:attrName>
                                        </p:attrNameLst>
                                      </p:cBhvr>
                                      <p:to>
                                        <p:strVal val="visible"/>
                                      </p:to>
                                    </p:set>
                                    <p:animEffect transition="in" filter="fade">
                                      <p:cBhvr>
                                        <p:cTn id="87" dur="450"/>
                                        <p:tgtEl>
                                          <p:spTgt spid="55"/>
                                        </p:tgtEl>
                                      </p:cBhvr>
                                    </p:animEffect>
                                  </p:childTnLst>
                                </p:cTn>
                              </p:par>
                              <p:par>
                                <p:cTn id="88" presetID="10" presetClass="entr" presetSubtype="0" fill="hold" nodeType="withEffect">
                                  <p:stCondLst>
                                    <p:cond delay="0"/>
                                  </p:stCondLst>
                                  <p:childTnLst>
                                    <p:set>
                                      <p:cBhvr>
                                        <p:cTn id="89" dur="1" fill="hold">
                                          <p:stCondLst>
                                            <p:cond delay="0"/>
                                          </p:stCondLst>
                                        </p:cTn>
                                        <p:tgtEl>
                                          <p:spTgt spid="57"/>
                                        </p:tgtEl>
                                        <p:attrNameLst>
                                          <p:attrName>style.visibility</p:attrName>
                                        </p:attrNameLst>
                                      </p:cBhvr>
                                      <p:to>
                                        <p:strVal val="visible"/>
                                      </p:to>
                                    </p:set>
                                    <p:animEffect transition="in" filter="fade">
                                      <p:cBhvr>
                                        <p:cTn id="90" dur="450"/>
                                        <p:tgtEl>
                                          <p:spTgt spid="57"/>
                                        </p:tgtEl>
                                      </p:cBhvr>
                                    </p:animEffect>
                                  </p:childTnLst>
                                </p:cTn>
                              </p:par>
                              <p:par>
                                <p:cTn id="91" presetID="10" presetClass="entr" presetSubtype="0" fill="hold" nodeType="withEffect">
                                  <p:stCondLst>
                                    <p:cond delay="0"/>
                                  </p:stCondLst>
                                  <p:childTnLst>
                                    <p:set>
                                      <p:cBhvr>
                                        <p:cTn id="92" dur="1" fill="hold">
                                          <p:stCondLst>
                                            <p:cond delay="0"/>
                                          </p:stCondLst>
                                        </p:cTn>
                                        <p:tgtEl>
                                          <p:spTgt spid="58"/>
                                        </p:tgtEl>
                                        <p:attrNameLst>
                                          <p:attrName>style.visibility</p:attrName>
                                        </p:attrNameLst>
                                      </p:cBhvr>
                                      <p:to>
                                        <p:strVal val="visible"/>
                                      </p:to>
                                    </p:set>
                                    <p:animEffect transition="in" filter="fade">
                                      <p:cBhvr>
                                        <p:cTn id="93" dur="450"/>
                                        <p:tgtEl>
                                          <p:spTgt spid="58"/>
                                        </p:tgtEl>
                                      </p:cBhvr>
                                    </p:animEffect>
                                  </p:childTnLst>
                                </p:cTn>
                              </p:par>
                              <p:par>
                                <p:cTn id="94" presetID="10" presetClass="entr" presetSubtype="0" fill="hold" nodeType="withEffect">
                                  <p:stCondLst>
                                    <p:cond delay="0"/>
                                  </p:stCondLst>
                                  <p:childTnLst>
                                    <p:set>
                                      <p:cBhvr>
                                        <p:cTn id="95" dur="1" fill="hold">
                                          <p:stCondLst>
                                            <p:cond delay="0"/>
                                          </p:stCondLst>
                                        </p:cTn>
                                        <p:tgtEl>
                                          <p:spTgt spid="60"/>
                                        </p:tgtEl>
                                        <p:attrNameLst>
                                          <p:attrName>style.visibility</p:attrName>
                                        </p:attrNameLst>
                                      </p:cBhvr>
                                      <p:to>
                                        <p:strVal val="visible"/>
                                      </p:to>
                                    </p:set>
                                    <p:animEffect transition="in" filter="fade">
                                      <p:cBhvr>
                                        <p:cTn id="96" dur="450"/>
                                        <p:tgtEl>
                                          <p:spTgt spid="60"/>
                                        </p:tgtEl>
                                      </p:cBhvr>
                                    </p:animEffect>
                                  </p:childTnLst>
                                </p:cTn>
                              </p:par>
                              <p:par>
                                <p:cTn id="97" presetID="10" presetClass="entr" presetSubtype="0" fill="hold" nodeType="withEffect">
                                  <p:stCondLst>
                                    <p:cond delay="0"/>
                                  </p:stCondLst>
                                  <p:childTnLst>
                                    <p:set>
                                      <p:cBhvr>
                                        <p:cTn id="98" dur="1" fill="hold">
                                          <p:stCondLst>
                                            <p:cond delay="0"/>
                                          </p:stCondLst>
                                        </p:cTn>
                                        <p:tgtEl>
                                          <p:spTgt spid="61"/>
                                        </p:tgtEl>
                                        <p:attrNameLst>
                                          <p:attrName>style.visibility</p:attrName>
                                        </p:attrNameLst>
                                      </p:cBhvr>
                                      <p:to>
                                        <p:strVal val="visible"/>
                                      </p:to>
                                    </p:set>
                                    <p:animEffect transition="in" filter="fade">
                                      <p:cBhvr>
                                        <p:cTn id="99" dur="450"/>
                                        <p:tgtEl>
                                          <p:spTgt spid="61"/>
                                        </p:tgtEl>
                                      </p:cBhvr>
                                    </p:animEffect>
                                  </p:childTnLst>
                                </p:cTn>
                              </p:par>
                              <p:par>
                                <p:cTn id="100" presetID="10" presetClass="entr" presetSubtype="0" fill="hold" nodeType="withEffect">
                                  <p:stCondLst>
                                    <p:cond delay="0"/>
                                  </p:stCondLst>
                                  <p:childTnLst>
                                    <p:set>
                                      <p:cBhvr>
                                        <p:cTn id="101" dur="1" fill="hold">
                                          <p:stCondLst>
                                            <p:cond delay="0"/>
                                          </p:stCondLst>
                                        </p:cTn>
                                        <p:tgtEl>
                                          <p:spTgt spid="63"/>
                                        </p:tgtEl>
                                        <p:attrNameLst>
                                          <p:attrName>style.visibility</p:attrName>
                                        </p:attrNameLst>
                                      </p:cBhvr>
                                      <p:to>
                                        <p:strVal val="visible"/>
                                      </p:to>
                                    </p:set>
                                    <p:animEffect transition="in" filter="fade">
                                      <p:cBhvr>
                                        <p:cTn id="102" dur="450"/>
                                        <p:tgtEl>
                                          <p:spTgt spid="63"/>
                                        </p:tgtEl>
                                      </p:cBhvr>
                                    </p:animEffect>
                                  </p:childTnLst>
                                </p:cTn>
                              </p:par>
                              <p:par>
                                <p:cTn id="103" presetID="10" presetClass="entr" presetSubtype="0" fill="hold" nodeType="withEffect">
                                  <p:stCondLst>
                                    <p:cond delay="0"/>
                                  </p:stCondLst>
                                  <p:childTnLst>
                                    <p:set>
                                      <p:cBhvr>
                                        <p:cTn id="104" dur="1" fill="hold">
                                          <p:stCondLst>
                                            <p:cond delay="0"/>
                                          </p:stCondLst>
                                        </p:cTn>
                                        <p:tgtEl>
                                          <p:spTgt spid="64"/>
                                        </p:tgtEl>
                                        <p:attrNameLst>
                                          <p:attrName>style.visibility</p:attrName>
                                        </p:attrNameLst>
                                      </p:cBhvr>
                                      <p:to>
                                        <p:strVal val="visible"/>
                                      </p:to>
                                    </p:set>
                                    <p:animEffect transition="in" filter="fade">
                                      <p:cBhvr>
                                        <p:cTn id="105" dur="450"/>
                                        <p:tgtEl>
                                          <p:spTgt spid="64"/>
                                        </p:tgtEl>
                                      </p:cBhvr>
                                    </p:animEffect>
                                  </p:childTnLst>
                                </p:cTn>
                              </p:par>
                              <p:par>
                                <p:cTn id="106" presetID="10" presetClass="entr" presetSubtype="0" fill="hold" nodeType="withEffect">
                                  <p:stCondLst>
                                    <p:cond delay="0"/>
                                  </p:stCondLst>
                                  <p:childTnLst>
                                    <p:set>
                                      <p:cBhvr>
                                        <p:cTn id="107" dur="1" fill="hold">
                                          <p:stCondLst>
                                            <p:cond delay="0"/>
                                          </p:stCondLst>
                                        </p:cTn>
                                        <p:tgtEl>
                                          <p:spTgt spid="66"/>
                                        </p:tgtEl>
                                        <p:attrNameLst>
                                          <p:attrName>style.visibility</p:attrName>
                                        </p:attrNameLst>
                                      </p:cBhvr>
                                      <p:to>
                                        <p:strVal val="visible"/>
                                      </p:to>
                                    </p:set>
                                    <p:animEffect transition="in" filter="fade">
                                      <p:cBhvr>
                                        <p:cTn id="108" dur="450"/>
                                        <p:tgtEl>
                                          <p:spTgt spid="66"/>
                                        </p:tgtEl>
                                      </p:cBhvr>
                                    </p:animEffect>
                                  </p:childTnLst>
                                </p:cTn>
                              </p:par>
                              <p:par>
                                <p:cTn id="109" presetID="10" presetClass="entr" presetSubtype="0" fill="hold" nodeType="withEffect">
                                  <p:stCondLst>
                                    <p:cond delay="0"/>
                                  </p:stCondLst>
                                  <p:childTnLst>
                                    <p:set>
                                      <p:cBhvr>
                                        <p:cTn id="110" dur="1" fill="hold">
                                          <p:stCondLst>
                                            <p:cond delay="0"/>
                                          </p:stCondLst>
                                        </p:cTn>
                                        <p:tgtEl>
                                          <p:spTgt spid="67"/>
                                        </p:tgtEl>
                                        <p:attrNameLst>
                                          <p:attrName>style.visibility</p:attrName>
                                        </p:attrNameLst>
                                      </p:cBhvr>
                                      <p:to>
                                        <p:strVal val="visible"/>
                                      </p:to>
                                    </p:set>
                                    <p:animEffect transition="in" filter="fade">
                                      <p:cBhvr>
                                        <p:cTn id="111" dur="450"/>
                                        <p:tgtEl>
                                          <p:spTgt spid="67"/>
                                        </p:tgtEl>
                                      </p:cBhvr>
                                    </p:animEffect>
                                  </p:childTnLst>
                                </p:cTn>
                              </p:par>
                            </p:childTnLst>
                          </p:cTn>
                        </p:par>
                        <p:par>
                          <p:cTn id="112" fill="hold">
                            <p:stCondLst>
                              <p:cond delay="450"/>
                            </p:stCondLst>
                            <p:childTnLst>
                              <p:par>
                                <p:cTn id="113" presetID="10" presetClass="entr" presetSubtype="0" fill="hold" nodeType="after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450"/>
                                        <p:tgtEl>
                                          <p:spTgt spid="38"/>
                                        </p:tgtEl>
                                      </p:cBhvr>
                                    </p:animEffect>
                                  </p:childTnLst>
                                </p:cTn>
                              </p:par>
                              <p:par>
                                <p:cTn id="116" presetID="10" presetClass="entr" presetSubtype="0" fill="hold" nodeType="withEffect">
                                  <p:stCondLst>
                                    <p:cond delay="0"/>
                                  </p:stCondLst>
                                  <p:childTnLst>
                                    <p:set>
                                      <p:cBhvr>
                                        <p:cTn id="117" dur="1" fill="hold">
                                          <p:stCondLst>
                                            <p:cond delay="0"/>
                                          </p:stCondLst>
                                        </p:cTn>
                                        <p:tgtEl>
                                          <p:spTgt spid="41"/>
                                        </p:tgtEl>
                                        <p:attrNameLst>
                                          <p:attrName>style.visibility</p:attrName>
                                        </p:attrNameLst>
                                      </p:cBhvr>
                                      <p:to>
                                        <p:strVal val="visible"/>
                                      </p:to>
                                    </p:set>
                                    <p:animEffect transition="in" filter="fade">
                                      <p:cBhvr>
                                        <p:cTn id="118" dur="450"/>
                                        <p:tgtEl>
                                          <p:spTgt spid="41"/>
                                        </p:tgtEl>
                                      </p:cBhvr>
                                    </p:animEffect>
                                  </p:childTnLst>
                                </p:cTn>
                              </p:par>
                            </p:childTnLst>
                          </p:cTn>
                        </p:par>
                        <p:par>
                          <p:cTn id="119" fill="hold">
                            <p:stCondLst>
                              <p:cond delay="750"/>
                            </p:stCondLst>
                            <p:childTnLst>
                              <p:par>
                                <p:cTn id="120" presetID="10" presetClass="entr" presetSubtype="0" fill="hold" nodeType="afterEffect">
                                  <p:stCondLst>
                                    <p:cond delay="0"/>
                                  </p:stCondLst>
                                  <p:childTnLst>
                                    <p:set>
                                      <p:cBhvr>
                                        <p:cTn id="121" dur="1" fill="hold">
                                          <p:stCondLst>
                                            <p:cond delay="0"/>
                                          </p:stCondLst>
                                        </p:cTn>
                                        <p:tgtEl>
                                          <p:spTgt spid="44"/>
                                        </p:tgtEl>
                                        <p:attrNameLst>
                                          <p:attrName>style.visibility</p:attrName>
                                        </p:attrNameLst>
                                      </p:cBhvr>
                                      <p:to>
                                        <p:strVal val="visible"/>
                                      </p:to>
                                    </p:set>
                                    <p:animEffect transition="in" filter="fade">
                                      <p:cBhvr>
                                        <p:cTn id="122" dur="450"/>
                                        <p:tgtEl>
                                          <p:spTgt spid="44"/>
                                        </p:tgtEl>
                                      </p:cBhvr>
                                    </p:animEffect>
                                  </p:childTnLst>
                                </p:cTn>
                              </p:par>
                            </p:childTnLst>
                          </p:cTn>
                        </p:par>
                        <p:par>
                          <p:cTn id="123" fill="hold">
                            <p:stCondLst>
                              <p:cond delay="1050"/>
                            </p:stCondLst>
                            <p:childTnLst>
                              <p:par>
                                <p:cTn id="124" presetID="10" presetClass="entr" presetSubtype="0" fill="hold" nodeType="afterEffect">
                                  <p:stCondLst>
                                    <p:cond delay="0"/>
                                  </p:stCondLst>
                                  <p:childTnLst>
                                    <p:set>
                                      <p:cBhvr>
                                        <p:cTn id="125" dur="1" fill="hold">
                                          <p:stCondLst>
                                            <p:cond delay="0"/>
                                          </p:stCondLst>
                                        </p:cTn>
                                        <p:tgtEl>
                                          <p:spTgt spid="47"/>
                                        </p:tgtEl>
                                        <p:attrNameLst>
                                          <p:attrName>style.visibility</p:attrName>
                                        </p:attrNameLst>
                                      </p:cBhvr>
                                      <p:to>
                                        <p:strVal val="visible"/>
                                      </p:to>
                                    </p:set>
                                    <p:animEffect transition="in" filter="fade">
                                      <p:cBhvr>
                                        <p:cTn id="126" dur="450"/>
                                        <p:tgtEl>
                                          <p:spTgt spid="47"/>
                                        </p:tgtEl>
                                      </p:cBhvr>
                                    </p:animEffect>
                                  </p:childTnLst>
                                </p:cTn>
                              </p:par>
                              <p:par>
                                <p:cTn id="127" presetID="10" presetClass="entr" presetSubtype="0" fill="hold" nodeType="withEffect">
                                  <p:stCondLst>
                                    <p:cond delay="0"/>
                                  </p:stCondLst>
                                  <p:childTnLst>
                                    <p:set>
                                      <p:cBhvr>
                                        <p:cTn id="128" dur="1" fill="hold">
                                          <p:stCondLst>
                                            <p:cond delay="0"/>
                                          </p:stCondLst>
                                        </p:cTn>
                                        <p:tgtEl>
                                          <p:spTgt spid="50"/>
                                        </p:tgtEl>
                                        <p:attrNameLst>
                                          <p:attrName>style.visibility</p:attrName>
                                        </p:attrNameLst>
                                      </p:cBhvr>
                                      <p:to>
                                        <p:strVal val="visible"/>
                                      </p:to>
                                    </p:set>
                                    <p:animEffect transition="in" filter="fade">
                                      <p:cBhvr>
                                        <p:cTn id="129" dur="450"/>
                                        <p:tgtEl>
                                          <p:spTgt spid="50"/>
                                        </p:tgtEl>
                                      </p:cBhvr>
                                    </p:animEffect>
                                  </p:childTnLst>
                                </p:cTn>
                              </p:par>
                            </p:childTnLst>
                          </p:cTn>
                        </p:par>
                        <p:par>
                          <p:cTn id="130" fill="hold">
                            <p:stCondLst>
                              <p:cond delay="1350"/>
                            </p:stCondLst>
                            <p:childTnLst>
                              <p:par>
                                <p:cTn id="131" presetID="10" presetClass="entr" presetSubtype="0" fill="hold" nodeType="afterEffect">
                                  <p:stCondLst>
                                    <p:cond delay="0"/>
                                  </p:stCondLst>
                                  <p:childTnLst>
                                    <p:set>
                                      <p:cBhvr>
                                        <p:cTn id="132" dur="1" fill="hold">
                                          <p:stCondLst>
                                            <p:cond delay="0"/>
                                          </p:stCondLst>
                                        </p:cTn>
                                        <p:tgtEl>
                                          <p:spTgt spid="53"/>
                                        </p:tgtEl>
                                        <p:attrNameLst>
                                          <p:attrName>style.visibility</p:attrName>
                                        </p:attrNameLst>
                                      </p:cBhvr>
                                      <p:to>
                                        <p:strVal val="visible"/>
                                      </p:to>
                                    </p:set>
                                    <p:animEffect transition="in" filter="fade">
                                      <p:cBhvr>
                                        <p:cTn id="133" dur="450"/>
                                        <p:tgtEl>
                                          <p:spTgt spid="53"/>
                                        </p:tgtEl>
                                      </p:cBhvr>
                                    </p:animEffect>
                                  </p:childTnLst>
                                </p:cTn>
                              </p:par>
                            </p:childTnLst>
                          </p:cTn>
                        </p:par>
                        <p:par>
                          <p:cTn id="134" fill="hold">
                            <p:stCondLst>
                              <p:cond delay="1650"/>
                            </p:stCondLst>
                            <p:childTnLst>
                              <p:par>
                                <p:cTn id="135" presetID="10" presetClass="entr" presetSubtype="0" fill="hold" nodeType="afterEffect">
                                  <p:stCondLst>
                                    <p:cond delay="0"/>
                                  </p:stCondLst>
                                  <p:childTnLst>
                                    <p:set>
                                      <p:cBhvr>
                                        <p:cTn id="136" dur="1" fill="hold">
                                          <p:stCondLst>
                                            <p:cond delay="0"/>
                                          </p:stCondLst>
                                        </p:cTn>
                                        <p:tgtEl>
                                          <p:spTgt spid="56"/>
                                        </p:tgtEl>
                                        <p:attrNameLst>
                                          <p:attrName>style.visibility</p:attrName>
                                        </p:attrNameLst>
                                      </p:cBhvr>
                                      <p:to>
                                        <p:strVal val="visible"/>
                                      </p:to>
                                    </p:set>
                                    <p:animEffect transition="in" filter="fade">
                                      <p:cBhvr>
                                        <p:cTn id="137" dur="450"/>
                                        <p:tgtEl>
                                          <p:spTgt spid="56"/>
                                        </p:tgtEl>
                                      </p:cBhvr>
                                    </p:animEffect>
                                  </p:childTnLst>
                                </p:cTn>
                              </p:par>
                            </p:childTnLst>
                          </p:cTn>
                        </p:par>
                        <p:par>
                          <p:cTn id="138" fill="hold">
                            <p:stCondLst>
                              <p:cond delay="1950"/>
                            </p:stCondLst>
                            <p:childTnLst>
                              <p:par>
                                <p:cTn id="139" presetID="10" presetClass="entr" presetSubtype="0" fill="hold" nodeType="afterEffect">
                                  <p:stCondLst>
                                    <p:cond delay="0"/>
                                  </p:stCondLst>
                                  <p:childTnLst>
                                    <p:set>
                                      <p:cBhvr>
                                        <p:cTn id="140" dur="1" fill="hold">
                                          <p:stCondLst>
                                            <p:cond delay="0"/>
                                          </p:stCondLst>
                                        </p:cTn>
                                        <p:tgtEl>
                                          <p:spTgt spid="59"/>
                                        </p:tgtEl>
                                        <p:attrNameLst>
                                          <p:attrName>style.visibility</p:attrName>
                                        </p:attrNameLst>
                                      </p:cBhvr>
                                      <p:to>
                                        <p:strVal val="visible"/>
                                      </p:to>
                                    </p:set>
                                    <p:animEffect transition="in" filter="fade">
                                      <p:cBhvr>
                                        <p:cTn id="141" dur="450"/>
                                        <p:tgtEl>
                                          <p:spTgt spid="59"/>
                                        </p:tgtEl>
                                      </p:cBhvr>
                                    </p:animEffect>
                                  </p:childTnLst>
                                </p:cTn>
                              </p:par>
                              <p:par>
                                <p:cTn id="142" presetID="10" presetClass="entr" presetSubtype="0" fill="hold" nodeType="withEffect">
                                  <p:stCondLst>
                                    <p:cond delay="0"/>
                                  </p:stCondLst>
                                  <p:childTnLst>
                                    <p:set>
                                      <p:cBhvr>
                                        <p:cTn id="143" dur="1" fill="hold">
                                          <p:stCondLst>
                                            <p:cond delay="0"/>
                                          </p:stCondLst>
                                        </p:cTn>
                                        <p:tgtEl>
                                          <p:spTgt spid="62"/>
                                        </p:tgtEl>
                                        <p:attrNameLst>
                                          <p:attrName>style.visibility</p:attrName>
                                        </p:attrNameLst>
                                      </p:cBhvr>
                                      <p:to>
                                        <p:strVal val="visible"/>
                                      </p:to>
                                    </p:set>
                                    <p:animEffect transition="in" filter="fade">
                                      <p:cBhvr>
                                        <p:cTn id="144" dur="450"/>
                                        <p:tgtEl>
                                          <p:spTgt spid="62"/>
                                        </p:tgtEl>
                                      </p:cBhvr>
                                    </p:animEffect>
                                  </p:childTnLst>
                                </p:cTn>
                              </p:par>
                            </p:childTnLst>
                          </p:cTn>
                        </p:par>
                        <p:par>
                          <p:cTn id="145" fill="hold">
                            <p:stCondLst>
                              <p:cond delay="2250"/>
                            </p:stCondLst>
                            <p:childTnLst>
                              <p:par>
                                <p:cTn id="146" presetID="10" presetClass="entr" presetSubtype="0" fill="hold" nodeType="afterEffect">
                                  <p:stCondLst>
                                    <p:cond delay="0"/>
                                  </p:stCondLst>
                                  <p:childTnLst>
                                    <p:set>
                                      <p:cBhvr>
                                        <p:cTn id="147" dur="1" fill="hold">
                                          <p:stCondLst>
                                            <p:cond delay="0"/>
                                          </p:stCondLst>
                                        </p:cTn>
                                        <p:tgtEl>
                                          <p:spTgt spid="65"/>
                                        </p:tgtEl>
                                        <p:attrNameLst>
                                          <p:attrName>style.visibility</p:attrName>
                                        </p:attrNameLst>
                                      </p:cBhvr>
                                      <p:to>
                                        <p:strVal val="visible"/>
                                      </p:to>
                                    </p:set>
                                    <p:animEffect transition="in" filter="fade">
                                      <p:cBhvr>
                                        <p:cTn id="148" dur="450"/>
                                        <p:tgtEl>
                                          <p:spTgt spid="65"/>
                                        </p:tgtEl>
                                      </p:cBhvr>
                                    </p:animEffect>
                                  </p:childTnLst>
                                </p:cTn>
                              </p:par>
                            </p:childTnLst>
                          </p:cTn>
                        </p:par>
                        <p:par>
                          <p:cTn id="149" fill="hold">
                            <p:stCondLst>
                              <p:cond delay="2550"/>
                            </p:stCondLst>
                            <p:childTnLst>
                              <p:par>
                                <p:cTn id="150" presetID="10" presetClass="entr" presetSubtype="0" fill="hold" nodeType="afterEffect">
                                  <p:stCondLst>
                                    <p:cond delay="0"/>
                                  </p:stCondLst>
                                  <p:childTnLst>
                                    <p:set>
                                      <p:cBhvr>
                                        <p:cTn id="151" dur="1" fill="hold">
                                          <p:stCondLst>
                                            <p:cond delay="0"/>
                                          </p:stCondLst>
                                        </p:cTn>
                                        <p:tgtEl>
                                          <p:spTgt spid="68"/>
                                        </p:tgtEl>
                                        <p:attrNameLst>
                                          <p:attrName>style.visibility</p:attrName>
                                        </p:attrNameLst>
                                      </p:cBhvr>
                                      <p:to>
                                        <p:strVal val="visible"/>
                                      </p:to>
                                    </p:set>
                                    <p:animEffect transition="in" filter="fade">
                                      <p:cBhvr>
                                        <p:cTn id="152" dur="450"/>
                                        <p:tgtEl>
                                          <p:spTgt spid="68"/>
                                        </p:tgtEl>
                                      </p:cBhvr>
                                    </p:animEffect>
                                  </p:childTnLst>
                                </p:cTn>
                              </p:par>
                            </p:childTnLst>
                          </p:cTn>
                        </p:par>
                      </p:childTnLst>
                    </p:cTn>
                  </p:par>
                  <p:par>
                    <p:cTn id="153" fill="hold">
                      <p:stCondLst>
                        <p:cond delay="indefinite"/>
                      </p:stCondLst>
                      <p:childTnLst>
                        <p:par>
                          <p:cTn id="154" fill="hold">
                            <p:stCondLst>
                              <p:cond delay="0"/>
                            </p:stCondLst>
                            <p:childTnLst>
                              <p:par>
                                <p:cTn id="155" presetID="10" presetClass="entr" presetSubtype="0" fill="hold" nodeType="clickEffect">
                                  <p:stCondLst>
                                    <p:cond delay="0"/>
                                  </p:stCondLst>
                                  <p:childTnLst>
                                    <p:set>
                                      <p:cBhvr>
                                        <p:cTn id="156" dur="1" fill="hold">
                                          <p:stCondLst>
                                            <p:cond delay="0"/>
                                          </p:stCondLst>
                                        </p:cTn>
                                        <p:tgtEl>
                                          <p:spTgt spid="69"/>
                                        </p:tgtEl>
                                        <p:attrNameLst>
                                          <p:attrName>style.visibility</p:attrName>
                                        </p:attrNameLst>
                                      </p:cBhvr>
                                      <p:to>
                                        <p:strVal val="visible"/>
                                      </p:to>
                                    </p:set>
                                    <p:animEffect transition="in" filter="fade">
                                      <p:cBhvr>
                                        <p:cTn id="157" dur="450"/>
                                        <p:tgtEl>
                                          <p:spTgt spid="69"/>
                                        </p:tgtEl>
                                      </p:cBhvr>
                                    </p:animEffect>
                                  </p:childTnLst>
                                </p:cTn>
                              </p:par>
                              <p:par>
                                <p:cTn id="158" presetID="10" presetClass="entr" presetSubtype="0" fill="hold" nodeType="withEffect">
                                  <p:stCondLst>
                                    <p:cond delay="0"/>
                                  </p:stCondLst>
                                  <p:childTnLst>
                                    <p:set>
                                      <p:cBhvr>
                                        <p:cTn id="159" dur="1" fill="hold">
                                          <p:stCondLst>
                                            <p:cond delay="0"/>
                                          </p:stCondLst>
                                        </p:cTn>
                                        <p:tgtEl>
                                          <p:spTgt spid="70"/>
                                        </p:tgtEl>
                                        <p:attrNameLst>
                                          <p:attrName>style.visibility</p:attrName>
                                        </p:attrNameLst>
                                      </p:cBhvr>
                                      <p:to>
                                        <p:strVal val="visible"/>
                                      </p:to>
                                    </p:set>
                                    <p:animEffect transition="in" filter="fade">
                                      <p:cBhvr>
                                        <p:cTn id="160" dur="450"/>
                                        <p:tgtEl>
                                          <p:spTgt spid="70"/>
                                        </p:tgtEl>
                                      </p:cBhvr>
                                    </p:animEffect>
                                  </p:childTnLst>
                                </p:cTn>
                              </p:par>
                            </p:childTnLst>
                          </p:cTn>
                        </p:par>
                      </p:childTnLst>
                    </p:cTn>
                  </p:par>
                  <p:par>
                    <p:cTn id="161" fill="hold">
                      <p:stCondLst>
                        <p:cond delay="indefinite"/>
                      </p:stCondLst>
                      <p:childTnLst>
                        <p:par>
                          <p:cTn id="162" fill="hold">
                            <p:stCondLst>
                              <p:cond delay="0"/>
                            </p:stCondLst>
                            <p:childTnLst>
                              <p:par>
                                <p:cTn id="163" presetID="10" presetClass="entr" presetSubtype="0" fill="hold" nodeType="clickEffect">
                                  <p:stCondLst>
                                    <p:cond delay="0"/>
                                  </p:stCondLst>
                                  <p:childTnLst>
                                    <p:set>
                                      <p:cBhvr>
                                        <p:cTn id="164" dur="1" fill="hold">
                                          <p:stCondLst>
                                            <p:cond delay="0"/>
                                          </p:stCondLst>
                                        </p:cTn>
                                        <p:tgtEl>
                                          <p:spTgt spid="71"/>
                                        </p:tgtEl>
                                        <p:attrNameLst>
                                          <p:attrName>style.visibility</p:attrName>
                                        </p:attrNameLst>
                                      </p:cBhvr>
                                      <p:to>
                                        <p:strVal val="visible"/>
                                      </p:to>
                                    </p:set>
                                    <p:animEffect transition="in" filter="fade">
                                      <p:cBhvr>
                                        <p:cTn id="165" dur="450"/>
                                        <p:tgtEl>
                                          <p:spTgt spid="71"/>
                                        </p:tgtEl>
                                      </p:cBhvr>
                                    </p:animEffect>
                                  </p:childTnLst>
                                </p:cTn>
                              </p:par>
                              <p:par>
                                <p:cTn id="166" presetID="10" presetClass="entr" presetSubtype="0" fill="hold" nodeType="withEffect">
                                  <p:stCondLst>
                                    <p:cond delay="0"/>
                                  </p:stCondLst>
                                  <p:childTnLst>
                                    <p:set>
                                      <p:cBhvr>
                                        <p:cTn id="167" dur="1" fill="hold">
                                          <p:stCondLst>
                                            <p:cond delay="0"/>
                                          </p:stCondLst>
                                        </p:cTn>
                                        <p:tgtEl>
                                          <p:spTgt spid="72"/>
                                        </p:tgtEl>
                                        <p:attrNameLst>
                                          <p:attrName>style.visibility</p:attrName>
                                        </p:attrNameLst>
                                      </p:cBhvr>
                                      <p:to>
                                        <p:strVal val="visible"/>
                                      </p:to>
                                    </p:set>
                                    <p:animEffect transition="in" filter="fade">
                                      <p:cBhvr>
                                        <p:cTn id="168" dur="450"/>
                                        <p:tgtEl>
                                          <p:spTgt spid="72"/>
                                        </p:tgtEl>
                                      </p:cBhvr>
                                    </p:animEffect>
                                  </p:childTnLst>
                                </p:cTn>
                              </p:par>
                              <p:par>
                                <p:cTn id="169" presetID="10" presetClass="entr" presetSubtype="0" fill="hold" nodeType="withEffect">
                                  <p:stCondLst>
                                    <p:cond delay="0"/>
                                  </p:stCondLst>
                                  <p:childTnLst>
                                    <p:set>
                                      <p:cBhvr>
                                        <p:cTn id="170" dur="1" fill="hold">
                                          <p:stCondLst>
                                            <p:cond delay="0"/>
                                          </p:stCondLst>
                                        </p:cTn>
                                        <p:tgtEl>
                                          <p:spTgt spid="73"/>
                                        </p:tgtEl>
                                        <p:attrNameLst>
                                          <p:attrName>style.visibility</p:attrName>
                                        </p:attrNameLst>
                                      </p:cBhvr>
                                      <p:to>
                                        <p:strVal val="visible"/>
                                      </p:to>
                                    </p:set>
                                    <p:animEffect transition="in" filter="fade">
                                      <p:cBhvr>
                                        <p:cTn id="171" dur="45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9" grpId="0" animBg="1"/>
      <p:bldP spid="40" grpId="0" animBg="1"/>
      <p:bldP spid="42" grpId="0" animBg="1"/>
      <p:bldP spid="43" grpId="0" animBg="1"/>
      <p:bldP spid="45" grpId="0" animBg="1"/>
      <p:bldP spid="46" grpId="0" animBg="1"/>
      <p:bldP spid="48" grpId="0" animBg="1"/>
      <p:bldP spid="49" grpId="0" animBg="1"/>
      <p:bldP spid="51" grpId="0" animBg="1"/>
      <p:bldP spid="52" grpId="0" animBg="1"/>
      <p:bldP spid="54" grpId="0" animBg="1"/>
      <p:bldP spid="55" grpId="0" animBg="1"/>
      <p:bldP spid="57" grpId="0" animBg="1"/>
      <p:bldP spid="58" grpId="0" animBg="1"/>
      <p:bldP spid="60" grpId="0" animBg="1"/>
      <p:bldP spid="61" grpId="0" animBg="1"/>
      <p:bldP spid="63" grpId="0" animBg="1"/>
      <p:bldP spid="64" grpId="0" animBg="1"/>
      <p:bldP spid="66" grpId="0" animBg="1"/>
      <p:bldP spid="67" grpId="0" animBg="1"/>
      <p:bldP spid="38" grpId="0" animBg="1"/>
      <p:bldP spid="41" grpId="0" animBg="1"/>
      <p:bldP spid="44" grpId="0" animBg="1"/>
      <p:bldP spid="47" grpId="0" animBg="1"/>
      <p:bldP spid="50" grpId="0" animBg="1"/>
      <p:bldP spid="53" grpId="0" animBg="1"/>
      <p:bldP spid="56" grpId="0" animBg="1"/>
      <p:bldP spid="59" grpId="0" animBg="1"/>
      <p:bldP spid="62" grpId="0" animBg="1"/>
      <p:bldP spid="65" grpId="0" animBg="1"/>
      <p:bldP spid="68" grpId="0" animBg="1"/>
      <p:bldP spid="69" grpId="0" animBg="1"/>
      <p:bldP spid="70" grpId="0" animBg="1"/>
      <p:bldP spid="71" grpId="0" animBg="1"/>
      <p:bldP spid="7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AVERRA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AVERRA — Pitch</dc:title>
  <dc:subject>PptxGenJS Presentation</dc:subject>
  <dc:creator>Pranshu Kumar</dc:creator>
  <cp:lastModifiedBy>Pranshu Kumar</cp:lastModifiedBy>
  <cp:revision>1</cp:revision>
  <dcterms:created xsi:type="dcterms:W3CDTF">2026-10-12T15:43:05Z</dcterms:created>
  <dcterms:modified xsi:type="dcterms:W3CDTF">2026-10-12T15:43:05Z</dcterms:modified>
</cp:coreProperties>
</file>