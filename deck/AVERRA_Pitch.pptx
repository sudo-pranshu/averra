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3.41</c:v>
                </c:pt>
                <c:pt idx="7">
                  <c:v>2.48</c:v>
                </c:pt>
                <c:pt idx="8">
                  <c:v>4.84</c:v>
                </c:pt>
                <c:pt idx="9">
                  <c:v>5.03</c:v>
                </c:pt>
                <c:pt idx="10">
                  <c:v>7.29</c:v>
                </c:pt>
                <c:pt idx="11">
                  <c:v>3.38</c:v>
                </c:pt>
                <c:pt idx="12">
                  <c:v>2.48</c:v>
                </c:pt>
                <c:pt idx="13">
                  <c:v>2.67</c:v>
                </c:pt>
                <c:pt idx="14">
                  <c:v>5.13</c:v>
                </c:pt>
                <c:pt idx="15">
                  <c:v>5.33</c:v>
                </c:pt>
                <c:pt idx="16">
                  <c:v>5.13</c:v>
                </c:pt>
                <c:pt idx="17">
                  <c:v>13.03</c:v>
                </c:pt>
                <c:pt idx="18">
                  <c:v>5.73</c:v>
                </c:pt>
                <c:pt idx="19">
                  <c:v>5.88</c:v>
                </c:pt>
                <c:pt idx="20">
                  <c:v>6.03</c:v>
                </c:pt>
                <c:pt idx="21">
                  <c:v>6.62</c:v>
                </c:pt>
                <c:pt idx="22">
                  <c:v>6.33</c:v>
                </c:pt>
                <c:pt idx="23">
                  <c:v>6.48</c:v>
                </c:pt>
                <c:pt idx="24">
                  <c:v>12.69</c:v>
                </c:pt>
                <c:pt idx="25">
                  <c:v>13.41</c:v>
                </c:pt>
                <c:pt idx="26">
                  <c:v>14.12</c:v>
                </c:pt>
                <c:pt idx="27">
                  <c:v>14.84</c:v>
                </c:pt>
                <c:pt idx="28">
                  <c:v>15.56</c:v>
                </c:pt>
                <c:pt idx="29">
                  <c:v>16.72</c:v>
                </c:pt>
                <c:pt idx="30">
                  <c:v>17</c:v>
                </c:pt>
                <c:pt idx="31">
                  <c:v>17.72</c:v>
                </c:pt>
                <c:pt idx="32">
                  <c:v>18.44</c:v>
                </c:pt>
                <c:pt idx="33">
                  <c:v>19.6</c:v>
                </c:pt>
                <c:pt idx="34">
                  <c:v>19.89</c:v>
                </c:pt>
                <c:pt idx="35">
                  <c:v>20.61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-3.41</c:v>
                </c:pt>
                <c:pt idx="7">
                  <c:v>-2.48</c:v>
                </c:pt>
                <c:pt idx="8">
                  <c:v>-4.84</c:v>
                </c:pt>
                <c:pt idx="9">
                  <c:v>-4.45</c:v>
                </c:pt>
                <c:pt idx="10">
                  <c:v>-7.29</c:v>
                </c:pt>
                <c:pt idx="11">
                  <c:v>-1.7</c:v>
                </c:pt>
                <c:pt idx="12">
                  <c:v>-0.63</c:v>
                </c:pt>
                <c:pt idx="13">
                  <c:v>0.49</c:v>
                </c:pt>
                <c:pt idx="14">
                  <c:v>-1.45</c:v>
                </c:pt>
                <c:pt idx="15">
                  <c:v>-1.06</c:v>
                </c:pt>
                <c:pt idx="16">
                  <c:v>-1.45</c:v>
                </c:pt>
                <c:pt idx="17">
                  <c:v>-8.76</c:v>
                </c:pt>
                <c:pt idx="18">
                  <c:v>-1.18</c:v>
                </c:pt>
                <c:pt idx="19">
                  <c:v>-1</c:v>
                </c:pt>
                <c:pt idx="20">
                  <c:v>-0.82</c:v>
                </c:pt>
                <c:pt idx="21">
                  <c:v>-1.08</c:v>
                </c:pt>
                <c:pt idx="22">
                  <c:v>-0.46</c:v>
                </c:pt>
                <c:pt idx="23">
                  <c:v>-0.28</c:v>
                </c:pt>
                <c:pt idx="24">
                  <c:v>-0.18</c:v>
                </c:pt>
                <c:pt idx="25">
                  <c:v>0.04</c:v>
                </c:pt>
                <c:pt idx="26">
                  <c:v>0.25</c:v>
                </c:pt>
                <c:pt idx="27">
                  <c:v>0.47</c:v>
                </c:pt>
                <c:pt idx="28">
                  <c:v>0.69</c:v>
                </c:pt>
                <c:pt idx="29">
                  <c:v>0.48</c:v>
                </c:pt>
                <c:pt idx="30">
                  <c:v>1.14</c:v>
                </c:pt>
                <c:pt idx="31">
                  <c:v>1.37</c:v>
                </c:pt>
                <c:pt idx="32">
                  <c:v>1.61</c:v>
                </c:pt>
                <c:pt idx="33">
                  <c:v>1.4</c:v>
                </c:pt>
                <c:pt idx="34">
                  <c:v>2.08</c:v>
                </c:pt>
                <c:pt idx="35">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 40 s] Title
Good morning. I'm Pranshu Kumar, and with my co-founder Pawan Shinde I'm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Over the next eleven minutes I'll show you what we've built, what we've actually tested, what it costs,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[1:35–2:20 | 45 s] One company, two products
So here is AVERRA: one company with two complementary products.
ParkinSense is a wellness wearable. Activity and vitals come first, and movement intelligence is its edge.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 60 s] ParkinSense
ParkinSense today is a wrist wearable with an IMU and an optical sensor. It streams over BLE at 104 hertz into three pipelines: motion, heart and steps.
Its edge is the shared motion classifier. Tremor isn't counted as steps, and heart rate is trusted less while you move.
Here's the status, honestly. Streaming, steps, tremor scoring and motion context are bench-tested. Heart rate, HRV and SpO2 are implemented but research-grade. The mobile app is in development, and all analysis currently runs on a host, not on the wrist.
A clinical evaluation is in progress with ICMR. The results aren't back yet, so we make no clinical claim today. Longer term, ParkinSense could support research into early movement change in Parkinson's. That path runs through reference assessments, prospective validation and regulatory review. It is not a diagnostic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[3:20–4:15 | 55 s] TremoSense
TremoSense is for people who already have tremor. An IMU in the handle feeds a Kalman filter that estimates roll and pitch. An LQR controller then drives two servos to counter-rotate the spoon head.
Our paper prototype achieved 77.3 percent average rejection on a motorised tremor simulator at four, six and eight hertz.
The current build is better. It moves to a real-time operating system, samples at 208 hertz and uses higher-torque servos, and on the bench it rejects about 90 percent of tremor. We'll publish those logs alongside the code.
No person with tremor has used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[5:05–6:05 | 60 s] MVP &amp; validation
What has the MVP proven? Both products work on the bench. TremoSense hasn't been tested with users.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[6:05–6:50 | 45 s] Market
We sized the market bottom-up.
TremoSense: Parkinson's plus essential tremor patients, half with tremor that disrupts eating, about 8.7 lakh people. At the launch price spread over a three-year life, that's ₹275.7 Cr a year.
ParkinSense's beachhead is households living with Parkinson's: ₹141.3 Cr. We have not sized the general wellness market, because we couldn't find a sourced Indian figure.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₹35.2 L, a gross burn of about ₹2.93 L a month. Year two still loses 17.7 lakh rupees as volume builds.
We reach sustained operating break-even in month 26, August 2029. Year three makes an operating profit of ₹11.7 L on ₹2.1 Cr of cash in, and we exit at about ₹2.3 L profit a month.
Getting there needs ₹60.9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[9:20–10:05 | 45 s] Team &amp; growth
The team comes from the evidence. I built ParkinSense and co-authored TremoSense, and I lead the company, the wearables and signal processing. Pawan co-built TremoSense and leads control and hardware. In phase two we hire one test engineer.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[10:05–11:05 | 60 s] Funding ask &amp; valuation
Now the ask, kept separate from the full plan. Year one costs ₹35.2 L and reaching profitability needs ₹60.9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The Startup India grant is applied for, not awarded, and the next round is priced on the user-study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[11:05–11:55 | 50 s] Milestones, advantage &amp; close
Here's what the money buys. The patent is filed in month two, study units are built in month three, and in month six the user study decides kill or continue. If we continue, we move through EMC testing and the CDSCO filing to first sales in month twelve, and to break-even in month 26.
Why will people choose us? TremoSense costs under 2 percent of a GyroGlove and about half the price of Liftware, and it actively cancels tremor where a weighted spoon only adds weight. ParkinSense measures tremor, which none of WHOOP, Fitbit or Amazfit lists as a feature, for a one-time ₹7,999.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older adults, people living with movement disorders and the clinicians and families who support them in urban India, AVERRA is a biomedical technology company that turns precise movement sensing into everyday insight (ParkinSense) and practical assistance (TremoSense), at prices built for Indian households.</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rig.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Photos: real prototypes from the project repositories.</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wellness-minded adults and households living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plus movement-specific insight</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rig.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older adults whose tremor disrupts eating</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Hardware from the ParkinSense and TremoSense repositories.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wellness wearable with movement intelligence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bench-proven, not yet tested on people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rig.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77.3%</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paper prototype: motorised simulator, 4/6/8 Hz,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0</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tested so far</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Bench result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≈90% tremor rejection (founder-reported; logs to be published)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77.3% mean rejection, 4/6/8 Hz (Table IV)</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rig.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no users yet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Movement-specific insight (tremor burden, motion context) on a wellness wearable.</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rig.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(paper)</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rejection on the current build (founder-reported); 77.3% on the paper prototype</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858000" y="1417320"/>
          <a:ext cx="4846320" cy="914400"/>
        </p:xfrm>
        <a:graphic>
          <a:graphicData uri="http://schemas.openxmlformats.org/drawingml/2006/table">
            <a:tbl>
              <a:tblPr/>
              <a:tblGrid>
                <a:gridCol w="1554480"/>
                <a:gridCol w="1737360"/>
                <a:gridCol w="1554480"/>
              </a:tblGrid>
              <a:tr h="438912">
                <a:tc>
                  <a:txBody>
                    <a:bodyPr/>
                    <a:lstStyle/>
                    <a:p>
                      <a:pPr indent="0" marL="0">
                        <a:buNone/>
                      </a:pP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06B6D4"/>
                          </a:solidFill>
                          <a:latin typeface="Calibri" pitchFamily="34" charset="0"/>
                          <a:ea typeface="Calibri" pitchFamily="34" charset="-122"/>
                          <a:cs typeface="Calibri" pitchFamily="34" charset="-120"/>
                        </a:rPr>
                        <a:t>ParkinSense (PD households)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8B5CF6"/>
                          </a:solidFill>
                          <a:latin typeface="Calibri" pitchFamily="34" charset="0"/>
                          <a:ea typeface="Calibri" pitchFamily="34" charset="-122"/>
                          <a:cs typeface="Calibri" pitchFamily="34" charset="-120"/>
                        </a:rPr>
                        <a:t>TremoSense</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 customers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4,60,261</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8,68,418</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 / customer / year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₹3,069</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₹3,174</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₹141.3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₹275.7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₹17.6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₹34.3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 customers / yr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2,040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₹44.2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₹64.8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858000" y="4617720"/>
            <a:ext cx="4846320" cy="914400"/>
          </a:xfrm>
          <a:prstGeom prst="rect">
            <a:avLst/>
          </a:prstGeom>
          <a:noFill/>
          <a:ln/>
        </p:spPr>
        <p:txBody>
          <a:bodyPr wrap="square" lIns="0" tIns="0" rIns="0" bIns="0" rtlCol="0" anchor="t"/>
          <a:lstStyle/>
          <a:p>
            <a:pPr indent="0" marL="0">
              <a:buNone/>
            </a:pPr>
            <a:r>
              <a:rPr lang="en-US" sz="1050" b="1" dirty="0">
                <a:solidFill>
                  <a:srgbClr val="F59E0B"/>
                </a:solidFill>
                <a:latin typeface="Calibri" pitchFamily="34" charset="0"/>
                <a:ea typeface="Calibri" pitchFamily="34" charset="-122"/>
                <a:cs typeface="Calibri" pitchFamily="34" charset="-120"/>
              </a:rPr>
              <a:t>Not sized: </a:t>
            </a:r>
            <a:pPr indent="0" marL="0">
              <a:buNone/>
            </a:pPr>
            <a:r>
              <a:rPr lang="en-US" sz="1050" dirty="0">
                <a:solidFill>
                  <a:srgbClr val="CBD5E1"/>
                </a:solidFill>
                <a:latin typeface="Calibri" pitchFamily="34" charset="0"/>
                <a:ea typeface="Calibri" pitchFamily="34" charset="-122"/>
                <a:cs typeface="Calibri" pitchFamily="34" charset="-120"/>
              </a:rPr>
              <a:t>the general Indian wellness-wearable market — no sourced figure found. Estimates (purple in the model): 40% under follow-up, 50% eating-disruptive tremor, all prices.</a:t>
            </a:r>
            <a:endParaRPr lang="en-US" sz="105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fade">
                                      <p:cBhvr>
                                        <p:cTn id="49"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movement insight on a wellness wearable</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Households with PD / ET · wellness-minded adults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are hypotheses to test with customers.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Aug 2029 — break-even in month 26</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₹35.2 L · ₹2.93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-₹17.7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M26 · Aug-29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₹11.7 L (5.5%)</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Needed to reach profit</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8B5CF6"/>
                </a:solidFill>
                <a:latin typeface="Calibri" pitchFamily="34" charset="0"/>
                <a:ea typeface="Calibri" pitchFamily="34" charset="-122"/>
                <a:cs typeface="Calibri" pitchFamily="34" charset="-120"/>
              </a:rPr>
              <a:t>₹60.9 L</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CEO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Wearables, DSP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ParkinSense lead author · TremoSense co-author · EXTC GPA 9.17 · minor in AI/ML</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CTO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TremoSense co-author (EKF + LQR platform) · EXTC, VJTI</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Hardware &amp; test engineer</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Hire at M7 (Phase 2)</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regulatory consultant, industrial designer. Advisors: none agreed. Collaborators (not founders): Prithvi Tambewagh; ParkinSense co-authors; VJTI supervisors.</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₹35.2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₹60.9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Milestone-1 round ₹10.5 L · SISFS ₹20 L applied, NOT secured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35%; no grant 45%;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ADVANTAGE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26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 engineer hired</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M26</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1A1840"/>
          </a:solidFill>
          <a:ln w="9525">
            <a:solidFill>
              <a:srgbClr val="8B5CF6"/>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WHY PEOPLE WILL CHOOSE AVERRA</a:t>
            </a:r>
            <a:endParaRPr lang="en-US" sz="1150" dirty="0"/>
          </a:p>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TremoSense: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1.8% of a GyroGlove, about half Liftware's price; active, unlike a weighted spoon; ≈90% bench rejection</a:t>
            </a:r>
            <a:endParaRPr lang="en-US" sz="1150" dirty="0"/>
          </a:p>
          <a:p>
            <a:pPr indent="0" marL="0">
              <a:spcAft>
                <a:spcPts val="400"/>
              </a:spcAft>
              <a:buNone/>
            </a:pPr>
            <a:r>
              <a:rPr lang="en-US" sz="1150" b="1" dirty="0">
                <a:solidFill>
                  <a:srgbClr val="06B6D4"/>
                </a:solidFill>
                <a:latin typeface="Calibri" pitchFamily="34" charset="0"/>
                <a:ea typeface="Calibri" pitchFamily="34" charset="-122"/>
                <a:cs typeface="Calibri" pitchFamily="34" charset="-120"/>
              </a:rPr>
              <a:t>ParkinSense: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measures tremor, which WHOOP, Fitbit and Amazfit don't list; ₹7,999 once, no mandatory subscription</a:t>
            </a:r>
            <a:endParaRPr lang="en-US" sz="1150" dirty="0"/>
          </a:p>
          <a:p>
            <a:pPr indent="0" marL="0">
              <a:spcAft>
                <a:spcPts val="400"/>
              </a:spcAft>
              <a:buNone/>
            </a:pPr>
            <a:r>
              <a:rPr lang="en-US" sz="1150" b="1" dirty="0">
                <a:solidFill>
                  <a:srgbClr val="34D399"/>
                </a:solidFill>
                <a:latin typeface="Calibri" pitchFamily="34" charset="0"/>
                <a:ea typeface="Calibri" pitchFamily="34" charset="-122"/>
                <a:cs typeface="Calibri" pitchFamily="34" charset="-120"/>
              </a:rPr>
              <a:t>Both: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one sensing stack, Indian cost base, local service through clinics</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2026-10-13T04:22:25Z</dcterms:created>
  <dcterms:modified xsi:type="dcterms:W3CDTF">2026-10-13T04:22:25Z</dcterms:modified>
</cp:coreProperties>
</file>